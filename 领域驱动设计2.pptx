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3" r:id="rId6"/>
    <p:sldId id="264" r:id="rId7"/>
    <p:sldId id="279" r:id="rId8"/>
    <p:sldId id="268" r:id="rId9"/>
    <p:sldId id="269" r:id="rId10"/>
    <p:sldId id="272" r:id="rId11"/>
    <p:sldId id="273" r:id="rId12"/>
    <p:sldId id="276" r:id="rId13"/>
    <p:sldId id="27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12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5F6C-A983-7DE9-F878-EE1E4495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0F8F8-AE41-7A20-6AE8-1864B422F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BACF0-4C38-E514-F1BA-132440C9E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357DB-ADA8-9216-3C82-F05E82D58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55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《领域驱动设计》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第13-17章读书分享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分享人：林灏均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第13章 通过重构得到更深层的理解：重构不仅是改代码，更是对领域模型的重新理解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第14章 保持模型的完整性：BOUNDED CONTEXT、CONTEXT MAP 与上下文关系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第15章 精炼：CORE DOMAIN、GENERIC SUBDOMAIN 与战略取舍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第16章 大型结构：RESPONSIBILITY LAYER、KNOWLEDGE LEVEL 等模式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第17章 领域驱动设计的综合运用：把三大战略设计工具组合起来使用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第13章：通过重构得到更深层的理解（1）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以领域为本：传统重构往往只关注代码层面的改进，而领域驱动设计中的重构更强调对领域模型的重新理解。当发现代码难以表达业务概念时，问题的根源可能在模型本身。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三个关注要点：第一，始终以领域为本；第二，学会换一种方式看待事物；第三，坚持与领域专家对话。这三点是获得深层理解的基础，贯穿整个重构过程。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altLang="zh-CN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重构时机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即使在代码看上去很整洁的时候也可能需要重构，</a:t>
            </a:r>
            <a:r>
              <a:rPr lang="en-US" altLang="zh-CN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不要等到完全证明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了修改的</a:t>
            </a:r>
            <a:r>
              <a:rPr lang="en-US" altLang="zh-CN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合理性才重构。当设计没有表达团队最新理解、重要概念被隐藏、或发现更灵活机会时，就应该开始重构，否则修改成本会越来越高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探索团队：组建4到5人的临时小组，包括开发人员和领域专家。通过半小时到一小时半的头脑风暴，画UML草图、用对象走查场景，自主决定、控制范围、练习通用语言。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借鉴经验：不要重复造轮子。可以从分析模式、设计模式和领域自身的形式体系中汲取经验，把已有知识结合到知识消化过程中，快速得到更丰富的结果。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第13章：通过重构得到更深层的理解（2）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针对开发人员的设计：软件不仅是为用户编写的，也是为开发人员编写的。通过重构获得深层理解，才能实现柔性设计：清楚表达意图、减少依赖和副作用，降低团队的认知负担。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危机就是机遇：模型中的明显缺陷、表达漏洞或错误描述，往往表明团队理解达到了新高度。这些看似危机的时刻，实际上是突破到新模型层次的前兆。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软件进化像生物学一样：长期稳定改进后可能突然顿悟，模型层次整体提升。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第14章：保持模型的完整性（1）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不要追求企业级统一模型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最负雄心的企业系统意欲实现一个涵盖所有业务、紧密集成的系统。然而在几乎所有这种规模的组织中，整体业务模型太大也太复杂了，因此难以管理，甚至很难把它作为一个整体来理解。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大型系统维护单一模型既不现实也不划算。不同部分需要不同模型，关键是明确边界和关系，而不是强行统一，否则协调开销会超出项目能力范围。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BOUNDED CONTEXT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（限界上下文）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界上下文是一个特定的业务领域范围，在这个范围内，领域模型的概念、术语、规则、语义是统一且无歧义的；超出该范围，相同的术语可能有不同含义，模型的规则也不再适用。简单来说，限界上下文是领域模型的“容器”，为模型划定了清晰的边界，同时定义了模型的适用范围。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边界内保持术语、规则和通用语言的统一；边界外使用不同模型，跨边界集成需要显式转换，避免假同源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（用相同术语表示两个不同的概念）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和重复概念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MAP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（上下文图）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：绘制项目中所有上下文及其关系的全局视图。标明每个上下文的名称、联系点、转换机制，先描述现状，再驱动改进，让所有成员对边界有共同理解。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 INTEGRATION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BOUNDED CONTEXT 内高频合并代码、运行自动测试，并坚持使用通用语言。这能尽早发现并修复模型分裂，维护单一模型的完整性。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第14章：保持模型的完整性（2）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BOUNDED CONTEXT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之间的关系：</a:t>
            </a:r>
            <a:endParaRPr lang="en-US" sz="1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KERNEL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（共享内核）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：两个团队共享一部分模型和代码。共享部分变更需协商，并共同维护自动测试。目的是减少重复、简化集成，但不能消除重复，因为重复只能在一个上下文中消除。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CUSTOMER/SUPPLIER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（客户</a:t>
            </a:r>
            <a:r>
              <a:rPr lang="en-US" altLang="zh-CN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：上下游团队建立正式客户关系。下游团队参与上游计划，接口由自动化验收测试保护，使上游在修改时不必担心破坏下游，下游也能获得所需功能。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CONFORMIST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（顺从者）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当上游团队不合作但其模型可用时，下游严格遵循上游模型。这消除了转换复杂性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（不需要开发独立的模型）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，并与供应商共享通用语言，但加深了对上游的依赖。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ANTICORRUPTION LAYER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防腐层）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：与遗留或外部系统集成时，在边界建立隔离层。新系统按自己的模型提供服务，内部做双向转换，保护核心模型不被外来模型元素污染。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SEPARATE WAY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（分离）：两个模型完全没有关系，需要将其拆分。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集成可能非常有价值，但它的代价也总是十分高昂的。我们应该确保在真正需要的地方进行集成。但完全隔离开发的模型是很难合并的。如果最终仍然需要集成，那么转换层将是必要的，而且可能很复杂。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 HOST SERVICE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（开放主机服务）：将子系统作为一组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SERVICE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供其他系统访问（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HTTP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）。</a:t>
            </a: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PUBLISHED LANGUAGE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（发布语言）：系统间交换信息的发布语言（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XML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altLang="zh-CN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6463-1105-EB71-496A-3DB6F36B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1A4AF6-6D80-3CD1-5DE7-D097DCE72216}"/>
              </a:ext>
            </a:extLst>
          </p:cNvPr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第14章：保持模型的完整性（3）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A10FB0-C829-97C3-1597-F446E682A0B0}"/>
              </a:ext>
            </a:extLst>
          </p:cNvPr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  <a:buSzPct val="100000"/>
            </a:pPr>
            <a:endParaRPr lang="en-US" altLang="zh-CN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1694642-7457-4C8F-359D-E984DE8CB964}"/>
              </a:ext>
            </a:extLst>
          </p:cNvPr>
          <p:cNvSpPr/>
          <p:nvPr/>
        </p:nvSpPr>
        <p:spPr>
          <a:xfrm>
            <a:off x="457200" y="1234440"/>
            <a:ext cx="11442274" cy="52022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zh-CN" altLang="en-US" sz="18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软件工程追求的终极目标就是 “高内聚，低耦合”，翻译成两个正面的指标就是内聚和解耦：</a:t>
            </a:r>
            <a:endParaRPr lang="en-US" altLang="zh-CN" sz="1800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Microsoft YaHei" pitchFamily="34" charset="-120"/>
            </a:endParaRPr>
          </a:p>
          <a:p>
            <a:pPr lvl="0"/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SHARED KERNEL 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：内聚度最高，解耦最差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ANTICORRUPTION LAYER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：内聚度最低，解耦最强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通过梳理系统间关系，合理的控制系统的内聚与耦合程度，才是项目架构的难点所在。</a:t>
            </a:r>
          </a:p>
          <a:p>
            <a:pPr lv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ACL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被滥用的原因在于开发者将自己写的一小部分代码像“伊甸园”一样保护起来，这是比较简单的处理方式，但是如果要梳理如何和现有业务与系统结合，却要付出大量精力。这就导致系统过度“解耦”，以至于同一个团队维护的业务系统却给调用方一种支离破碎的感觉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因此是否引入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ACL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要根据两个系统当前情况和未来规划决定，如果满足：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同一个团队维护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属于同一个业务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模型差别不大</a:t>
            </a:r>
          </a:p>
          <a:p>
            <a:pPr lv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此时可以考虑暂时不引入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ACL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，而是采用共享内核，或者客户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供应商来处理系统间关系。</a:t>
            </a:r>
          </a:p>
          <a:p>
            <a:pPr lv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但是这条定律也只能作为参考，还是需要结合现实中对于内聚与解耦的需求决定，毕竟软件工程中唯一的定律就是没有定律。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spcAft>
                <a:spcPts val="1000"/>
              </a:spcAft>
              <a:buSzPct val="100000"/>
            </a:pPr>
            <a:endParaRPr lang="en-US" sz="1800" dirty="0">
              <a:solidFill>
                <a:srgbClr val="0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Microsoft Ya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449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第15章：精炼（1）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30725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CORE DOMAIN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（核心域）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：找到软件中真正体现业务价值、区别于竞争对手的专有模型。把最优秀的开发资源和最深层的建模投入到这里，这是软件竞争力的根本来源。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DOMAIN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并不容易，但它确实会让一些决策变得容易。你需要投入大量的工作使你的 </a:t>
            </a:r>
            <a:r>
              <a:rPr lang="en-US" altLang="zh-CN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鲜明突出，而其他设计部分则只需依照常规做得实用即可。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 GENERIC SUBDOMAIN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（通用子域）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时区、账户、权限等与业务特色无关的通用概念应单独成模块。可考虑外购、外包或使用现成方案，避免核心团队在非核心工作上分散精力。通用子领域不必追求“万能可重用代码”。过度追求可重用会分散核心域投入，增加不必要的复杂性，而且通用概念的边界应当严格限定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 VISION STATEMENT</a:t>
            </a:r>
            <a:r>
              <a:rPr lang="zh-CN" alt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（领域愿景说明）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：用一页简短文档说明核心领域及其价值主张。帮助管理层与技术团队统一目标，指导资源分配，并让新成员快速理解系统最重要的部分。</a:t>
            </a:r>
            <a:endParaRPr 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B93033-F911-6BD9-A57D-9D9EDBBF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749" y="4306957"/>
            <a:ext cx="6289090" cy="2133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第15章：精炼（2）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HIGHLIGHTED CORE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（突出核心）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：通过精炼文档、UML标记或代码注释，让所有成员快速识别哪些元素属于核心，建立共享视图。这是把战略设计传达给整个团队的重要手段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（类似详细设计）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COHESIVE MECHANISM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（封装机制）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：把图遍历、规格组合等复杂算法封装成轻量框架。核心只表达“做什么”，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把“怎么做”交给机制，使核心域保持声明式表达和高度可读性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这样可以得到一个更专注的模型，从而减少了那些对用户活动没什么价值的、分散注意力的方面。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SEGREGATED CORE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（分离核心）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：通过重构把核心概念集中到独立包，增强内聚、减少与通用或支持代码的耦合。这使核心域更稳定、更易于演化和维护。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 CORE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（抽象核心）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当子领域交互复杂时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中最基本的概念识别出来，并分离到不同的类、抽象类或接口中。设计这个抽象模型，使之能够表达出重要组件之间的大部分交互。把这个完整的抽象模型放到它自己的模块中，而专用的、详细的实现类则留在由子领域定义的模块中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第16章：大型结构（1）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为什么需要大型结构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能把模型变小，但不能保证整体一致性。系统变大后，人们会“只见树木不见森林”，需要全局视角理解各部分在整体中的角色和关系。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EVOLVING ORDER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（有序演进）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大型结构不是一次定死的架构，应随领域理解一起演化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在选择大型结构时，应该侧重于整体模型的管理，而不是优化个别部分的结构。因此，在“结构统一”和“用最自然的方式表示个别组件”之间需要做出一些折中选择。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不合适的结构比没有结构更糟，过早固化会束缚后续设计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METAPHOR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（系统隐喻）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：用一个团队共识的具体类比来组织设计，例如“防火墙”。纳入通用语言可促进跨角色沟通，但要警惕隐喻不准确时带来的误导。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RESPONSIBILITY LAYER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（职责层）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按领域中自然的概念依赖和变化频率划分职责层。例如运输系统中的能力层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（我们能够做什么）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作业层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（我们正在做什么）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决策支持层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（应该采用什么行动或指定什么策略）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，每层只承担一类稳定的职责。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第16章：大型结构（2）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79" y="1234440"/>
            <a:ext cx="6145033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LEVEL：把“描述模型的模型”独立出来，形成可配置的元对象层。例如 Employee Type 约束 Employee 的工资与退休计划，使软件能适应不同组织的结构策略。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PLUGGABLE COMPONENT FRAMEWORK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（可插入式组件框架）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从接口和交互中提炼出一个抽象核心，并创建一个框架，这个框架需要允许这些接口的各种不同实现被自由替换。无论是什么应用程序，只要它严格的通过抽象的接口进行操作，那么就可以允许它使用这些组件。</a:t>
            </a:r>
            <a:endParaRPr lang="en-US" altLang="zh-CN" sz="1800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结构约束的适度：大型结构应最小化、依靠沟通与自律。过度约束会限制演化，成为开发的负担。结构的存在是为了帮助理解，而不是为了约束而约束。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通过重构得到结构：持续调整大型结构，与精炼和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BOUNDED CONTEXT 结合，使其更贴合领域本质。结构应随理解深入而浮现，而非一次性顶层设计。</a:t>
            </a:r>
            <a:endParaRPr lang="en-US" sz="1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D6A080-67D1-4B2C-D444-C0B71A670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2504123"/>
            <a:ext cx="4491990" cy="2420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第17章：领域驱动设计的综合运用（1）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三大原则互为补充：BOUNDED CONTEXT、精炼、大型结构不是可互相替代的选项，而是需要在一个复杂系统中组合使用。缺少任何一个，战略设计都会失衡。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大型结构与 BOUNDED CONTEXT：大型结构可跨越多个限界上下文，为不同团队提供统一的概念组织，梳理 CONTEXT MAP 的全局关系，使多团队协作有共同的方向。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大型结构与精炼：精炼突出 CORE DOMAIN，而大型结构梳理核心域与支持元素之间的关系。两者相辅相成，共同帮助团队把握复杂系统的关键。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项目战略设计</a:t>
            </a:r>
            <a:r>
              <a:rPr lang="en-US" sz="1800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评估：从</a:t>
            </a: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CONTEXT MAP、通用语言、CORE DOMAIN、MODEL-DRIVEN DESIGN、团队技能和领域知识六个方面评估当前状态，再决定战略设计方向。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CB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第17章：领域驱动设计的综合运用（2）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由谁制定策略：架构师应作为开发协作者参与实际工作，促进总体方案，而非高高在上的决策权威。应用程序团队最理解领域和需求，他们的反馈至关重要。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技术框架：框架提供基础设施服务以加速开发，但也可能限制领域模型的表达与演化。选择时要权衡便利性与约束，避免框架反过来主导模型设计。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注意总体规划：反对生硬的总体规划，主张通过共同原则指导下的逐步演化形成“有机秩序”。过度设计会成为隐患，每个元素都必须确实值得存在。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战略决策6个要点：决策必须传达到整个团队；过程必须收集反馈；计划必须允许演变；保持简约与谦逊；对象职责专一但开发人员是多面手；始终以客户为中心。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2062</Words>
  <Application>Microsoft Office PowerPoint</Application>
  <PresentationFormat>宽屏</PresentationFormat>
  <Paragraphs>90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 UI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《领域驱动设计》第13-17章读书分享</dc:title>
  <dc:subject>PptxGenJS Presentation</dc:subject>
  <dc:creator>林灏均</dc:creator>
  <cp:lastModifiedBy>1113054274@qq.com</cp:lastModifiedBy>
  <cp:revision>22</cp:revision>
  <dcterms:created xsi:type="dcterms:W3CDTF">2026-08-10T17:00:36Z</dcterms:created>
  <dcterms:modified xsi:type="dcterms:W3CDTF">2026-08-11T17:58:28Z</dcterms:modified>
</cp:coreProperties>
</file>