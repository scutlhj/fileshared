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4" r:id="rId4"/>
    <p:sldId id="273" r:id="rId5"/>
    <p:sldId id="272" r:id="rId6"/>
    <p:sldId id="271" r:id="rId7"/>
    <p:sldId id="270" r:id="rId8"/>
    <p:sldId id="269" r:id="rId9"/>
    <p:sldId id="268" r:id="rId10"/>
    <p:sldId id="267" r:id="rId11"/>
    <p:sldId id="266" r:id="rId12"/>
    <p:sldId id="265" r:id="rId13"/>
    <p:sldId id="264" r:id="rId14"/>
    <p:sldId id="263" r:id="rId15"/>
    <p:sldId id="262" r:id="rId16"/>
    <p:sldId id="261" r:id="rId17"/>
    <p:sldId id="260" r:id="rId18"/>
    <p:sldId id="259" r:id="rId19"/>
    <p:sldId id="258" r:id="rId20"/>
    <p:sldId id="25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3054274@qq.com" initials="1" lastIdx="5" clrIdx="0">
    <p:extLst>
      <p:ext uri="{19B8F6BF-5375-455C-9EA6-DF929625EA0E}">
        <p15:presenceInfo xmlns:p15="http://schemas.microsoft.com/office/powerpoint/2012/main" userId="03292909b2ee05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C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EB2F9-B744-1B12-FAB9-E9D1B30D0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6A1AD1-F657-4561-EE7A-B48CDFEDE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5FC9C-5E7E-DF84-9353-D3977FAD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12500D-6D11-0C2B-A740-9486CB4B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8227E-204C-3895-D6B0-FD293C97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14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605AA-2D58-7FE3-3D65-2F2C2D99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6398C-8F4B-94EE-C000-465E4EF9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CF015-F3CE-103A-E80F-C5D5ED4C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3E700-2180-DC70-ED0D-6C597023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7126A-2DDF-8FDD-C25C-29193784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29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78C7B-3230-A3FB-129A-7E5A1FE2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1EFD5-6BA0-5862-5C24-506AAE9F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835FB-64EC-E937-25F7-314DB5D6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7F05D-12FA-5591-8E4C-E646C84B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E7303-235F-6CF2-48FE-341251E5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0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AD54F-8FAF-F03E-62B1-ABCB4E1C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2C2CA3-A4C3-EC06-C6EA-2110E3A1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75E03-600E-6FBA-449E-3D5685F04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176CEB-B2AA-9AD2-62B0-8AD6EEC2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4F1A6-7624-CBD6-5210-C6455EDB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BED4E0-7089-04AA-0A30-052EFDE9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75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12170-C317-D0A0-6400-6700CFD6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661CD5-8069-3AD0-96F3-8B280A86A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AE6E42-1E03-E9A7-FB21-D4B663E1D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ACDE0B-32D8-6724-82C2-5BB3CD412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4F550-0DBC-F07F-EC80-678BA9121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D51014-26C0-C3B0-6AC4-50E57524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454C82-67A0-54FD-27A2-627970C7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D9C6A2-D0D0-3EED-6789-0303C6E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77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12F54-03BD-9DC6-B668-E4AE3EDC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DD6214-CC1F-F27F-8E53-3092091D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2B2EB7-654D-0AA8-6EA4-591AADB7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C064F-118A-16CD-E2BC-216C102A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D1F322-47B0-CE51-E36C-1C6A9AF8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AC2174-F708-A162-5F98-4A8A0015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40894-D7ED-50C4-6205-5E6F08E3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7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7F3D6-0393-18DF-8D98-89E885CE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BAA5F6-4533-8A27-ABA7-2F125F302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A17E01-9D5F-C3E9-0AA1-6509A03B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3EC7C3-6DBF-AC3B-B0C1-BA6822B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8C716E-73D4-5BF3-CCCA-BFA1EACE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BEB5E9-F970-6B49-3544-6CDB8D2E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52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DD62A-D7F1-DFFE-9E18-C8E33E53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2B9CA9-F04D-10D2-3180-4BC5F87D9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76FA08-82C6-59F5-C681-B70FCEC1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75771C-E53A-961D-5EC5-61237EDE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674213-C045-C99A-7263-9E432CB6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6E85C-19DE-4611-DDBA-61E76C32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3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0524A-5B86-6991-E635-08BD28C7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FD2E25-6045-74A4-B062-5822036D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2737B2-DE05-A04C-639F-A721ADE0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CA729-9188-0E5D-C9B6-BD19DAF0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911A5-E567-5999-E769-3499E024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2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521097-30D1-7DB5-7FAE-47785DD29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B456D9-D01A-67BB-039F-899B46D15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4415B-8448-8CBB-51A8-CD54B700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38E30-5ECF-16B2-3F10-D138260F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5F3FF-A51C-D63E-3D36-5D583754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22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D1B41D-419B-AEB1-9F73-5A3AC07C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B5F6C-E60A-28C3-0D5D-B71F61F0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29E56-5E1D-7ED1-66A8-C588ED18E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0210E-5E95-47B4-8381-15CFB96B7177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5B95E-A245-C7DC-E5DF-D93D8F2EB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095E3-0D04-2C0B-CC11-B9E925EF5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20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82874-D099-EA2D-32CB-3BF7A1B7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464" y="1214438"/>
            <a:ext cx="10205071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《</a:t>
            </a:r>
            <a:r>
              <a:rPr lang="zh-CN" altLang="en-US" b="1" dirty="0"/>
              <a:t>金字塔原理</a:t>
            </a:r>
            <a:r>
              <a:rPr lang="en-US" altLang="zh-CN" b="1" dirty="0"/>
              <a:t>》</a:t>
            </a:r>
            <a:r>
              <a:rPr lang="zh-CN" altLang="en-US" b="1" dirty="0"/>
              <a:t>第</a:t>
            </a:r>
            <a:r>
              <a:rPr lang="en-US" altLang="zh-CN" b="1" dirty="0"/>
              <a:t>1-7</a:t>
            </a:r>
            <a:r>
              <a:rPr lang="zh-CN" altLang="en-US" b="1" dirty="0"/>
              <a:t>章读书分享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6AF5D-25CB-0809-5CA5-985A99279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15228"/>
            <a:ext cx="9144000" cy="1655762"/>
          </a:xfrm>
        </p:spPr>
        <p:txBody>
          <a:bodyPr/>
          <a:lstStyle/>
          <a:p>
            <a:r>
              <a:rPr lang="zh-CN" altLang="en-US" dirty="0"/>
              <a:t>分享人</a:t>
            </a:r>
            <a:r>
              <a:rPr lang="en-US" altLang="zh-CN" dirty="0"/>
              <a:t>:</a:t>
            </a:r>
            <a:r>
              <a:rPr lang="zh-CN" altLang="en-US" dirty="0"/>
              <a:t>林灏均</a:t>
            </a:r>
          </a:p>
        </p:txBody>
      </p:sp>
    </p:spTree>
    <p:extLst>
      <p:ext uri="{BB962C8B-B14F-4D97-AF65-F5344CB8AC3E}">
        <p14:creationId xmlns:p14="http://schemas.microsoft.com/office/powerpoint/2010/main" val="24650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0BF89-A9D1-50CC-EE8A-16BC3260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F18F4-6ABC-2005-9D60-D05C2903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为什么要使用金字塔结构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金字塔内部的结构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如何构建金字塔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序言的具体写法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演绎推理与归纳推理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应用逻辑顺序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概况各组思想</a:t>
            </a:r>
          </a:p>
        </p:txBody>
      </p:sp>
    </p:spTree>
    <p:extLst>
      <p:ext uri="{BB962C8B-B14F-4D97-AF65-F5344CB8AC3E}">
        <p14:creationId xmlns:p14="http://schemas.microsoft.com/office/powerpoint/2010/main" val="208696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8C141-3D2C-322F-DB22-817A29A0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第一章：为什么要使用金字塔结构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8BDDA-FB7B-2504-2651-4E4F31514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897"/>
            <a:ext cx="4953000" cy="301506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大脑会自动将信息归纳到金字塔的各组中，有助于理解和记忆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预先归纳到金字塔结构中的沟通内容，都更容易被人理解和记忆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有意地将沟通内容组织成金字塔结构，能提供沟通的效率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0D7A9B-FFB5-67E8-E76F-86DBC861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86" y="1612030"/>
            <a:ext cx="4953001" cy="1388009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84FC4FD-CC17-FD97-606F-4AC23CDEF21E}"/>
              </a:ext>
            </a:extLst>
          </p:cNvPr>
          <p:cNvSpPr txBox="1">
            <a:spLocks/>
          </p:cNvSpPr>
          <p:nvPr/>
        </p:nvSpPr>
        <p:spPr>
          <a:xfrm>
            <a:off x="8144890" y="3000039"/>
            <a:ext cx="1089991" cy="205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/>
              <a:t>未组织的思想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14627E-9AB3-2E09-C0BE-A2B268E59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2" y="3548522"/>
            <a:ext cx="4462852" cy="1850815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671E0C6-6771-6A73-984A-E38074A30896}"/>
              </a:ext>
            </a:extLst>
          </p:cNvPr>
          <p:cNvSpPr txBox="1">
            <a:spLocks/>
          </p:cNvSpPr>
          <p:nvPr/>
        </p:nvSpPr>
        <p:spPr>
          <a:xfrm>
            <a:off x="7765059" y="5405577"/>
            <a:ext cx="1734338" cy="265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00" dirty="0"/>
              <a:t>用金字塔结构组织的思想</a:t>
            </a:r>
          </a:p>
        </p:txBody>
      </p:sp>
    </p:spTree>
    <p:extLst>
      <p:ext uri="{BB962C8B-B14F-4D97-AF65-F5344CB8AC3E}">
        <p14:creationId xmlns:p14="http://schemas.microsoft.com/office/powerpoint/2010/main" val="265860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F8AC-AFA6-DA54-82DA-BF0286EF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ACBD6"/>
                </a:solidFill>
              </a:rPr>
              <a:t>如何将思想组织成金字塔结构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82D6A-C060-5A1F-B76A-975D10D4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9562"/>
            <a:ext cx="5458522" cy="505331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归类分组，找出逻辑关系，抽象概括：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读者会将读到的思想进行归类分组和总结概括，以便记住。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自上而下表达，结论先行：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先提出总结性思想，再提出被总结的具体思想。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由于受众的知识背景和理解力千差万别，他们很难对你所表达的思想组作出与你完全一样的解读。如果你不预先告诉读者总结，很有可能会出现理解偏差。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如果作者传达给读者的思想已经事先进行了归类和概括，并且按自上而下的顺序呈现，读者就能更容易理解作者表达的思想。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688221-E603-4387-636D-34AC6EB5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777" y="1342919"/>
            <a:ext cx="3800626" cy="19662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A6C27E-7A4C-9CDB-F6D9-B12E752CF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438" y="3548828"/>
            <a:ext cx="5101304" cy="269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2418F-BBB3-805D-E256-8376FD4D5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576"/>
            <a:ext cx="5964044" cy="4720683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自下而上思考，总结概括：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思维从最底部开始，将具有某种逻辑的句子组成一个段落，得到一个概括性的高层思想，提高了抽象程度。同理可以将多个段落组成章节，将章节组成文章，最终得到一个中心思想。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这一思想应当就是你希望表达的思想，而所有在其之下的思想则越往下越具体、越详细，并且都对你希望表达的主题思想起着解释和支撑的作用</a:t>
            </a:r>
            <a:endParaRPr lang="en-US" altLang="zh-CN" sz="20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774A0E7-68F2-0E7A-91AA-350C037E7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solidFill>
                  <a:srgbClr val="4ACBD6"/>
                </a:solidFill>
              </a:rPr>
              <a:t>如何将思想组织成金字塔结构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9CBFF5-98BD-03DC-9CA2-533F73193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82" y="2246979"/>
            <a:ext cx="4475103" cy="236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5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8F035-E876-1910-1760-E73D756A3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859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纵向关系：引导“疑问</a:t>
            </a:r>
            <a:r>
              <a:rPr lang="en-US" altLang="zh-CN" sz="2000" dirty="0"/>
              <a:t>-</a:t>
            </a:r>
            <a:r>
              <a:rPr lang="zh-CN" altLang="en-US" sz="2000" dirty="0"/>
              <a:t>回答”式对话，吸引读者注意力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纵向联系能够很好地吸引读者的注意力。通过纵向联系，你可以引导种疑问</a:t>
            </a:r>
            <a:r>
              <a:rPr lang="en-US" altLang="zh-CN" sz="2000" dirty="0"/>
              <a:t>/</a:t>
            </a:r>
            <a:r>
              <a:rPr lang="zh-CN" altLang="en-US" sz="2000" dirty="0"/>
              <a:t>回答式的对话，从而使读者带着极大兴趣了解你的思路进展。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要想吸引读者的全部注意力，作者就必须在做好回答问题的准备之前，避免引起读者的疑问，也必须在引起读者疑问之前，避免先给出对该问题的答案。</a:t>
            </a:r>
            <a:endParaRPr lang="en-US" altLang="zh-CN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709CACB-DB43-2BF7-3AB3-93B78573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第二章：金字塔内部的结构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ADCF2D-D68E-55EC-5658-86F1A8E9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47" y="1690688"/>
            <a:ext cx="4554213" cy="414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6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68CA3-6095-96F5-3FA6-D0670932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6902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横向关系：同一组思想之间的表述也要符合逻辑，一般使用演绎推理（大前提</a:t>
            </a:r>
            <a:r>
              <a:rPr lang="en-US" altLang="zh-CN" sz="2000" dirty="0"/>
              <a:t>-</a:t>
            </a:r>
            <a:r>
              <a:rPr lang="zh-CN" altLang="en-US" sz="2000" dirty="0"/>
              <a:t>小前提</a:t>
            </a:r>
            <a:r>
              <a:rPr lang="en-US" altLang="zh-CN" sz="2000" dirty="0"/>
              <a:t>-</a:t>
            </a:r>
            <a:r>
              <a:rPr lang="zh-CN" altLang="en-US" sz="2000" dirty="0"/>
              <a:t>结论）或归纳推理（从个别到一般）组织。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序言：通过讲故事式的序言</a:t>
            </a:r>
            <a:r>
              <a:rPr lang="en-US" altLang="zh-CN" sz="2000" dirty="0"/>
              <a:t>(</a:t>
            </a:r>
            <a:r>
              <a:rPr lang="zh-CN" altLang="en-US" sz="2000" dirty="0"/>
              <a:t>前言引言</a:t>
            </a:r>
            <a:r>
              <a:rPr lang="en-US" altLang="zh-CN" sz="2000" dirty="0"/>
              <a:t>)</a:t>
            </a:r>
            <a:r>
              <a:rPr lang="zh-CN" altLang="en-US" sz="2000" dirty="0"/>
              <a:t>确定初始问题。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虽然写作的主要目的是告诉别人他们所不知道的信息。但是，读者只有在需要了解问题的答案时才会去找答案，如果读者没有这种需要，就不会提出任何疑问</a:t>
            </a:r>
            <a:r>
              <a:rPr lang="en-US" altLang="zh-CN" sz="2000" dirty="0"/>
              <a:t>;</a:t>
            </a:r>
            <a:r>
              <a:rPr lang="zh-CN" altLang="en-US" sz="2000" dirty="0"/>
              <a:t>反之亦然。文章的序言可以通过追溯问题的起源和发展来确定这一问题。</a:t>
            </a:r>
            <a:endParaRPr lang="en-US" altLang="zh-CN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0658818-8527-0B40-9504-9A1DAAE1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第二章：金字塔内部的结构</a:t>
            </a:r>
          </a:p>
        </p:txBody>
      </p:sp>
    </p:spTree>
    <p:extLst>
      <p:ext uri="{BB962C8B-B14F-4D97-AF65-F5344CB8AC3E}">
        <p14:creationId xmlns:p14="http://schemas.microsoft.com/office/powerpoint/2010/main" val="165716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670FC-6024-21EB-1850-462B7F1AF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4276492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自上而下法（适合目标明确时），步骤如下：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提出主题思想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设想受众的主要疑问。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写序言</a:t>
            </a:r>
            <a:r>
              <a:rPr lang="en-US" altLang="zh-CN" sz="2000" dirty="0"/>
              <a:t>:</a:t>
            </a:r>
            <a:r>
              <a:rPr lang="zh-CN" altLang="en-US" sz="2000" dirty="0"/>
              <a:t>背景</a:t>
            </a:r>
            <a:r>
              <a:rPr lang="en-US" altLang="zh-CN" sz="2000" dirty="0"/>
              <a:t>-</a:t>
            </a:r>
            <a:r>
              <a:rPr lang="zh-CN" altLang="en-US" sz="2000" dirty="0"/>
              <a:t>冲突</a:t>
            </a:r>
            <a:r>
              <a:rPr lang="en-US" altLang="zh-CN" sz="2000" dirty="0"/>
              <a:t>-</a:t>
            </a:r>
            <a:r>
              <a:rPr lang="zh-CN" altLang="en-US" sz="2000" dirty="0"/>
              <a:t>疑问</a:t>
            </a:r>
            <a:r>
              <a:rPr lang="en-US" altLang="zh-CN" sz="2000" dirty="0"/>
              <a:t>-</a:t>
            </a:r>
            <a:r>
              <a:rPr lang="zh-CN" altLang="en-US" sz="2000" dirty="0"/>
              <a:t>回答。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与受众进行疑问</a:t>
            </a:r>
            <a:r>
              <a:rPr lang="en-US" altLang="zh-CN" sz="2000" dirty="0"/>
              <a:t>/</a:t>
            </a:r>
            <a:r>
              <a:rPr lang="zh-CN" altLang="en-US" sz="2000" dirty="0"/>
              <a:t>回答式对话。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对受众的新疑问，重复进行疑问</a:t>
            </a:r>
            <a:r>
              <a:rPr lang="en-US" altLang="zh-CN" sz="2000" dirty="0"/>
              <a:t>/</a:t>
            </a:r>
            <a:r>
              <a:rPr lang="zh-CN" altLang="en-US" sz="2000" dirty="0"/>
              <a:t>回答式对话。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BB9D745-0D36-B9C9-7259-47E4B7AE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第三章：如何构建金字塔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65B83C-F1B0-0ED0-A55C-B9964E4C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30" y="1825625"/>
            <a:ext cx="59786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2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9603F-C058-EB46-EA87-34B1500F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自下而上法（适合思路混乱时），步骤如下：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列出你想表达的所有思想要点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找出各要点之间的逻辑关系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得出结论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AE9BD77-512C-84DE-2BED-95D938AFE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第三章：如何构建金字塔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AB7207-5832-F3D7-7CEA-4D1377CF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834" y="1690688"/>
            <a:ext cx="4828572" cy="19380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7F6ACCA-8EB4-CB38-066B-B56008B1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92523"/>
            <a:ext cx="5688019" cy="19236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DC720FC-AB63-38F7-3691-BABEECAB1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18" y="3941505"/>
            <a:ext cx="4398088" cy="214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7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6E494-BF34-2EAB-ABBE-F0985883D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182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/>
              <a:t>序言要用讲故事形式，是为了让读者抛开复杂的思想，专注于你的话题激发读者兴趣，吸引注意力</a:t>
            </a:r>
            <a:r>
              <a:rPr lang="en-US" altLang="zh-CN" sz="2000" dirty="0"/>
              <a:t>:</a:t>
            </a:r>
            <a:r>
              <a:rPr lang="zh-CN" altLang="en-US" sz="2000" dirty="0"/>
              <a:t>新奇、悬念、与读者本人相关。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S</a:t>
            </a:r>
            <a:r>
              <a:rPr lang="zh-CN" altLang="en-US" sz="2000" dirty="0"/>
              <a:t>（背景）：发生了什么事</a:t>
            </a:r>
            <a:r>
              <a:rPr lang="en-US" altLang="zh-CN" sz="2000" dirty="0"/>
              <a:t>/</a:t>
            </a:r>
            <a:r>
              <a:rPr lang="zh-CN" altLang="en-US" sz="2000" dirty="0"/>
              <a:t>共识信息。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C</a:t>
            </a:r>
            <a:r>
              <a:rPr lang="zh-CN" altLang="en-US" sz="2000" dirty="0"/>
              <a:t>（冲突）：发生了什么问题</a:t>
            </a:r>
            <a:r>
              <a:rPr lang="en-US" altLang="zh-CN" sz="2000" dirty="0"/>
              <a:t>/</a:t>
            </a:r>
            <a:r>
              <a:rPr lang="zh-CN" altLang="en-US" sz="2000" dirty="0"/>
              <a:t>挑战。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Q</a:t>
            </a:r>
            <a:r>
              <a:rPr lang="zh-CN" altLang="en-US" sz="2000" dirty="0"/>
              <a:t>（疑问）：我们应该怎么做？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A</a:t>
            </a:r>
            <a:r>
              <a:rPr lang="zh-CN" altLang="en-US" sz="2000" dirty="0"/>
              <a:t>（回答）：你的核心观点</a:t>
            </a:r>
            <a:r>
              <a:rPr lang="en-US" altLang="zh-CN" sz="2000" dirty="0"/>
              <a:t>/</a:t>
            </a:r>
            <a:r>
              <a:rPr lang="zh-CN" altLang="en-US" sz="2000" dirty="0"/>
              <a:t>解决方案（即金字塔尖的结论）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434E6AA-CD7C-D2E3-2B76-EEF34276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第四章：序言的具体写法（</a:t>
            </a:r>
            <a:r>
              <a:rPr lang="en-US" altLang="zh-CN" sz="4000" dirty="0">
                <a:solidFill>
                  <a:srgbClr val="4ACBD6"/>
                </a:solidFill>
              </a:rPr>
              <a:t>SCQA</a:t>
            </a:r>
            <a:r>
              <a:rPr lang="zh-CN" altLang="en-US" sz="4000" dirty="0">
                <a:solidFill>
                  <a:srgbClr val="4ACBD6"/>
                </a:solidFill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7B6ED7-2709-7AB1-470C-B2336ACED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604" y="2006119"/>
            <a:ext cx="5670196" cy="39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2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F0EFF-764A-37E7-02CE-BDFF21339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10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序言必须采取“背景一冲突一疑问一解决方案”的结构，但是，各部分的顺序可以有所变化，以创造不同的文章风格。下面是一些不同的模式</a:t>
            </a:r>
            <a:endParaRPr lang="en-US" altLang="zh-CN" sz="2000" dirty="0"/>
          </a:p>
          <a:p>
            <a:r>
              <a:rPr lang="zh-CN" altLang="en-US" sz="2000" dirty="0"/>
              <a:t>标准式</a:t>
            </a:r>
            <a:r>
              <a:rPr lang="en-US" altLang="zh-CN" sz="2000" dirty="0"/>
              <a:t>:</a:t>
            </a:r>
            <a:r>
              <a:rPr lang="zh-CN" altLang="en-US" sz="2000" dirty="0"/>
              <a:t>背景一冲突一答案</a:t>
            </a:r>
            <a:endParaRPr lang="en-US" altLang="zh-CN" sz="2000" dirty="0"/>
          </a:p>
          <a:p>
            <a:r>
              <a:rPr lang="zh-CN" altLang="en-US" sz="2000" dirty="0"/>
              <a:t>开门见山式</a:t>
            </a:r>
            <a:r>
              <a:rPr lang="en-US" altLang="zh-CN" sz="2000" dirty="0"/>
              <a:t>:</a:t>
            </a:r>
            <a:r>
              <a:rPr lang="zh-CN" altLang="en-US" sz="2000" dirty="0"/>
              <a:t>答案一背景一冲突</a:t>
            </a:r>
            <a:endParaRPr lang="en-US" altLang="zh-CN" sz="2000" dirty="0"/>
          </a:p>
          <a:p>
            <a:r>
              <a:rPr lang="zh-CN" altLang="en-US" sz="2000" dirty="0"/>
              <a:t>突出忧虑式</a:t>
            </a:r>
            <a:r>
              <a:rPr lang="en-US" altLang="zh-CN" sz="2000" dirty="0"/>
              <a:t>:</a:t>
            </a:r>
            <a:r>
              <a:rPr lang="zh-CN" altLang="en-US" sz="2000" dirty="0"/>
              <a:t>冲突一背景一答案</a:t>
            </a:r>
            <a:endParaRPr lang="en-US" altLang="zh-CN" sz="2000" dirty="0"/>
          </a:p>
          <a:p>
            <a:r>
              <a:rPr lang="zh-CN" altLang="en-US" sz="2000" dirty="0"/>
              <a:t>突出信心式</a:t>
            </a:r>
            <a:r>
              <a:rPr lang="en-US" altLang="zh-CN" sz="2000" dirty="0"/>
              <a:t>:</a:t>
            </a:r>
            <a:r>
              <a:rPr lang="zh-CN" altLang="en-US" sz="2000" dirty="0"/>
              <a:t>疑问一背景</a:t>
            </a:r>
            <a:r>
              <a:rPr lang="en-US" altLang="zh-CN" sz="2000" dirty="0"/>
              <a:t>-</a:t>
            </a:r>
            <a:r>
              <a:rPr lang="zh-CN" altLang="en-US" sz="2000" dirty="0"/>
              <a:t>冲突一答案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52091B-4D97-F587-FCB7-4A66F069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第四章：序言的具体写法（</a:t>
            </a:r>
            <a:r>
              <a:rPr lang="en-US" altLang="zh-CN" sz="4000" dirty="0">
                <a:solidFill>
                  <a:srgbClr val="4ACBD6"/>
                </a:solidFill>
              </a:rPr>
              <a:t>SCQA</a:t>
            </a:r>
            <a:r>
              <a:rPr lang="zh-CN" altLang="en-US" sz="4000" dirty="0">
                <a:solidFill>
                  <a:srgbClr val="4ACBD6"/>
                </a:solidFill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F24D25-E587-3742-05EE-A6CEB45C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267" y="1825625"/>
            <a:ext cx="5799533" cy="17576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764B9D-D9CC-7A42-6ED1-02DC0C8B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267" y="3971556"/>
            <a:ext cx="5559782" cy="20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1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AD1D59-BBD7-923E-AAB2-D49799FD6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/>
              <a:t>金字塔中的思想以</a:t>
            </a:r>
            <a:r>
              <a:rPr lang="en-US" altLang="zh-CN" sz="2000" dirty="0"/>
              <a:t>3</a:t>
            </a:r>
            <a:r>
              <a:rPr lang="zh-CN" altLang="en-US" sz="2000" dirty="0"/>
              <a:t>种方式互相关联</a:t>
            </a:r>
            <a:r>
              <a:rPr lang="en-US" altLang="zh-CN" sz="2000" dirty="0"/>
              <a:t>--</a:t>
            </a:r>
            <a:r>
              <a:rPr lang="zh-CN" altLang="en-US" sz="2000" dirty="0"/>
              <a:t>向上、向下和横向。位于一组思想的上一个层次的思想是对这一组思想的概括，这一组思想则是对其上一层次思想的解释和支持。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/>
              <a:t>同一组中的思想之间存在着逻辑顺序，具体的顺序要取决于该组思想之间的逻辑关系是演绎推理关系，还是归纳推理关系。这两种逻辑推理方式是建立思想逻辑关系仅有的两种模式。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/>
              <a:t>因此，为了理清自己的思路，条理清晰地表达自己的思想，有必要了解演绎推理和归纳推理这两种逻辑推理方式的区别和应用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F611F4-3577-35D9-3449-C50CACA4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第五章：演绎推理与归纳推理</a:t>
            </a:r>
          </a:p>
        </p:txBody>
      </p:sp>
    </p:spTree>
    <p:extLst>
      <p:ext uri="{BB962C8B-B14F-4D97-AF65-F5344CB8AC3E}">
        <p14:creationId xmlns:p14="http://schemas.microsoft.com/office/powerpoint/2010/main" val="613630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CFD35-874D-5C3B-03CD-F5D41F51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043"/>
            <a:ext cx="5257800" cy="476958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演绎推理：大前提</a:t>
            </a:r>
            <a:r>
              <a:rPr lang="en-US" altLang="zh-CN" sz="2000" dirty="0"/>
              <a:t>-</a:t>
            </a:r>
            <a:r>
              <a:rPr lang="zh-CN" altLang="en-US" sz="2000" dirty="0"/>
              <a:t>小前提</a:t>
            </a:r>
            <a:r>
              <a:rPr lang="en-US" altLang="zh-CN" sz="2000" dirty="0"/>
              <a:t>-</a:t>
            </a:r>
            <a:r>
              <a:rPr lang="zh-CN" altLang="en-US" sz="2000" dirty="0"/>
              <a:t>结论（三段论）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步骤如下：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阐述世界上已存在的某种情况。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阐述世界上同时存在的相关情况。如果第二个表述是针对第一个表述的主语或谓语的，则说明这两个表述相关，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说明这两种情况同时存在时隐含的意义。</a:t>
            </a:r>
            <a:endParaRPr lang="en-US" altLang="zh-CN" sz="2000" dirty="0"/>
          </a:p>
          <a:p>
            <a:r>
              <a:rPr lang="zh-CN" altLang="en-US" sz="2000" dirty="0"/>
              <a:t>归纳推理：从个别到一般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步骤如下：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正确定义该组思想。找到一个能够表示该组所有思想共同点的名词。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识别并剔除该组思想中与其他思想不相称</a:t>
            </a:r>
            <a:r>
              <a:rPr lang="en-US" altLang="zh-CN" sz="2000" dirty="0"/>
              <a:t>(</a:t>
            </a:r>
            <a:r>
              <a:rPr lang="zh-CN" altLang="en-US" sz="2000" dirty="0"/>
              <a:t>不属同类、不具有共同点</a:t>
            </a:r>
            <a:r>
              <a:rPr lang="en-US" altLang="zh-CN" sz="2000" dirty="0"/>
              <a:t>)</a:t>
            </a:r>
            <a:r>
              <a:rPr lang="zh-CN" altLang="en-US" sz="2000" dirty="0"/>
              <a:t>的思想。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EC107E7-4F43-9BE4-E2A7-4D2A322C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第五章：演绎推理与归纳推理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2DF224-6BA4-8970-00A3-73D724C2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673" y="1594044"/>
            <a:ext cx="4865127" cy="468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77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635FF-F2B5-031E-9E29-F50E64385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什么时候用哪种方法？</a:t>
            </a:r>
            <a:endParaRPr lang="en-US" altLang="zh-CN" sz="2000" dirty="0"/>
          </a:p>
          <a:p>
            <a:r>
              <a:rPr lang="zh-CN" altLang="en-US" sz="2000" dirty="0"/>
              <a:t>演绎推理：适用于需要解释原因或论证严密性的场景（如分析问题根源、证明结论的必然性）。例如，当读者关注“为什么”时，演绎法通过“问题→原因→解决方案”的逻辑链增强说服力。</a:t>
            </a:r>
            <a:endParaRPr lang="en-US" altLang="zh-CN" sz="2000" dirty="0"/>
          </a:p>
          <a:p>
            <a:r>
              <a:rPr lang="zh-CN" altLang="en-US" sz="2000" dirty="0"/>
              <a:t>归纳推理：适用于提出解决方案或总结规律的场景（如行动建议、分类总结）。当读者更关注“怎么做”时，归纳法通过分组共性（如“优化措施</a:t>
            </a: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/>
              <a:t>3”</a:t>
            </a:r>
            <a:r>
              <a:rPr lang="zh-CN" altLang="en-US" sz="2000" dirty="0"/>
              <a:t>）降低理解成本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CCFC2E1-B074-03EA-099F-81D5F1221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第五章：演绎推理与归纳推理</a:t>
            </a:r>
          </a:p>
        </p:txBody>
      </p:sp>
    </p:spTree>
    <p:extLst>
      <p:ext uri="{BB962C8B-B14F-4D97-AF65-F5344CB8AC3E}">
        <p14:creationId xmlns:p14="http://schemas.microsoft.com/office/powerpoint/2010/main" val="3900432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384AB-3558-BB47-5543-BAD677103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在演绎性的思想组中，你可以毫不费力地找出该组思想的逻辑顺序</a:t>
            </a:r>
            <a:r>
              <a:rPr lang="en-US" altLang="zh-CN" sz="2000" dirty="0"/>
              <a:t>:</a:t>
            </a:r>
            <a:r>
              <a:rPr lang="zh-CN" altLang="en-US" sz="2000" dirty="0"/>
              <a:t>即演绎推理的顺序。但在归纳性的思想组中，你却可以“选择”一种逻辑顺序。因此，你必须掌握选择逻辑顺序的方法，以及判断你的选择是否正确的方法。以下是一些常用的逻辑顺序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时间顺序：在按照时间顺序组织的思想组中，你要按照采取行动的顺序（第一步第二步、第三步）依次表述达到某一结果必须采取的行动。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关键原则：</a:t>
            </a:r>
          </a:p>
          <a:p>
            <a:r>
              <a:rPr lang="zh-CN" altLang="en-US" sz="2000" dirty="0"/>
              <a:t>行动步骤需导向明确结果（如“完成市场调研→制定战略→实施计划”）</a:t>
            </a:r>
            <a:endParaRPr lang="en-US" altLang="zh-CN" sz="2000" dirty="0"/>
          </a:p>
          <a:p>
            <a:r>
              <a:rPr lang="zh-CN" altLang="en-US" sz="2000" dirty="0"/>
              <a:t>步骤间需符合因果链条，可通过“假设行动→推演结果”验证逻辑合理性</a:t>
            </a:r>
          </a:p>
          <a:p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33E3202-B2C7-494D-62D9-F3F253CA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第六章：应用逻辑顺序</a:t>
            </a:r>
          </a:p>
        </p:txBody>
      </p:sp>
    </p:spTree>
    <p:extLst>
      <p:ext uri="{BB962C8B-B14F-4D97-AF65-F5344CB8AC3E}">
        <p14:creationId xmlns:p14="http://schemas.microsoft.com/office/powerpoint/2010/main" val="1038758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4CDAA-B622-5A00-25E9-1762C22A9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结构顺序：将整体划分为部分，适用于地理、组织架构或概念分析。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关键原则：</a:t>
            </a:r>
            <a:r>
              <a:rPr lang="en-US" altLang="zh-CN" sz="2000" dirty="0"/>
              <a:t>MECE</a:t>
            </a:r>
            <a:r>
              <a:rPr lang="zh-CN" altLang="en-US" sz="2000" dirty="0"/>
              <a:t>原则（</a:t>
            </a:r>
            <a:r>
              <a:rPr lang="en-US" altLang="zh-CN" sz="2000" dirty="0"/>
              <a:t>Mutually Exclusive, Collectively Exhaustive</a:t>
            </a:r>
            <a:r>
              <a:rPr lang="zh-CN" altLang="en-US" sz="2000" dirty="0"/>
              <a:t>）</a:t>
            </a:r>
            <a:r>
              <a:rPr lang="en-US" altLang="zh-CN" sz="2000" dirty="0"/>
              <a:t>——</a:t>
            </a:r>
            <a:r>
              <a:rPr lang="zh-CN" altLang="en-US" sz="2000" dirty="0"/>
              <a:t>各部分相互独立、完全穷尽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295A1C-B403-BBDF-E7CE-3007E1A5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第六章：应用逻辑顺序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801F61-76C8-A7CB-6686-B202F9E18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7" y="2826978"/>
            <a:ext cx="7802065" cy="348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2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FD6C23-C176-C1C4-0F5F-6372A2E48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重要性顺序：按共性强度或重要性降序</a:t>
            </a:r>
            <a:r>
              <a:rPr lang="en-US" altLang="zh-CN" sz="2000" dirty="0"/>
              <a:t>/</a:t>
            </a:r>
            <a:r>
              <a:rPr lang="zh-CN" altLang="en-US" sz="2000" dirty="0"/>
              <a:t>升序排列，如问题、原因、因素分析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关键原则：</a:t>
            </a:r>
          </a:p>
          <a:p>
            <a:pPr fontAlgn="base"/>
            <a:r>
              <a:rPr lang="zh-CN" altLang="en-US" sz="2000" dirty="0"/>
              <a:t>明确共性特征（如“影响公司生存的关键问题”）。</a:t>
            </a:r>
          </a:p>
          <a:p>
            <a:pPr fontAlgn="base"/>
            <a:r>
              <a:rPr lang="zh-CN" altLang="en-US" sz="2000" dirty="0"/>
              <a:t>排序标准需统一（如风险等级、利润贡献）。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D5574DE-D098-8177-DA96-77E26A96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第六章：应用逻辑顺序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69F8B6-05C3-09A0-461C-C5D7C3E0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392" y="3429000"/>
            <a:ext cx="5671215" cy="28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7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3F989-6B84-59D0-7F68-7717B6BE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核心目标：提炼下层思想的本质，避免空洞结论，推动思维深化。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思想的表达方式可以是行动性语句，即告诉读者做什么事，也可以是描述性语句，即告诉读者关于某些事的情况。</a:t>
            </a:r>
          </a:p>
          <a:p>
            <a:r>
              <a:rPr lang="zh-CN" altLang="en-US" sz="2000" dirty="0"/>
              <a:t>概括行动性思想</a:t>
            </a:r>
            <a:r>
              <a:rPr lang="en-US" altLang="zh-CN" sz="2000" dirty="0"/>
              <a:t>(</a:t>
            </a:r>
            <a:r>
              <a:rPr lang="zh-CN" altLang="en-US" sz="2000" dirty="0"/>
              <a:t>介绍采取的行动、行为、步骤、流程</a:t>
            </a:r>
            <a:r>
              <a:rPr lang="en-US" altLang="zh-CN" sz="2000" dirty="0"/>
              <a:t>)</a:t>
            </a:r>
            <a:r>
              <a:rPr lang="zh-CN" altLang="en-US" sz="2000" dirty="0"/>
              <a:t>时，应说明采取行动后取得的“结果”</a:t>
            </a:r>
            <a:r>
              <a:rPr lang="en-US" altLang="zh-CN" sz="2000" dirty="0"/>
              <a:t>(</a:t>
            </a:r>
            <a:r>
              <a:rPr lang="zh-CN" altLang="en-US" sz="2000" dirty="0"/>
              <a:t>效果、达到的目标</a:t>
            </a:r>
            <a:r>
              <a:rPr lang="en-US" altLang="zh-CN" sz="2000" dirty="0"/>
              <a:t>)</a:t>
            </a:r>
          </a:p>
          <a:p>
            <a:r>
              <a:rPr lang="zh-CN" altLang="en-US" sz="2000" dirty="0"/>
              <a:t>概括描述性思想</a:t>
            </a:r>
            <a:r>
              <a:rPr lang="en-US" altLang="zh-CN" sz="2000" dirty="0"/>
              <a:t>(</a:t>
            </a:r>
            <a:r>
              <a:rPr lang="zh-CN" altLang="en-US" sz="2000" dirty="0"/>
              <a:t>介绍背景、信息</a:t>
            </a:r>
            <a:r>
              <a:rPr lang="en-US" altLang="zh-CN" sz="2000" dirty="0"/>
              <a:t>)</a:t>
            </a:r>
            <a:r>
              <a:rPr lang="zh-CN" altLang="en-US" sz="2000" dirty="0"/>
              <a:t>时，应说明这些思想具有的“共同点的含义”</a:t>
            </a:r>
            <a:r>
              <a:rPr lang="en-US" altLang="zh-CN" sz="2000" dirty="0"/>
              <a:t>(</a:t>
            </a:r>
            <a:r>
              <a:rPr lang="zh-CN" altLang="en-US" sz="2000" dirty="0"/>
              <a:t>共同点的意义</a:t>
            </a:r>
            <a:r>
              <a:rPr lang="en-US" altLang="zh-CN" sz="2000" dirty="0"/>
              <a:t>)</a:t>
            </a:r>
          </a:p>
          <a:p>
            <a:r>
              <a:rPr lang="zh-CN" altLang="en-US" sz="2000" dirty="0"/>
              <a:t>总结句避免使用“缺乏思想”的句子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E794E81-C8A8-DAA7-A0FB-D7684317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第七章：概括各组思想</a:t>
            </a:r>
          </a:p>
        </p:txBody>
      </p:sp>
    </p:spTree>
    <p:extLst>
      <p:ext uri="{BB962C8B-B14F-4D97-AF65-F5344CB8AC3E}">
        <p14:creationId xmlns:p14="http://schemas.microsoft.com/office/powerpoint/2010/main" val="340442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DF9D5F-E1BB-0565-7396-08160CBD3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dirty="0"/>
              <a:t>行动性思想排序方法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明确说明每一个行动导致的最终结果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把导致同样最终结果的思想组织在一起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确定该组思想的分组基础，进行排序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确认是否有遗漏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endParaRPr lang="en-US" altLang="zh-CN" sz="2000" dirty="0"/>
          </a:p>
          <a:p>
            <a:r>
              <a:rPr lang="zh-CN" altLang="en-US" sz="2000" dirty="0"/>
              <a:t>描述性思想排序方法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把说明类似事物的观点组织在一起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确定改组思想的分组基础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将所有思想用完整的句子表达，并检查其顺序是否符合步骤</a:t>
            </a:r>
            <a:r>
              <a:rPr lang="en-US" altLang="zh-CN" sz="2000" dirty="0"/>
              <a:t>2</a:t>
            </a:r>
            <a:r>
              <a:rPr lang="zh-CN" altLang="en-US" sz="2000" dirty="0"/>
              <a:t>中确定的逻辑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检查在当前逻辑顺序下，是否有重要的思想被遗漏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A9CD545-105C-34C1-24AD-B34C91E38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第七章：概括各组思想</a:t>
            </a:r>
          </a:p>
        </p:txBody>
      </p:sp>
    </p:spTree>
    <p:extLst>
      <p:ext uri="{BB962C8B-B14F-4D97-AF65-F5344CB8AC3E}">
        <p14:creationId xmlns:p14="http://schemas.microsoft.com/office/powerpoint/2010/main" val="73250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A83C6-F745-8B67-6F26-F305424E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前七章从为什么要使用金字塔结构出发，详细介绍了金字塔的结构以及构建金字塔的方法。</a:t>
            </a:r>
            <a:endParaRPr lang="en-US" altLang="zh-CN" sz="2000" dirty="0"/>
          </a:p>
          <a:p>
            <a:r>
              <a:rPr lang="zh-CN" altLang="en-US" sz="2000" dirty="0"/>
              <a:t>金字塔原理的本质：不是机械的模板，而是通过结构化思考（归类分组、逻辑递进）实现清晰表达（结论先行、以上统下），最终提升解决问题的效率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774AAC9-78CA-0AB4-DA1F-929011BF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4ACBD6"/>
                </a:solidFill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4189535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1744</Words>
  <Application>Microsoft Office PowerPoint</Application>
  <PresentationFormat>宽屏</PresentationFormat>
  <Paragraphs>118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《金字塔原理》第1-7章读书分享 </vt:lpstr>
      <vt:lpstr>目录</vt:lpstr>
      <vt:lpstr>第一章：为什么要使用金字塔结构</vt:lpstr>
      <vt:lpstr>如何将思想组织成金字塔结构</vt:lpstr>
      <vt:lpstr>如何将思想组织成金字塔结构</vt:lpstr>
      <vt:lpstr>第二章：金字塔内部的结构</vt:lpstr>
      <vt:lpstr>第二章：金字塔内部的结构</vt:lpstr>
      <vt:lpstr>第三章：如何构建金字塔</vt:lpstr>
      <vt:lpstr>第三章：如何构建金字塔</vt:lpstr>
      <vt:lpstr>第四章：序言的具体写法（SCQA）</vt:lpstr>
      <vt:lpstr>第四章：序言的具体写法（SCQA）</vt:lpstr>
      <vt:lpstr>第五章：演绎推理与归纳推理</vt:lpstr>
      <vt:lpstr>第五章：演绎推理与归纳推理</vt:lpstr>
      <vt:lpstr>第五章：演绎推理与归纳推理</vt:lpstr>
      <vt:lpstr>第六章：应用逻辑顺序</vt:lpstr>
      <vt:lpstr>第六章：应用逻辑顺序</vt:lpstr>
      <vt:lpstr>第六章：应用逻辑顺序</vt:lpstr>
      <vt:lpstr>第七章：概括各组思想</vt:lpstr>
      <vt:lpstr>第七章：概括各组思想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1113054274@qq.com</dc:creator>
  <cp:lastModifiedBy>1113054274@qq.com</cp:lastModifiedBy>
  <cp:revision>24</cp:revision>
  <dcterms:created xsi:type="dcterms:W3CDTF">2025-11-25T14:46:02Z</dcterms:created>
  <dcterms:modified xsi:type="dcterms:W3CDTF">2025-11-25T19:26:14Z</dcterms:modified>
</cp:coreProperties>
</file>