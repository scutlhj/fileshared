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4" d="100"/>
          <a:sy n="104" d="100"/>
        </p:scale>
        <p:origin x="96" y="1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03311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194560"/>
            <a:ext cx="11274552" cy="914400"/>
          </a:xfrm>
          <a:prstGeom prst="rect">
            <a:avLst/>
          </a:prstGeom>
          <a:noFill/>
          <a:ln/>
        </p:spPr>
        <p:txBody>
          <a:bodyPr wrap="square" lIns="0" tIns="0" rIns="0" bIns="0" rtlCol="0" anchor="ctr"/>
          <a:lstStyle/>
          <a:p>
            <a:pPr marL="0" indent="0" algn="ctr">
              <a:buNone/>
            </a:pPr>
            <a:r>
              <a:rPr lang="en-US" sz="4800" b="1" dirty="0">
                <a:solidFill>
                  <a:srgbClr val="4ACBD6"/>
                </a:solidFill>
                <a:latin typeface="Microsoft YaHei" pitchFamily="34" charset="0"/>
                <a:ea typeface="Microsoft YaHei" pitchFamily="34" charset="-122"/>
                <a:cs typeface="Microsoft YaHei" pitchFamily="34" charset="-120"/>
              </a:rPr>
              <a:t>《匠艺整洁之道》</a:t>
            </a:r>
            <a:endParaRPr lang="en-US" sz="4800" dirty="0"/>
          </a:p>
        </p:txBody>
      </p:sp>
      <p:sp>
        <p:nvSpPr>
          <p:cNvPr id="3" name="Text 1"/>
          <p:cNvSpPr/>
          <p:nvPr/>
        </p:nvSpPr>
        <p:spPr>
          <a:xfrm>
            <a:off x="457200" y="3200400"/>
            <a:ext cx="11274552" cy="640080"/>
          </a:xfrm>
          <a:prstGeom prst="rect">
            <a:avLst/>
          </a:prstGeom>
          <a:noFill/>
          <a:ln/>
        </p:spPr>
        <p:txBody>
          <a:bodyPr wrap="square" lIns="0" tIns="0" rIns="0" bIns="0" rtlCol="0" anchor="ctr"/>
          <a:lstStyle/>
          <a:p>
            <a:pPr marL="0" indent="0" algn="ctr">
              <a:buNone/>
            </a:pPr>
            <a:r>
              <a:rPr lang="en-US" sz="2800" dirty="0">
                <a:solidFill>
                  <a:srgbClr val="000000"/>
                </a:solidFill>
                <a:latin typeface="Microsoft YaHei" pitchFamily="34" charset="0"/>
                <a:ea typeface="Microsoft YaHei" pitchFamily="34" charset="-122"/>
                <a:cs typeface="Microsoft YaHei" pitchFamily="34" charset="-120"/>
              </a:rPr>
              <a:t>Clean Craftsmanship 第1-8章读书分享</a:t>
            </a:r>
            <a:endParaRPr lang="en-US" sz="2800" dirty="0"/>
          </a:p>
        </p:txBody>
      </p:sp>
      <p:sp>
        <p:nvSpPr>
          <p:cNvPr id="4" name="Text 2"/>
          <p:cNvSpPr/>
          <p:nvPr/>
        </p:nvSpPr>
        <p:spPr>
          <a:xfrm>
            <a:off x="457200" y="3931920"/>
            <a:ext cx="11274552" cy="457200"/>
          </a:xfrm>
          <a:prstGeom prst="rect">
            <a:avLst/>
          </a:prstGeom>
          <a:noFill/>
          <a:ln/>
        </p:spPr>
        <p:txBody>
          <a:bodyPr wrap="square" lIns="0" tIns="0" rIns="0" bIns="0" rtlCol="0" anchor="ctr"/>
          <a:lstStyle/>
          <a:p>
            <a:pPr marL="0" indent="0" algn="ctr">
              <a:buNone/>
            </a:pPr>
            <a:r>
              <a:rPr lang="en-US" sz="2000" dirty="0">
                <a:solidFill>
                  <a:srgbClr val="000000"/>
                </a:solidFill>
                <a:latin typeface="Microsoft YaHei" pitchFamily="34" charset="0"/>
                <a:ea typeface="Microsoft YaHei" pitchFamily="34" charset="-122"/>
                <a:cs typeface="Microsoft YaHei" pitchFamily="34" charset="-120"/>
              </a:rPr>
              <a:t>分享人：林灏均</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1274552" cy="731520"/>
          </a:xfrm>
          <a:prstGeom prst="rect">
            <a:avLst/>
          </a:prstGeom>
          <a:noFill/>
          <a:ln/>
        </p:spPr>
        <p:txBody>
          <a:bodyPr wrap="square" lIns="0" tIns="0" rIns="0" bIns="0" rtlCol="0" anchor="ctr"/>
          <a:lstStyle/>
          <a:p>
            <a:pPr marL="0" indent="0" algn="l">
              <a:buNone/>
            </a:pPr>
            <a:r>
              <a:rPr lang="en-US" sz="3200" b="1" dirty="0">
                <a:solidFill>
                  <a:srgbClr val="4ACBD6"/>
                </a:solidFill>
                <a:latin typeface="Microsoft YaHei" pitchFamily="34" charset="0"/>
                <a:ea typeface="Microsoft YaHei" pitchFamily="34" charset="-122"/>
                <a:cs typeface="Microsoft YaHei" pitchFamily="34" charset="-120"/>
              </a:rPr>
              <a:t>目录</a:t>
            </a:r>
            <a:endParaRPr lang="en-US" sz="3200" dirty="0"/>
          </a:p>
        </p:txBody>
      </p:sp>
      <p:sp>
        <p:nvSpPr>
          <p:cNvPr id="3" name="Text 1"/>
          <p:cNvSpPr/>
          <p:nvPr/>
        </p:nvSpPr>
        <p:spPr>
          <a:xfrm>
            <a:off x="640080" y="1371600"/>
            <a:ext cx="10972800" cy="4937760"/>
          </a:xfrm>
          <a:prstGeom prst="rect">
            <a:avLst/>
          </a:prstGeom>
          <a:noFill/>
          <a:ln/>
        </p:spPr>
        <p:txBody>
          <a:bodyPr wrap="square" lIns="0" tIns="0" rIns="0" bIns="0" rtlCol="0" anchor="t"/>
          <a:lstStyle/>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第1章 匠艺：从飞行史与软件史看"原理≠技术"，匠艺是良师与经验的产物</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第2章 测试驱动开发：TDD 三大法则、第四条法则与经典 kata 实战</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第3章 高级TDD：AAA/BDD、测试替身五兄弟与伦敦派、芝加哥派之争</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第4章 测试设计：数据库与 GUI 测试法则、测试模式、转换优先级前提</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第5章 重构：基本工具箱、重构纪律与"魔方"比喻</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第6章 简单设计：YAGNI 与简单设计的四条规则</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第7章 协作编程：结对与 mob 编程、效率数据与人员搭配</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第8章 验收测试：测试即需求、验收测试与持续构建</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1274552" cy="731520"/>
          </a:xfrm>
          <a:prstGeom prst="rect">
            <a:avLst/>
          </a:prstGeom>
          <a:noFill/>
          <a:ln/>
        </p:spPr>
        <p:txBody>
          <a:bodyPr wrap="square" lIns="0" tIns="0" rIns="0" bIns="0" rtlCol="0" anchor="ctr"/>
          <a:lstStyle/>
          <a:p>
            <a:pPr marL="0" indent="0" algn="l">
              <a:buNone/>
            </a:pPr>
            <a:r>
              <a:rPr lang="en-US" sz="3200" b="1" dirty="0">
                <a:solidFill>
                  <a:srgbClr val="4ACBD6"/>
                </a:solidFill>
                <a:latin typeface="Microsoft YaHei" pitchFamily="34" charset="0"/>
                <a:ea typeface="Microsoft YaHei" pitchFamily="34" charset="-122"/>
                <a:cs typeface="Microsoft YaHei" pitchFamily="34" charset="-120"/>
              </a:rPr>
              <a:t>第1章：匠艺 Craftsmanship（1）</a:t>
            </a:r>
            <a:endParaRPr lang="en-US" sz="3200" dirty="0"/>
          </a:p>
        </p:txBody>
      </p:sp>
      <p:sp>
        <p:nvSpPr>
          <p:cNvPr id="3" name="Text 1"/>
          <p:cNvSpPr/>
          <p:nvPr/>
        </p:nvSpPr>
        <p:spPr>
          <a:xfrm>
            <a:off x="640080" y="1234440"/>
            <a:ext cx="10972800" cy="5212080"/>
          </a:xfrm>
          <a:prstGeom prst="rect">
            <a:avLst/>
          </a:prstGeom>
          <a:noFill/>
          <a:ln/>
        </p:spPr>
        <p:txBody>
          <a:bodyPr wrap="square" lIns="0" tIns="0" rIns="0" bIns="0" rtlCol="0" anchor="t"/>
          <a:lstStyle/>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原理不等于技术：18 世纪人类就已理解升力原理，但"会飞"这门手艺——纪律、规程、训练体系——用了大半个世纪、付出大量生命才成熟，航空最终成为史上最安全的旅行方式（作者脚注：737 Max 除外）。</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Sullenberger 机长的启示：2009 年 1 月 15 日，A320 双发失效，他凭 20,000 多小时飞行经验将飞机迫降哈德逊河，155 人全部生还。"Sullenberger 机长精通他的手艺，他就是一位匠人。"</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软件史在重演：从 Babbage、Ada Lovelace"数字可代表万物"的洞见，到 Turing 用一篇论文"发明了软件"，再到 Grace Hopper 发明编译器——原理层突飞猛进；1970-2000 三十年间硬件能力提升了约 30 个数量级，但程序员的技艺没有同步提升。</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Turing 的预言：1947 年 Turing 在演讲中说——"我们的困难之一将是保持适当的纪律（discipline），以免迷失我们正在做的事情。"这正是本书 Part I 的源头。</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行业两大病灶：一是程序员把编程当作晋升管理的跳板，无法积累足够经验去传授技艺；二是新程序员每五年翻一番，有经验者的比例被持续稀释，多数程序员始终是"未经学徒训练的门外汉"。</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1274552" cy="731520"/>
          </a:xfrm>
          <a:prstGeom prst="rect">
            <a:avLst/>
          </a:prstGeom>
          <a:noFill/>
          <a:ln/>
        </p:spPr>
        <p:txBody>
          <a:bodyPr wrap="square" lIns="0" tIns="0" rIns="0" bIns="0" rtlCol="0" anchor="ctr"/>
          <a:lstStyle/>
          <a:p>
            <a:pPr marL="0" indent="0" algn="l">
              <a:buNone/>
            </a:pPr>
            <a:r>
              <a:rPr lang="en-US" sz="3200" b="1" dirty="0">
                <a:solidFill>
                  <a:srgbClr val="4ACBD6"/>
                </a:solidFill>
                <a:latin typeface="Microsoft YaHei" pitchFamily="34" charset="0"/>
                <a:ea typeface="Microsoft YaHei" pitchFamily="34" charset="-122"/>
                <a:cs typeface="Microsoft YaHei" pitchFamily="34" charset="-120"/>
              </a:rPr>
              <a:t>第1章：匠艺 Craftsmanship（2）</a:t>
            </a:r>
            <a:endParaRPr lang="en-US" sz="3200" dirty="0"/>
          </a:p>
        </p:txBody>
      </p:sp>
      <p:sp>
        <p:nvSpPr>
          <p:cNvPr id="3" name="Text 1"/>
          <p:cNvSpPr/>
          <p:nvPr/>
        </p:nvSpPr>
        <p:spPr>
          <a:xfrm>
            <a:off x="640080" y="1234440"/>
            <a:ext cx="10972800" cy="5212080"/>
          </a:xfrm>
          <a:prstGeom prst="rect">
            <a:avLst/>
          </a:prstGeom>
          <a:noFill/>
          <a:ln/>
        </p:spPr>
        <p:txBody>
          <a:bodyPr wrap="square" lIns="0" tIns="0" rIns="0" bIns="0" rtlCol="0" anchor="t"/>
          <a:lstStyle/>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匠艺的定义："匠艺是知道如何做好某件事的状态，是良好指导和大量经验的产物。"软件业师承与经验两者皆缺，导致代码"不达标、结构糟糕、不安全、满是 bug"。</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纪律的定义：纪律是一套规则，由本质部分（essential）与任意部分（arbitrary）构成。外科洗手每根手指刷十次是任意的，"手必须非常干净"才是本质。不要因为嫌弃形式而拒绝本质——Semmelweis 让医生洗手，把产妇死亡率从十分之一降到几乎为零，却因医生厌恶漂白剂而被拒绝，过了数十年医生才真正开始洗手。</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XP 的诞生：Royce 1970 年的"瀑布"论文花了近 30 年才被纠正；1999 年 Kent Beck 出版《Extreme Programming Explained》，在增量思想之上加入工程实践，引爆敏捷革命。</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生命之环：Ron Jeffries 的 Circle of Life 图把 XP 实践分为外环业务实践与内环工程实践，本书选取中心的 TDD、重构、简单设计、结对编程，加上最左的验收测试，共五条作为软件匠艺的基础纪律。</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TDD 是枢纽纪律："没有它，其他纪律要么不可能，要么无能为力"；重构依赖 TDD 保证行为不变才敢动手；简单设计是重构的终极目标；协作编程凝聚团队；验收测试把团队锚定在业务价值上。</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1274552" cy="731520"/>
          </a:xfrm>
          <a:prstGeom prst="rect">
            <a:avLst/>
          </a:prstGeom>
          <a:noFill/>
          <a:ln/>
        </p:spPr>
        <p:txBody>
          <a:bodyPr wrap="square" lIns="0" tIns="0" rIns="0" bIns="0" rtlCol="0" anchor="ctr"/>
          <a:lstStyle/>
          <a:p>
            <a:pPr marL="0" indent="0" algn="l">
              <a:buNone/>
            </a:pPr>
            <a:r>
              <a:rPr lang="en-US" sz="3200" b="1" dirty="0">
                <a:solidFill>
                  <a:srgbClr val="4ACBD6"/>
                </a:solidFill>
                <a:latin typeface="Microsoft YaHei" pitchFamily="34" charset="0"/>
                <a:ea typeface="Microsoft YaHei" pitchFamily="34" charset="-122"/>
                <a:cs typeface="Microsoft YaHei" pitchFamily="34" charset="-120"/>
              </a:rPr>
              <a:t>第2章：测试驱动开发 TDD（1）</a:t>
            </a:r>
            <a:endParaRPr lang="en-US" sz="3200" dirty="0"/>
          </a:p>
        </p:txBody>
      </p:sp>
      <p:sp>
        <p:nvSpPr>
          <p:cNvPr id="3" name="Text 1"/>
          <p:cNvSpPr/>
          <p:nvPr/>
        </p:nvSpPr>
        <p:spPr>
          <a:xfrm>
            <a:off x="640080" y="1234440"/>
            <a:ext cx="10972800" cy="5212080"/>
          </a:xfrm>
          <a:prstGeom prst="rect">
            <a:avLst/>
          </a:prstGeom>
          <a:noFill/>
          <a:ln/>
        </p:spPr>
        <p:txBody>
          <a:bodyPr wrap="square" lIns="0" tIns="0" rIns="0" bIns="0" rtlCol="0" anchor="t"/>
          <a:lstStyle/>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TDD 就是复式记账：会计与软件是同一种"法师之术"——产物都是令外行困惑的复杂文档，任一符号出错都会带来可怕后果。复式记账让每笔交易都被说两遍、两本互补的账必须保持平衡；TDD 让每件事都被测试和生产代码各说一遍，保持平衡的方式就是让测试持续通过。</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第一法则：在你写出一个因缺少这段生产代码而失败的测试之前，不要写任何生产代码。第二法则：测试只写到足以失败或编译不过为止，然后写生产代码来消除失败。</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第三法则：生产代码只写到能解决当前失败测试为止，测试一通过就回去写更多测试。三大法则把人锁进一个只有几秒钟长的循环——你再也写不出一个完整的 if 或 while，永远在测试代码与生产代码之间来回切换上下文。</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三大法则本身是"完全任意的"——同样的本质可由截然不同的手段达成（如 Kent Beck 的 TCR：测试通过就提交，失败就还原）。法则只是基础，真正难的是支撑法则所需的技艺与知识。</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TDD 的本质有四条：建一套通过即可部署的测试套件；生产代码要解耦到足以测试、足以重构；建立极短周期的反馈回路；测试与生产代码之间也要充分解耦，改一处不必改两处。</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1274552" cy="731520"/>
          </a:xfrm>
          <a:prstGeom prst="rect">
            <a:avLst/>
          </a:prstGeom>
          <a:noFill/>
          <a:ln/>
        </p:spPr>
        <p:txBody>
          <a:bodyPr wrap="square" lIns="0" tIns="0" rIns="0" bIns="0" rtlCol="0" anchor="ctr"/>
          <a:lstStyle/>
          <a:p>
            <a:pPr marL="0" indent="0" algn="l">
              <a:buNone/>
            </a:pPr>
            <a:r>
              <a:rPr lang="en-US" sz="3200" b="1" dirty="0">
                <a:solidFill>
                  <a:srgbClr val="4ACBD6"/>
                </a:solidFill>
                <a:latin typeface="Microsoft YaHei" pitchFamily="34" charset="0"/>
                <a:ea typeface="Microsoft YaHei" pitchFamily="34" charset="-122"/>
                <a:cs typeface="Microsoft YaHei" pitchFamily="34" charset="-120"/>
              </a:rPr>
              <a:t>第2章：测试驱动开发 TDD（2）</a:t>
            </a:r>
            <a:endParaRPr lang="en-US" sz="3200" dirty="0"/>
          </a:p>
        </p:txBody>
      </p:sp>
      <p:sp>
        <p:nvSpPr>
          <p:cNvPr id="3" name="Text 1"/>
          <p:cNvSpPr/>
          <p:nvPr/>
        </p:nvSpPr>
        <p:spPr>
          <a:xfrm>
            <a:off x="640080" y="1234440"/>
            <a:ext cx="10972800" cy="5212080"/>
          </a:xfrm>
          <a:prstGeom prst="rect">
            <a:avLst/>
          </a:prstGeom>
          <a:noFill/>
          <a:ln/>
        </p:spPr>
        <p:txBody>
          <a:bodyPr wrap="square" lIns="0" tIns="0" rIns="0" bIns="0" rtlCol="0" anchor="t"/>
          <a:lstStyle/>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忘掉调试功夫：三大法则不能保证完全消灭调试，但调试的频率与时长都会急剧下降——随便挑任何人、任何时刻，他写的东西都在约一分钟前全部通过过测试。"你对调试器越得心应手，就越说明你做事的方式有问题。"</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测试即文档：集成第三方包时，你真正先翻的是文档最后那个代码示例——遵循三大法则，你就是在为整个系统书写代码示例。测试用你最熟悉的语言写成、毫无歧义、形式化到可以执行、永远不会与系统失同步，"作为文档，它们几近完美"。</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测试套件的窟窿：事后补写的测试每个必然通过；遇到难写的测试就甩手走人，留下一个窟窿。判据："测试套件中窟窿的数量，可以用测试通过时程序员笑声的音量和持续时间来度量。"好的测试套件通过时能支撑一个决策：部署。</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恐惧与勇气：软件的存在本就是为了易改，开发者却"怕改动怕到死"——</a:t>
            </a:r>
            <a:r>
              <a:rPr lang="en-US" sz="1800" dirty="0" err="1">
                <a:solidFill>
                  <a:srgbClr val="000000"/>
                </a:solidFill>
                <a:latin typeface="Microsoft YaHei" pitchFamily="34" charset="0"/>
                <a:ea typeface="Microsoft YaHei" pitchFamily="34" charset="-122"/>
                <a:cs typeface="Microsoft YaHei" pitchFamily="34" charset="-120"/>
              </a:rPr>
              <a:t>恐惧的代价是代码必然腐坏。假如你有一套信到"通过就敢部署"且几秒内跑完的测试，弄坏任何东西的当下就会立刻知道</a:t>
            </a:r>
            <a:r>
              <a:rPr lang="en-US" sz="1800" dirty="0">
                <a:solidFill>
                  <a:srgbClr val="000000"/>
                </a:solidFill>
                <a:latin typeface="Microsoft YaHei" pitchFamily="34" charset="0"/>
                <a:ea typeface="Microsoft YaHei" pitchFamily="34" charset="-122"/>
                <a:cs typeface="Microsoft YaHei" pitchFamily="34" charset="-120"/>
              </a:rPr>
              <a:t>。</a:t>
            </a:r>
          </a:p>
          <a:p>
            <a:pPr marL="342900" indent="-342900" algn="l">
              <a:spcAft>
                <a:spcPts val="1000"/>
              </a:spcAft>
              <a:buSzPct val="100000"/>
              <a:buChar char="•"/>
            </a:pPr>
            <a:r>
              <a:rPr lang="en-US" sz="1800" dirty="0" err="1">
                <a:solidFill>
                  <a:srgbClr val="000000"/>
                </a:solidFill>
                <a:latin typeface="Microsoft YaHei" pitchFamily="34" charset="0"/>
                <a:ea typeface="Microsoft YaHei" pitchFamily="34" charset="-122"/>
                <a:cs typeface="Microsoft YaHei" pitchFamily="34" charset="-120"/>
              </a:rPr>
              <a:t>童子军法则与第四法则：签入的代码要比签出时更干净</a:t>
            </a:r>
            <a:r>
              <a:rPr lang="en-US" sz="1800" dirty="0">
                <a:solidFill>
                  <a:srgbClr val="000000"/>
                </a:solidFill>
                <a:latin typeface="Microsoft YaHei" pitchFamily="34" charset="0"/>
                <a:ea typeface="Microsoft YaHei" pitchFamily="34" charset="-122"/>
                <a:cs typeface="Microsoft YaHei" pitchFamily="34" charset="-120"/>
              </a:rPr>
              <a:t>——这才是练 TDD 的理由。只转"红→绿"循环会让测试与生产代码迅速退化，人不擅长同时做好两件事；"先让它工作，然后让它正确"，新增第四法则：红→绿→重构——重构是持续性活动，不改变行为，从不上计划、从不开会审批。</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1274552" cy="731520"/>
          </a:xfrm>
          <a:prstGeom prst="rect">
            <a:avLst/>
          </a:prstGeom>
          <a:noFill/>
          <a:ln/>
        </p:spPr>
        <p:txBody>
          <a:bodyPr wrap="square" lIns="0" tIns="0" rIns="0" bIns="0" rtlCol="0" anchor="ctr"/>
          <a:lstStyle/>
          <a:p>
            <a:pPr marL="0" indent="0" algn="l">
              <a:buNone/>
            </a:pPr>
            <a:r>
              <a:rPr lang="en-US" sz="3200" b="1" dirty="0">
                <a:solidFill>
                  <a:srgbClr val="4ACBD6"/>
                </a:solidFill>
                <a:latin typeface="Microsoft YaHei" pitchFamily="34" charset="0"/>
                <a:ea typeface="Microsoft YaHei" pitchFamily="34" charset="-122"/>
                <a:cs typeface="Microsoft YaHei" pitchFamily="34" charset="-120"/>
              </a:rPr>
              <a:t>第3章：高级 TDD Advanced TDD（1）</a:t>
            </a:r>
            <a:endParaRPr lang="en-US" sz="3200" dirty="0"/>
          </a:p>
        </p:txBody>
      </p:sp>
      <p:sp>
        <p:nvSpPr>
          <p:cNvPr id="3" name="Text 1"/>
          <p:cNvSpPr/>
          <p:nvPr/>
        </p:nvSpPr>
        <p:spPr>
          <a:xfrm>
            <a:off x="640080" y="1234440"/>
            <a:ext cx="10972800" cy="5212080"/>
          </a:xfrm>
          <a:prstGeom prst="rect">
            <a:avLst/>
          </a:prstGeom>
          <a:noFill/>
          <a:ln/>
        </p:spPr>
        <p:txBody>
          <a:bodyPr wrap="square" lIns="0" tIns="0" rIns="0" bIns="0" rtlCol="0" anchor="t"/>
          <a:lstStyle/>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TDD 是增量推导算法的过程：从"退化失败测试"这一基本公设出发，像做数学证明一样一次一步构建解——测试越来越具体、约束越来越强，生产代码越来越通用，直到想不出能让它失败的测试为止。算法是"小决策的累积"，而非预先设计。</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讽刺性结论：这样一步步推导出来的往往是冒泡排序——"最糟糕的排序算法之一"。所以，TDD 或许是增量推导烂算法的一把好手。推导路径上存在"岔口"：同一个"两个元素逆序"的测试，就地比较交换会导向冒泡排序，比较后创建新列表则导向快速排序——快排 100 万个随机整数只要 1.5 秒，冒泡排序要大约六个月。</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规则 7：在测试下一个更复杂的情形之前，先穷尽当前更简单的情形——中途跳过三元素列表的剩余排列去测四元素，必然导致返工。</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规则 8（卡住时怎么办）：如果必须实现太多代码才能让当前测试通过，就删掉它，写一个更容易通过的更简单测试。以"单词折行"问题为例：退回空串、单字符、双字符等退化情形逐层推进，期间意外收获递归解法。</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规则 9：遵循一个有意的、增量的、覆盖整个测试空间的模式来写测试（如 "x"、"xx"、"xxx" 配合宽度 1..n 的网格化探索），而不是随手挑输入。</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1274552" cy="731520"/>
          </a:xfrm>
          <a:prstGeom prst="rect">
            <a:avLst/>
          </a:prstGeom>
          <a:noFill/>
          <a:ln/>
        </p:spPr>
        <p:txBody>
          <a:bodyPr wrap="square" lIns="0" tIns="0" rIns="0" bIns="0" rtlCol="0" anchor="ctr"/>
          <a:lstStyle/>
          <a:p>
            <a:pPr marL="0" indent="0" algn="l">
              <a:buNone/>
            </a:pPr>
            <a:r>
              <a:rPr lang="en-US" sz="3200" b="1" dirty="0">
                <a:solidFill>
                  <a:srgbClr val="4ACBD6"/>
                </a:solidFill>
                <a:latin typeface="Microsoft YaHei" pitchFamily="34" charset="0"/>
                <a:ea typeface="Microsoft YaHei" pitchFamily="34" charset="-122"/>
                <a:cs typeface="Microsoft YaHei" pitchFamily="34" charset="-120"/>
              </a:rPr>
              <a:t>第3章：高级 TDD Advanced TDD（2）</a:t>
            </a:r>
            <a:endParaRPr lang="en-US" sz="3200" dirty="0"/>
          </a:p>
        </p:txBody>
      </p:sp>
      <p:sp>
        <p:nvSpPr>
          <p:cNvPr id="3" name="Text 1"/>
          <p:cNvSpPr/>
          <p:nvPr/>
        </p:nvSpPr>
        <p:spPr>
          <a:xfrm>
            <a:off x="640080" y="1234440"/>
            <a:ext cx="10972800" cy="5212080"/>
          </a:xfrm>
          <a:prstGeom prst="rect">
            <a:avLst/>
          </a:prstGeom>
          <a:noFill/>
          <a:ln/>
        </p:spPr>
        <p:txBody>
          <a:bodyPr wrap="square" lIns="0" tIns="0" rIns="0" bIns="0" rtlCol="0" anchor="t"/>
          <a:lstStyle/>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AAA 模式：Bill Wake 提出的测试通用三段式——Arrange（准备数据、把系统置入可测状态）、Act（调用被测目标）、Assert（断言系统进入期望的新状态）。作者练习 TDD 二十五年半以来从未见过不符合该模式的测试。</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BDD 登场：2003 年 Dan North 等人用另一套词汇描述同一模式——Given-When-Then，这成为行为驱动开发的起点。GWT 与 AAA 严格同义；后来 BDD 从"更好的测试写法"走向"系统规格说明"——即使 GWT 语句永不执行，作为行为规约依然宝贵。</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有限状态机的洞察：软件的"当前状态+事件→下一状态"与 GWT/AAA 三元组同构——你写的每一个测试，都是你所构建系统的有限状态机的一个转换。推论：先把所有期望的转换写成测试，再写实现这些转换的生产代码。</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测试替身五兄弟（Gerard Meszaros 确立的正式词汇）：Dummy（什么都不做，规则 10：测试不需要的东西不要放进来）⊂ Stub（返回测试特定值驱动路径，规则 11：不要用生产数据）⊂ Spy（额外记录被调用次数与参数）⊂ Mock（内置期望并自行判定成败），Fake 独立自成一类——是实现了初步业务规则的模拟器。</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作者的态度：不喜欢 Mock——"测试应当对自己断言什么非常直白，不应把断言委托给某个更深层的机制"；也很少写 Fake，因为不信任它们不随应用膨胀。</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1274552" cy="731520"/>
          </a:xfrm>
          <a:prstGeom prst="rect">
            <a:avLst/>
          </a:prstGeom>
          <a:noFill/>
          <a:ln/>
        </p:spPr>
        <p:txBody>
          <a:bodyPr wrap="square" lIns="0" tIns="0" rIns="0" bIns="0" rtlCol="0" anchor="ctr"/>
          <a:lstStyle/>
          <a:p>
            <a:pPr marL="0" indent="0" algn="l">
              <a:buNone/>
            </a:pPr>
            <a:r>
              <a:rPr lang="en-US" sz="3200" b="1" dirty="0">
                <a:solidFill>
                  <a:srgbClr val="4ACBD6"/>
                </a:solidFill>
                <a:latin typeface="Microsoft YaHei" pitchFamily="34" charset="0"/>
                <a:ea typeface="Microsoft YaHei" pitchFamily="34" charset="-122"/>
                <a:cs typeface="Microsoft YaHei" pitchFamily="34" charset="-120"/>
              </a:rPr>
              <a:t>第3章：高级 TDD Advanced TDD（3）</a:t>
            </a:r>
            <a:endParaRPr lang="en-US" sz="3200" dirty="0"/>
          </a:p>
        </p:txBody>
      </p:sp>
      <p:sp>
        <p:nvSpPr>
          <p:cNvPr id="3" name="Text 1"/>
          <p:cNvSpPr/>
          <p:nvPr/>
        </p:nvSpPr>
        <p:spPr>
          <a:xfrm>
            <a:off x="640080" y="1234440"/>
            <a:ext cx="10972800" cy="5212080"/>
          </a:xfrm>
          <a:prstGeom prst="rect">
            <a:avLst/>
          </a:prstGeom>
          <a:noFill/>
          <a:ln/>
        </p:spPr>
        <p:txBody>
          <a:bodyPr wrap="square" lIns="0" tIns="0" rIns="0" bIns="0" rtlCol="0" anchor="t"/>
          <a:lstStyle/>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TDD 不确定性原理：用正弦函数做思想实验——对值的测试无论写多少，都无法穷举 64 位 double 的近 2×10^19 个取值；用 Spy 验证算法内部结构（泰勒级数各项的符号、幂次、阶乘）能获得确定性，但把算法换成 CORDIC 时 Spy 测试会全部崩碎，而值测试原样通过。</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原理的正式表述："你对确定性的要求越高，测试就越不灵活；你对测试灵活性的要求越高，确定性就越低。"——这是伦敦派与芝加哥派分歧的总根源，也划定了测试对系统所能提供的信心上限。</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伦敦派（Freeman 与 Pryce）：确定性优先，大量使用 mock 和 spy，关注"结果如何获得"胜于结果本身，采用 outside-in 设计——从用户界面出发，一次一个用例逐边界向内推进。</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芝加哥派（ThoughtWorks 传统，旧称底特律派）：灵活性优先，关注结果胜于交互与算法，采用 inside-out 设计——先写业务规则，以"更宽的条纹"逐层向外实现 UI 与数据库，沿途寻找模式与抽象。</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Synthesis 融合：这不是战争，甚至算不上真正的分歧。作者的策略——跨越架构边界的测试用 spy 验证组件间协作（此时是伦敦人），边界之内用状态和性质测试把脆弱性降到最低（此时是芝加哥人）；"我们常常因为测试的要求而修改组件边界。"</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1274552" cy="731520"/>
          </a:xfrm>
          <a:prstGeom prst="rect">
            <a:avLst/>
          </a:prstGeom>
          <a:noFill/>
          <a:ln/>
        </p:spPr>
        <p:txBody>
          <a:bodyPr wrap="square" lIns="0" tIns="0" rIns="0" bIns="0" rtlCol="0" anchor="ctr"/>
          <a:lstStyle/>
          <a:p>
            <a:pPr marL="0" indent="0" algn="l">
              <a:buNone/>
            </a:pPr>
            <a:r>
              <a:rPr lang="en-US" sz="3200" b="1" dirty="0">
                <a:solidFill>
                  <a:srgbClr val="4ACBD6"/>
                </a:solidFill>
                <a:latin typeface="Microsoft YaHei" pitchFamily="34" charset="0"/>
                <a:ea typeface="Microsoft YaHei" pitchFamily="34" charset="-122"/>
                <a:cs typeface="Microsoft YaHei" pitchFamily="34" charset="-120"/>
              </a:rPr>
              <a:t>第4章：测试设计 Test Design（1）</a:t>
            </a:r>
            <a:endParaRPr lang="en-US" sz="3200" dirty="0"/>
          </a:p>
        </p:txBody>
      </p:sp>
      <p:sp>
        <p:nvSpPr>
          <p:cNvPr id="3" name="Text 1"/>
          <p:cNvSpPr/>
          <p:nvPr/>
        </p:nvSpPr>
        <p:spPr>
          <a:xfrm>
            <a:off x="640080" y="1234440"/>
            <a:ext cx="10972800" cy="5212080"/>
          </a:xfrm>
          <a:prstGeom prst="rect">
            <a:avLst/>
          </a:prstGeom>
          <a:noFill/>
          <a:ln/>
        </p:spPr>
        <p:txBody>
          <a:bodyPr wrap="square" lIns="0" tIns="0" rIns="0" bIns="0" rtlCol="0" anchor="t"/>
          <a:lstStyle/>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数据库测试第一法则："不要测试数据库"——假设它能工作，真正要测的是发给数据库的命令是否正确成形；第二法则是用 Gateway 接口把 SQL/ORM 全部隔离在架构边界之下，边界之上连数据库 schema 都不应该知道。测试时用最小测试库加"备份-还原"保证数据确定性。</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GUI 测试三法则：一、不要测 GUI；二、测 GUI 以外的一切；三、GUI 比你想象的小得多。GUI 只是"把命令发给真正画像素的引擎"的那一小段软件，设计者的工作是让这段代码尽可能小。</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Presenter 与 View Model：Presenter 负责全部格式化工作（日期、货币、置灰状态、字体颜色等），产出由纯字符串和标志位构成的 View Model，GUI 只负责"搬运"。输入侧对称地用 Controller 加 EventHandler 接口加 RequestModel，把 GUI 事件翻译成纯数据结构。</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作者明确不建议 GUI 自动化测试工具：慢、脆弱，且 GUI 是高度易变的模块，为昙花一现的界面写测试纯属浪费。</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测试模式三件套：Test-Specific Subclass（测试专用子类，覆写危险或昂贵方法）、Self-Shunt（测试类自己充当该子类兼作 spy）、Humble Object（把不可测的边界代码"羞辱"得简单到不值得测试，如自动驾驶的转向 Presenter）。</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1274552" cy="731520"/>
          </a:xfrm>
          <a:prstGeom prst="rect">
            <a:avLst/>
          </a:prstGeom>
          <a:noFill/>
          <a:ln/>
        </p:spPr>
        <p:txBody>
          <a:bodyPr wrap="square" lIns="0" tIns="0" rIns="0" bIns="0" rtlCol="0" anchor="ctr"/>
          <a:lstStyle/>
          <a:p>
            <a:pPr marL="0" indent="0" algn="l">
              <a:buNone/>
            </a:pPr>
            <a:r>
              <a:rPr lang="en-US" sz="3200" b="1" dirty="0">
                <a:solidFill>
                  <a:srgbClr val="4ACBD6"/>
                </a:solidFill>
                <a:latin typeface="Microsoft YaHei" pitchFamily="34" charset="0"/>
                <a:ea typeface="Microsoft YaHei" pitchFamily="34" charset="-122"/>
                <a:cs typeface="Microsoft YaHei" pitchFamily="34" charset="-120"/>
              </a:rPr>
              <a:t>第4章：测试设计 Test Design（2）</a:t>
            </a:r>
            <a:endParaRPr lang="en-US" sz="3200" dirty="0"/>
          </a:p>
        </p:txBody>
      </p:sp>
      <p:sp>
        <p:nvSpPr>
          <p:cNvPr id="3" name="Text 1"/>
          <p:cNvSpPr/>
          <p:nvPr/>
        </p:nvSpPr>
        <p:spPr>
          <a:xfrm>
            <a:off x="640080" y="1234440"/>
            <a:ext cx="10972800" cy="5212080"/>
          </a:xfrm>
          <a:prstGeom prst="rect">
            <a:avLst/>
          </a:prstGeom>
          <a:noFill/>
          <a:ln/>
        </p:spPr>
        <p:txBody>
          <a:bodyPr wrap="square" lIns="0" tIns="0" rIns="0" bIns="0" rtlCol="0" anchor="t"/>
          <a:lstStyle/>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脆弱测试问题：新手 TDD 最常见的挫败是生产代码小改动引发大量测试连锁失败，许多人在头几个月因此放弃 TDD。作者的定性："小改动弄坏许多东西"正是糟糕设计的定义——适用于生产代码的全部设计法则同样适用于测试代码。</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一对一对应问题：新手常被教导"每个生产类 X 配一个 XTest"，这造成测试套件与生产代码之间强大的结构耦合。规则 12：将测试的结构与生产代码的结构解耦——执行代码不等于强耦合，测试只依赖门面接口，背后的实现家族对测试不可见。</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Video Store 示例的教训：从需求一路重构到 RentalCalculator 的最终结构中，只有 RentalCalculatorTest 和 VideoRegistry，没有 MovieTest、RentalTest——Movie、Rental、两个子类全部由测试间接覆盖。一对一对应被彻底打破，正确性由通过的测试间接保证。</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特异性 vs 通用性：规则 13——测试越具体，代码越通用。测试套件演化成"约束与规约的线性列表"，生产代码演化成"围绕底层抽象组织的丰富逻辑家族"，两者形态迥异、朝相反方向进化，这本身就是进一步解耦。</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1274552" cy="731520"/>
          </a:xfrm>
          <a:prstGeom prst="rect">
            <a:avLst/>
          </a:prstGeom>
          <a:noFill/>
          <a:ln/>
        </p:spPr>
        <p:txBody>
          <a:bodyPr wrap="square" lIns="0" tIns="0" rIns="0" bIns="0" rtlCol="0" anchor="ctr"/>
          <a:lstStyle/>
          <a:p>
            <a:pPr marL="0" indent="0" algn="l">
              <a:buNone/>
            </a:pPr>
            <a:r>
              <a:rPr lang="en-US" sz="3200" b="1" dirty="0">
                <a:solidFill>
                  <a:srgbClr val="4ACBD6"/>
                </a:solidFill>
                <a:latin typeface="Microsoft YaHei" pitchFamily="34" charset="0"/>
                <a:ea typeface="Microsoft YaHei" pitchFamily="34" charset="-122"/>
                <a:cs typeface="Microsoft YaHei" pitchFamily="34" charset="-120"/>
              </a:rPr>
              <a:t>第4章：测试设计 Test Design（3）</a:t>
            </a:r>
            <a:endParaRPr lang="en-US" sz="3200" dirty="0"/>
          </a:p>
        </p:txBody>
      </p:sp>
      <p:sp>
        <p:nvSpPr>
          <p:cNvPr id="3" name="Text 1"/>
          <p:cNvSpPr/>
          <p:nvPr/>
        </p:nvSpPr>
        <p:spPr>
          <a:xfrm>
            <a:off x="640080" y="1234440"/>
            <a:ext cx="10972800" cy="5212080"/>
          </a:xfrm>
          <a:prstGeom prst="rect">
            <a:avLst/>
          </a:prstGeom>
          <a:noFill/>
          <a:ln/>
        </p:spPr>
        <p:txBody>
          <a:bodyPr wrap="square" lIns="0" tIns="0" rIns="0" bIns="0" rtlCol="0" anchor="t"/>
          <a:lstStyle/>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TDD 循环的精确刻画：Red 步是增量式的（只加不断改），Green 步是转换式的（小步改变行为），重构步是恢复式的（保持行为不变）。转换就是"既改变行为又泛化方案的小改动"，每次转换都把代码从具体推向更通用。</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转换优先级列表（从高到低）：空集→Nil（返回退化值让测试失败）→Nil→Constant（返回常量）→Constant→Variable（常量变变量）→Unconditional→Selection（加入 if）→Value→List（单值变容器）→Selection→Iteration（if 变 while）→Statement→Recursion（语句变递归）→Value→Mutated Value（修改变量累积结果）。</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方法论提示：如果你 tempted 用两个以上转换的组合来过测试，说明你漏了一个测试——回头找出一个仅靠单个转换即可通过的测试；遇到岔路优先选列表中更高的转换。规则 14：如果某次转换导致次优解，换一种转换试试（排序 kata 中 Value→Mutated Value 导向冒泡排序，Unconditional→Selection 则得到快速排序）。</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Fibonacci 示例的警示：用 Statement→Recursion 可以非常优雅地一次通过（fib(n-1)+fib(n-2)），但 fib(40) 耗时 9 秒；换 Selection→Iteration 走尾递归路线，fib(100) 仅 10 毫秒。过早"直奔金牌"是有代价的。</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作者坦承该优先级只是一个 premise（前提）而非定理，但按此顺序选转换大概率得到更好的实现，且会自然导向函数式编程风格。</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1274552" cy="731520"/>
          </a:xfrm>
          <a:prstGeom prst="rect">
            <a:avLst/>
          </a:prstGeom>
          <a:noFill/>
          <a:ln/>
        </p:spPr>
        <p:txBody>
          <a:bodyPr wrap="square" lIns="0" tIns="0" rIns="0" bIns="0" rtlCol="0" anchor="ctr"/>
          <a:lstStyle/>
          <a:p>
            <a:pPr marL="0" indent="0" algn="l">
              <a:buNone/>
            </a:pPr>
            <a:r>
              <a:rPr lang="en-US" sz="3200" b="1" dirty="0">
                <a:solidFill>
                  <a:srgbClr val="4ACBD6"/>
                </a:solidFill>
                <a:latin typeface="Microsoft YaHei" pitchFamily="34" charset="0"/>
                <a:ea typeface="Microsoft YaHei" pitchFamily="34" charset="-122"/>
                <a:cs typeface="Microsoft YaHei" pitchFamily="34" charset="-120"/>
              </a:rPr>
              <a:t>第5章：重构 Refactoring（1）</a:t>
            </a:r>
            <a:endParaRPr lang="en-US" sz="3200" dirty="0"/>
          </a:p>
        </p:txBody>
      </p:sp>
      <p:sp>
        <p:nvSpPr>
          <p:cNvPr id="3" name="Text 1"/>
          <p:cNvSpPr/>
          <p:nvPr/>
        </p:nvSpPr>
        <p:spPr>
          <a:xfrm>
            <a:off x="640080" y="1234440"/>
            <a:ext cx="10972800" cy="5212080"/>
          </a:xfrm>
          <a:prstGeom prst="rect">
            <a:avLst/>
          </a:prstGeom>
          <a:noFill/>
          <a:ln/>
        </p:spPr>
        <p:txBody>
          <a:bodyPr wrap="square" lIns="0" tIns="0" rIns="0" bIns="0" rtlCol="0" anchor="t"/>
          <a:lstStyle/>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重构的严格定义："重构是一连串小改动，它们改善软件的结构而不改变其行为——其证明方式就是序列中每一次改动后都通过一套全面的测试。"两个关键点：行为不变由全面测试证明；每次改动足够小——作者的标准是"小到我不必动用调试器"，由此引出规则 15：避免使用调试器。</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Fowler 的名言："任何傻瓜都能写出计算机能懂的代码；好的程序员写出人能懂的代码。"1999 年《Refactoring》是第一本把代码呈现为"可塑的"的书；重构就是 TDD"红→绿→重构"循环中的第三步，是持续进行的活动，不是计划排期的活动。</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基本工具箱四件套：Rename（趁项目年轻大胆改名，命名的探索会反过来塑造代码结构）、Extract Method（最重要的重构，奉行"提取到提不动为止"——每个函数只做一件事，函数名长度与作用域大小成反比）、Extract Variable（提取方法的现成助手，也用于创建解释性变量）、Extract Field（直接提取方法失败时的破局钥匙）。</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NewCasesReporter 实战的启示：一次失败的 Extract Method（IDE 要求传 4 个参数、返回不该返回的值）靠先提取三个字段破局，随后一鼓作气提取出一串方法并用 Extract Superclass 把计算与报告分离，满足单一职责原则——"这一切都源于最初那一次 Extract Field"。</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魔方比喻：重构像解魔方——掌握三四个"保持大多数块不动、按可预测方式改变特定位置"的操作，就能增量求解；但一步失误魔方就会散架，代码重构也是如此——而测试就是防止散架的保险。</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1274552" cy="731520"/>
          </a:xfrm>
          <a:prstGeom prst="rect">
            <a:avLst/>
          </a:prstGeom>
          <a:noFill/>
          <a:ln/>
        </p:spPr>
        <p:txBody>
          <a:bodyPr wrap="square" lIns="0" tIns="0" rIns="0" bIns="0" rtlCol="0" anchor="ctr"/>
          <a:lstStyle/>
          <a:p>
            <a:pPr marL="0" indent="0" algn="l">
              <a:buNone/>
            </a:pPr>
            <a:r>
              <a:rPr lang="en-US" sz="3200" b="1" dirty="0">
                <a:solidFill>
                  <a:srgbClr val="4ACBD6"/>
                </a:solidFill>
                <a:latin typeface="Microsoft YaHei" pitchFamily="34" charset="0"/>
                <a:ea typeface="Microsoft YaHei" pitchFamily="34" charset="-122"/>
                <a:cs typeface="Microsoft YaHei" pitchFamily="34" charset="-120"/>
              </a:rPr>
              <a:t>第5章：重构 Refactoring（2）</a:t>
            </a:r>
            <a:endParaRPr lang="en-US" sz="3200" dirty="0"/>
          </a:p>
        </p:txBody>
      </p:sp>
      <p:sp>
        <p:nvSpPr>
          <p:cNvPr id="3" name="Text 1"/>
          <p:cNvSpPr/>
          <p:nvPr/>
        </p:nvSpPr>
        <p:spPr>
          <a:xfrm>
            <a:off x="640080" y="1234440"/>
            <a:ext cx="10972800" cy="5212080"/>
          </a:xfrm>
          <a:prstGeom prst="rect">
            <a:avLst/>
          </a:prstGeom>
          <a:noFill/>
          <a:ln/>
        </p:spPr>
        <p:txBody>
          <a:bodyPr wrap="square" lIns="0" tIns="0" rIns="0" bIns="0" rtlCol="0" anchor="t"/>
          <a:lstStyle/>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安全第一纪律——测试："你需要一套能用命相托的测试套件。"没有测试，重构毫无意义——连 IDE 的自动重构都可能出错。</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测试要快：测试跑几小时甚至几分钟，重构就玩不转。作者的做法是把测试套件组织成能快速运行与当前重构部分相关的子集，把反馈压到亚秒级；全量套件约每小时跑一次兜底。</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打破深度一对一对应：为了让"相关子集"可运行，测试在模块/组件层面会镜像生产代码结构——在那个层面速度收益大于耦合成本；而在更细粒度层面则要刻意打破一一对应，以防脆弱测试。</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持续重构与无情重构：像做饭边做边洗盘子的习惯，随走随重构，几分钟就转一圈红绿重构循环，防止混乱堆积；Kent Beck 的口号——把代码当黏土，把自己当雕塑家。"对代码的恐惧是心智杀手、黑暗之路。"</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保持测试通过与给自己留退路：必须无情但也必须聪明——绝不让测试失败超过几分钟；大型结构变更先新建镜像结构、渐进迁移，系统始终可部署。开始一连串重构前先给代码库打 tag，走进死胡同时 git reset --hard 是朋友。结论："永远、永远不要请求许可才去重构。"</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1274552" cy="731520"/>
          </a:xfrm>
          <a:prstGeom prst="rect">
            <a:avLst/>
          </a:prstGeom>
          <a:noFill/>
          <a:ln/>
        </p:spPr>
        <p:txBody>
          <a:bodyPr wrap="square" lIns="0" tIns="0" rIns="0" bIns="0" rtlCol="0" anchor="ctr"/>
          <a:lstStyle/>
          <a:p>
            <a:pPr marL="0" indent="0" algn="l">
              <a:buNone/>
            </a:pPr>
            <a:r>
              <a:rPr lang="en-US" sz="3200" b="1" dirty="0">
                <a:solidFill>
                  <a:srgbClr val="4ACBD6"/>
                </a:solidFill>
                <a:latin typeface="Microsoft YaHei" pitchFamily="34" charset="0"/>
                <a:ea typeface="Microsoft YaHei" pitchFamily="34" charset="-122"/>
                <a:cs typeface="Microsoft YaHei" pitchFamily="34" charset="-120"/>
              </a:rPr>
              <a:t>第6章：简单设计 Simple Design（1）</a:t>
            </a:r>
            <a:endParaRPr lang="en-US" sz="3200" dirty="0"/>
          </a:p>
        </p:txBody>
      </p:sp>
      <p:sp>
        <p:nvSpPr>
          <p:cNvPr id="3" name="Text 1"/>
          <p:cNvSpPr/>
          <p:nvPr/>
        </p:nvSpPr>
        <p:spPr>
          <a:xfrm>
            <a:off x="640080" y="1234440"/>
            <a:ext cx="10972800" cy="5212080"/>
          </a:xfrm>
          <a:prstGeom prst="rect">
            <a:avLst/>
          </a:prstGeom>
          <a:noFill/>
          <a:ln/>
        </p:spPr>
        <p:txBody>
          <a:bodyPr wrap="square" lIns="0" tIns="0" rIns="0" bIns="0" rtlCol="0" anchor="t"/>
          <a:lstStyle/>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设计是圣杯，圣杯的真名是简单：最好的设计是"支撑全部所需特性、同时提供最大变更灵活性"的最简设计。但"简单不等于容易。简单意味着无纠缠，而解开纠缠是困难的"——最显著的纠缠是高层策略与低层细节的纠缠。</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实现手段是抽象与多态："抽象是对本质的放大、对无关的消除"；通过依赖反转让源码依赖从低层细节指向高层策略，高层对低层"无知"，改细节不影响策略。</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YAGNI（你不会需要它）：每当想"预埋这个钩子"时，先问自己 Beck 的原始问题——"要是你不需要它呢？"评估不留钩子的代价是否可承受。80、90 年代构建以小时计、测试靠手工，"未来防御"式预埋钩子成为最佳实践，造成普遍过度设计；算力爆发后天平翻转——"摩尔定律驱使我们建造日益复杂的系统，同时也使这些系统的设计得以简化。"</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覆盖率的历史答案：1963 年 Miller 与 Maloney 在 CACM 的论文就指出，对抗软件错误的唯一有效方法就是测试每一行代码——如今团队热衷于报 80%、90%，而六十年前的答案就摆在那里：100%。</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100% 是渐近目标："也许永远达不到，但这不能成为不每次提交都更靠近一点的借口。"作者亲历过数万行代码、覆盖率常年保持 90% 后半段的特大项目。核心机制："可测试的代码就是解耦的代码"——高覆盖强制每部分代码可被单独触及，测试因此既是行为测试，也是解耦测试。</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1274552" cy="731520"/>
          </a:xfrm>
          <a:prstGeom prst="rect">
            <a:avLst/>
          </a:prstGeom>
          <a:noFill/>
          <a:ln/>
        </p:spPr>
        <p:txBody>
          <a:bodyPr wrap="square" lIns="0" tIns="0" rIns="0" bIns="0" rtlCol="0" anchor="ctr"/>
          <a:lstStyle/>
          <a:p>
            <a:pPr marL="0" indent="0" algn="l">
              <a:buNone/>
            </a:pPr>
            <a:r>
              <a:rPr lang="en-US" sz="3200" b="1" dirty="0">
                <a:solidFill>
                  <a:srgbClr val="4ACBD6"/>
                </a:solidFill>
                <a:latin typeface="Microsoft YaHei" pitchFamily="34" charset="0"/>
                <a:ea typeface="Microsoft YaHei" pitchFamily="34" charset="-122"/>
                <a:cs typeface="Microsoft YaHei" pitchFamily="34" charset="-120"/>
              </a:rPr>
              <a:t>第6章：简单设计 Simple Design（2）</a:t>
            </a:r>
            <a:endParaRPr lang="en-US" sz="3200" dirty="0"/>
          </a:p>
        </p:txBody>
      </p:sp>
      <p:sp>
        <p:nvSpPr>
          <p:cNvPr id="3" name="Text 1"/>
          <p:cNvSpPr/>
          <p:nvPr/>
        </p:nvSpPr>
        <p:spPr>
          <a:xfrm>
            <a:off x="640080" y="1234440"/>
            <a:ext cx="10972800" cy="5212080"/>
          </a:xfrm>
          <a:prstGeom prst="rect">
            <a:avLst/>
          </a:prstGeom>
          <a:noFill/>
          <a:ln/>
        </p:spPr>
        <p:txBody>
          <a:bodyPr wrap="square" lIns="0" tIns="0" rIns="0" bIns="0" rtlCol="0" anchor="t"/>
          <a:lstStyle/>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简单设计四规则（本书表述）：一、被测试覆盖（100% 行覆盖与分支覆盖）；二、最大化表达力；三、最小化重复；四、最小化规模。四者有严格的操作顺序：测试是地基，表达力优先于消重，规模压缩永远最后做。</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最大化表达力：系统有表达力，当且仅当每行代码、每个函数、每个模块都处在明确定义的分区中，清晰展现自己的抽象层级。工资系统的 run() 方法只说"在发薪日给所有员工发薪"，需求中的龌龊细节只字未提——"把高层策略与低层细节分离，是让设计简单而富有表达力最根本的一环。"</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测试是问题的另一半：生产代码再有表达力也传达不了"它应在何种语境中被使用"——每个写得好的测试都是被测代码的示例用例；代码+测试合起来才表达"系统做什么、该怎么用"。这正是 Beck 原始第一条规则强调"系统（代码+测试）"的原因。</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最小化重复与偶然性重复：重复导致脆弱——相似代码段往往需要一起改。但并非所有重复都应消除：两段代码即便一模一样，若会因截然不同的原因变更，就属于"偶然性重复"——"偶然重复意图发散，真重复意图收敛"，应允许其存在，随需求演变自然消解。</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最小化规模：在测试全绿、表达力拉满、重复最小之后，靠"提取到提不动"把函数压小，产出大量名字又长又好的小函数。Beck 对作者说过：只要勤勉做到这四条，其他一切设计原则都会自动满足——作者将信将疑，但确信它们是通往 SOLID 等更高层原则的最短路径。</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1274552" cy="731520"/>
          </a:xfrm>
          <a:prstGeom prst="rect">
            <a:avLst/>
          </a:prstGeom>
          <a:noFill/>
          <a:ln/>
        </p:spPr>
        <p:txBody>
          <a:bodyPr wrap="square" lIns="0" tIns="0" rIns="0" bIns="0" rtlCol="0" anchor="ctr"/>
          <a:lstStyle/>
          <a:p>
            <a:pPr marL="0" indent="0" algn="l">
              <a:buNone/>
            </a:pPr>
            <a:r>
              <a:rPr lang="en-US" sz="3200" b="1" dirty="0">
                <a:solidFill>
                  <a:srgbClr val="4ACBD6"/>
                </a:solidFill>
                <a:latin typeface="Microsoft YaHei" pitchFamily="34" charset="0"/>
                <a:ea typeface="Microsoft YaHei" pitchFamily="34" charset="-122"/>
                <a:cs typeface="Microsoft YaHei" pitchFamily="34" charset="-120"/>
              </a:rPr>
              <a:t>第7章：协作编程 Collaborative Programming（1）</a:t>
            </a:r>
            <a:endParaRPr lang="en-US" sz="3200" dirty="0"/>
          </a:p>
        </p:txBody>
      </p:sp>
      <p:sp>
        <p:nvSpPr>
          <p:cNvPr id="3" name="Text 1"/>
          <p:cNvSpPr/>
          <p:nvPr/>
        </p:nvSpPr>
        <p:spPr>
          <a:xfrm>
            <a:off x="640080" y="1234440"/>
            <a:ext cx="10972800" cy="5212080"/>
          </a:xfrm>
          <a:prstGeom prst="rect">
            <a:avLst/>
          </a:prstGeom>
          <a:noFill/>
          <a:ln/>
        </p:spPr>
        <p:txBody>
          <a:bodyPr wrap="square" lIns="0" tIns="0" rIns="0" bIns="0" rtlCol="0" anchor="t"/>
          <a:lstStyle/>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协作的定义：两人或以上同时在同一份代码上工作，如今通常通过屏幕共享实现，双方都能看到并操作同一份代码。两人协作叫结对编程（pair programming），三人及以上叫 mob 编程（群体编程）。</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团队的标志是"补位"：队友倒下时其他人调整位置，让球继续向球场推进——实现方式是让整个系统的知识在团队中流动扩散，而不是集中在某个人脑中。</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时长与节奏：单次协作会话最短 10 分钟、最长 1-2 小时，短于或长于这个区间都弊大于利；作者最推荐番茄工作法，一次会话以 1-3 个"番茄"为宜；团队整体协作时长应在 20%-70% 之间，取决于成熟度与人员构成，不该 100% 强制。</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权威机制：会话中没有任何人是"负责人"，所有参与者都是代码的平等作者与平等贡献者；一旦发生争议，对该任务负责的程序员是最终裁决者。把协作会话同时看作现场编程演练加代码评审。</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效率质疑的反驳：结对会话内生产率仅下降约 15%，缺陷减少约 15%，每个特性所需代码量减少约 15%——后两项意味着结对产出的代码结构明显优于个人单独写出的代码。</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人员搭配：资深带新手是划算的交易——"资深者只在会话期间被拖慢，而新手被加速的是余生"；新手与新手结对需要资深者留意观察；不喜欢协作的"独狼"不应被强迫，也不应被贬低，这类人往往在 mob 里比在 pair 里更自在。</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1274552" cy="731520"/>
          </a:xfrm>
          <a:prstGeom prst="rect">
            <a:avLst/>
          </a:prstGeom>
          <a:noFill/>
          <a:ln/>
        </p:spPr>
        <p:txBody>
          <a:bodyPr wrap="square" lIns="0" tIns="0" rIns="0" bIns="0" rtlCol="0" anchor="ctr"/>
          <a:lstStyle/>
          <a:p>
            <a:pPr marL="0" indent="0" algn="l">
              <a:buNone/>
            </a:pPr>
            <a:r>
              <a:rPr lang="en-US" sz="3200" b="1" dirty="0">
                <a:solidFill>
                  <a:srgbClr val="4ACBD6"/>
                </a:solidFill>
                <a:latin typeface="Microsoft YaHei" pitchFamily="34" charset="0"/>
                <a:ea typeface="Microsoft YaHei" pitchFamily="34" charset="-122"/>
                <a:cs typeface="Microsoft YaHei" pitchFamily="34" charset="-120"/>
              </a:rPr>
              <a:t>第8章：验收测试 Acceptance Tests（1）</a:t>
            </a:r>
            <a:endParaRPr lang="en-US" sz="3200" dirty="0"/>
          </a:p>
        </p:txBody>
      </p:sp>
      <p:sp>
        <p:nvSpPr>
          <p:cNvPr id="3" name="Text 1"/>
          <p:cNvSpPr/>
          <p:nvPr/>
        </p:nvSpPr>
        <p:spPr>
          <a:xfrm>
            <a:off x="640080" y="1234440"/>
            <a:ext cx="10972800" cy="5212080"/>
          </a:xfrm>
          <a:prstGeom prst="rect">
            <a:avLst/>
          </a:prstGeom>
          <a:noFill/>
          <a:ln/>
        </p:spPr>
        <p:txBody>
          <a:bodyPr wrap="square" lIns="0" tIns="0" rIns="0" bIns="0" rtlCol="0" anchor="t"/>
          <a:lstStyle/>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程序员控制力最低的纪律：验收测试需要业务部门真正参与，遗憾的是许多企业至今不愿投入。组织通常让 QA 手工"祝福"上线，这暴露一个事实：系统真正的需求就是那些测试——需求文档写了什么并不重要，只有测试才算数。</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纪律的定义：所有需求都应被指定为测试，由 BA（业务分析师）和 QA 按特性逐个编写，在特性实现前不久完成。BA 专注快乐路径场景，QA 专注探索系统可能失败的无数方式。</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谁运行测试：QA 不负责运行，运行是程序员的任务——"没有哪个神智正常的程序员愿意一遍又一遍手工测试，程序员会把事情自动化。"因此自动化语言必须是 BA/QA 能懂甚至能自己写测试的语言。</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需求细节的表达：软件行为的规约永远是三要素的函数——输入数据、要执行的动作、期望的输出，即著名的 AAA 模式（Arrange/Act/Assert，归功于 Bill Wake）；最易上手的形式是简单表格或 Given-When-Then 格式。工具不是关键，FitNesse、Cucumber 皆可。</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测试即完成定义：一个特性的所有验收测试通过之前，它就不算完成；整套验收测试套件就是整个系统的需求文档；Sprint 结束时所有验收测试必须全部通过。</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持续构建：每次提交代码后几分钟内自动构建并运行全部单元测试与验收测试，结果全员可见。若某个此前通过的测试失败，团队必须立即响应、修复之后才能做其他改动——"允许失败在持续构建中堆积是自杀行为。"</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1274552" cy="731520"/>
          </a:xfrm>
          <a:prstGeom prst="rect">
            <a:avLst/>
          </a:prstGeom>
          <a:noFill/>
          <a:ln/>
        </p:spPr>
        <p:txBody>
          <a:bodyPr wrap="square" lIns="0" tIns="0" rIns="0" bIns="0" rtlCol="0" anchor="ctr"/>
          <a:lstStyle/>
          <a:p>
            <a:pPr marL="0" indent="0" algn="l">
              <a:buNone/>
            </a:pPr>
            <a:r>
              <a:rPr lang="en-US" sz="3200" b="1" dirty="0">
                <a:solidFill>
                  <a:srgbClr val="4ACBD6"/>
                </a:solidFill>
                <a:latin typeface="Microsoft YaHei" pitchFamily="34" charset="0"/>
                <a:ea typeface="Microsoft YaHei" pitchFamily="34" charset="-122"/>
                <a:cs typeface="Microsoft YaHei" pitchFamily="34" charset="-120"/>
              </a:rPr>
              <a:t>第1-8章总结</a:t>
            </a:r>
            <a:endParaRPr lang="en-US" sz="3200" dirty="0"/>
          </a:p>
        </p:txBody>
      </p:sp>
      <p:sp>
        <p:nvSpPr>
          <p:cNvPr id="3" name="Text 1"/>
          <p:cNvSpPr/>
          <p:nvPr/>
        </p:nvSpPr>
        <p:spPr>
          <a:xfrm>
            <a:off x="640080" y="1234440"/>
            <a:ext cx="10972800" cy="5212080"/>
          </a:xfrm>
          <a:prstGeom prst="rect">
            <a:avLst/>
          </a:prstGeom>
          <a:noFill/>
          <a:ln/>
        </p:spPr>
        <p:txBody>
          <a:bodyPr wrap="square" lIns="0" tIns="0" rIns="0" bIns="0" rtlCol="0" anchor="t"/>
          <a:lstStyle/>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一条主线：原理不等于技术。软件行业原理层（语言、硬件、算法）突飞猛进，而"如何写好代码"的手艺层严重欠账——纪律、标准、伦理就是补这门手艺的课，五条纪律（TDD、重构、简单设计、协作编程、验收测试）构成软件匠艺的基石。</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TDD 是枢纽纪律：三大法则驱动秒级小周期，目标是一套"敢以性命相托"的测试套件；测试设计三规则（结构解耦、测试越具体代码越通用、转换选优先级）让 TDD 从"会遵守"走向"会设计"。</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重构提供安全，简单设计指明方向：行为不变的重构让系统不再腐烂；YAGNI 与四条规则（通过测试、最大化表达、最小化重复、最小化体量）把代码推向简单。</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协作与验收把个人技艺放大为团队能力：结对与 mob 让知识在团队中流动（15% 的代价换更少缺陷、更少代码）；验收测试让"完成"成为可验证的硬标准，持续构建守护每一条已通过的测试。</a:t>
            </a:r>
            <a:endParaRPr lang="en-US" sz="1800" dirty="0"/>
          </a:p>
          <a:p>
            <a:pPr marL="342900" indent="-342900" algn="l">
              <a:spcAft>
                <a:spcPts val="1000"/>
              </a:spcAft>
              <a:buSzPct val="100000"/>
              <a:buChar char="•"/>
            </a:pPr>
            <a:r>
              <a:rPr lang="en-US" sz="1800" dirty="0">
                <a:solidFill>
                  <a:srgbClr val="000000"/>
                </a:solidFill>
                <a:latin typeface="Microsoft YaHei" pitchFamily="34" charset="0"/>
                <a:ea typeface="Microsoft YaHei" pitchFamily="34" charset="-122"/>
                <a:cs typeface="Microsoft YaHei" pitchFamily="34" charset="-120"/>
              </a:rPr>
              <a:t>实践建议：从一个 kata（如保龄球、质因数）开始练 TDD；把重构嵌入日常而不是留到"以后"；让 BA/QA 参与写验收测试；用番茄工作法试运行结对——纪律的价值只有练出来才能体会。</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TotalTime>
  <Words>2350</Words>
  <Application>Microsoft Office PowerPoint</Application>
  <PresentationFormat>宽屏</PresentationFormat>
  <Paragraphs>134</Paragraphs>
  <Slides>19</Slides>
  <Notes>19</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19</vt:i4>
      </vt:variant>
    </vt:vector>
  </HeadingPairs>
  <TitlesOfParts>
    <vt:vector size="22" baseType="lpstr">
      <vt:lpstr>Microsoft YaHei</vt:lpstr>
      <vt:lpstr>Arial</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1113054274@qq.com</cp:lastModifiedBy>
  <cp:revision>3</cp:revision>
  <dcterms:created xsi:type="dcterms:W3CDTF">2026-10-13T13:37:22Z</dcterms:created>
  <dcterms:modified xsi:type="dcterms:W3CDTF">2026-10-13T18:32:35Z</dcterms:modified>
</cp:coreProperties>
</file>