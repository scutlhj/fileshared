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74" r:id="rId4"/>
    <p:sldId id="289" r:id="rId5"/>
    <p:sldId id="290" r:id="rId6"/>
    <p:sldId id="273" r:id="rId7"/>
    <p:sldId id="292" r:id="rId8"/>
    <p:sldId id="281" r:id="rId9"/>
    <p:sldId id="287" r:id="rId10"/>
    <p:sldId id="288" r:id="rId11"/>
    <p:sldId id="282" r:id="rId12"/>
    <p:sldId id="293" r:id="rId13"/>
    <p:sldId id="294" r:id="rId14"/>
    <p:sldId id="295" r:id="rId15"/>
    <p:sldId id="296" r:id="rId16"/>
    <p:sldId id="297" r:id="rId17"/>
    <p:sldId id="298"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113054274@qq.com" initials="1" lastIdx="5" clrIdx="0">
    <p:extLst>
      <p:ext uri="{19B8F6BF-5375-455C-9EA6-DF929625EA0E}">
        <p15:presenceInfo xmlns:p15="http://schemas.microsoft.com/office/powerpoint/2012/main" userId="03292909b2ee059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ACB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15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EEB2F9-B744-1B12-FAB9-E9D1B30D0BE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36A1AD1-F657-4561-EE7A-B48CDFEDEF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CF5FC9C-5E7E-DF84-9353-D3977FAD1679}"/>
              </a:ext>
            </a:extLst>
          </p:cNvPr>
          <p:cNvSpPr>
            <a:spLocks noGrp="1"/>
          </p:cNvSpPr>
          <p:nvPr>
            <p:ph type="dt" sz="half" idx="10"/>
          </p:nvPr>
        </p:nvSpPr>
        <p:spPr/>
        <p:txBody>
          <a:bodyPr/>
          <a:lstStyle/>
          <a:p>
            <a:fld id="{8040210E-5E95-47B4-8381-15CFB96B7177}" type="datetimeFigureOut">
              <a:rPr lang="zh-CN" altLang="en-US" smtClean="0"/>
              <a:t>2026/6/16</a:t>
            </a:fld>
            <a:endParaRPr lang="zh-CN" altLang="en-US"/>
          </a:p>
        </p:txBody>
      </p:sp>
      <p:sp>
        <p:nvSpPr>
          <p:cNvPr id="5" name="页脚占位符 4">
            <a:extLst>
              <a:ext uri="{FF2B5EF4-FFF2-40B4-BE49-F238E27FC236}">
                <a16:creationId xmlns:a16="http://schemas.microsoft.com/office/drawing/2014/main" id="{6612500D-6D11-0C2B-A740-9486CB4B20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268227E-204C-3895-D6B0-FD293C9700A8}"/>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4094142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C605AA-2D58-7FE3-3D65-2F2C2D9940B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266398C-8F4B-94EE-C000-465E4EF9686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9ACF015-F3CE-103A-E80F-C5D5ED4C4BE0}"/>
              </a:ext>
            </a:extLst>
          </p:cNvPr>
          <p:cNvSpPr>
            <a:spLocks noGrp="1"/>
          </p:cNvSpPr>
          <p:nvPr>
            <p:ph type="dt" sz="half" idx="10"/>
          </p:nvPr>
        </p:nvSpPr>
        <p:spPr/>
        <p:txBody>
          <a:bodyPr/>
          <a:lstStyle/>
          <a:p>
            <a:fld id="{8040210E-5E95-47B4-8381-15CFB96B7177}" type="datetimeFigureOut">
              <a:rPr lang="zh-CN" altLang="en-US" smtClean="0"/>
              <a:t>2026/6/16</a:t>
            </a:fld>
            <a:endParaRPr lang="zh-CN" altLang="en-US"/>
          </a:p>
        </p:txBody>
      </p:sp>
      <p:sp>
        <p:nvSpPr>
          <p:cNvPr id="5" name="页脚占位符 4">
            <a:extLst>
              <a:ext uri="{FF2B5EF4-FFF2-40B4-BE49-F238E27FC236}">
                <a16:creationId xmlns:a16="http://schemas.microsoft.com/office/drawing/2014/main" id="{C8F3E700-2180-DC70-ED0D-6C59702333E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FF7126A-2DDF-8FDD-C25C-29193784EDF9}"/>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1670290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478C7B-3230-A3FB-129A-7E5A1FE2E23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091EFD5-6BA0-5862-5C24-506AAE9FB5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29835FB-64EC-E937-25F7-314DB5D67B1B}"/>
              </a:ext>
            </a:extLst>
          </p:cNvPr>
          <p:cNvSpPr>
            <a:spLocks noGrp="1"/>
          </p:cNvSpPr>
          <p:nvPr>
            <p:ph type="dt" sz="half" idx="10"/>
          </p:nvPr>
        </p:nvSpPr>
        <p:spPr/>
        <p:txBody>
          <a:bodyPr/>
          <a:lstStyle/>
          <a:p>
            <a:fld id="{8040210E-5E95-47B4-8381-15CFB96B7177}" type="datetimeFigureOut">
              <a:rPr lang="zh-CN" altLang="en-US" smtClean="0"/>
              <a:t>2026/6/16</a:t>
            </a:fld>
            <a:endParaRPr lang="zh-CN" altLang="en-US"/>
          </a:p>
        </p:txBody>
      </p:sp>
      <p:sp>
        <p:nvSpPr>
          <p:cNvPr id="5" name="页脚占位符 4">
            <a:extLst>
              <a:ext uri="{FF2B5EF4-FFF2-40B4-BE49-F238E27FC236}">
                <a16:creationId xmlns:a16="http://schemas.microsoft.com/office/drawing/2014/main" id="{19D7F05D-12FA-5591-8E4C-E646C84BD2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C6E7303-235F-6CF2-48FE-341251E54463}"/>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3357401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4AD54F-8FAF-F03E-62B1-ABCB4E1CAB8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E2C2CA3-A4C3-EC06-C6EA-2110E3A13BF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2275E03-600E-6FBA-449E-3D5685F04C3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2176CEB-B2AA-9AD2-62B0-8AD6EEC2BCFB}"/>
              </a:ext>
            </a:extLst>
          </p:cNvPr>
          <p:cNvSpPr>
            <a:spLocks noGrp="1"/>
          </p:cNvSpPr>
          <p:nvPr>
            <p:ph type="dt" sz="half" idx="10"/>
          </p:nvPr>
        </p:nvSpPr>
        <p:spPr/>
        <p:txBody>
          <a:bodyPr/>
          <a:lstStyle/>
          <a:p>
            <a:fld id="{8040210E-5E95-47B4-8381-15CFB96B7177}" type="datetimeFigureOut">
              <a:rPr lang="zh-CN" altLang="en-US" smtClean="0"/>
              <a:t>2026/6/16</a:t>
            </a:fld>
            <a:endParaRPr lang="zh-CN" altLang="en-US"/>
          </a:p>
        </p:txBody>
      </p:sp>
      <p:sp>
        <p:nvSpPr>
          <p:cNvPr id="6" name="页脚占位符 5">
            <a:extLst>
              <a:ext uri="{FF2B5EF4-FFF2-40B4-BE49-F238E27FC236}">
                <a16:creationId xmlns:a16="http://schemas.microsoft.com/office/drawing/2014/main" id="{1A94F1A6-7624-CBD6-5210-C6455EDBC0E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2BED4E0-7089-04AA-0A30-052EFDE9900F}"/>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3051759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E12170-C317-D0A0-6400-6700CFD69ED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661CD5-8069-3AD0-96F3-8B280A86A5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9AE6E42-1E03-E9A7-FB21-D4B663E1D67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4ACDE0B-32D8-6724-82C2-5BB3CD4126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814F550-0DBC-F07F-EC80-678BA912148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3D51014-26C0-C3B0-6AC4-50E57524EF69}"/>
              </a:ext>
            </a:extLst>
          </p:cNvPr>
          <p:cNvSpPr>
            <a:spLocks noGrp="1"/>
          </p:cNvSpPr>
          <p:nvPr>
            <p:ph type="dt" sz="half" idx="10"/>
          </p:nvPr>
        </p:nvSpPr>
        <p:spPr/>
        <p:txBody>
          <a:bodyPr/>
          <a:lstStyle/>
          <a:p>
            <a:fld id="{8040210E-5E95-47B4-8381-15CFB96B7177}" type="datetimeFigureOut">
              <a:rPr lang="zh-CN" altLang="en-US" smtClean="0"/>
              <a:t>2026/6/16</a:t>
            </a:fld>
            <a:endParaRPr lang="zh-CN" altLang="en-US"/>
          </a:p>
        </p:txBody>
      </p:sp>
      <p:sp>
        <p:nvSpPr>
          <p:cNvPr id="8" name="页脚占位符 7">
            <a:extLst>
              <a:ext uri="{FF2B5EF4-FFF2-40B4-BE49-F238E27FC236}">
                <a16:creationId xmlns:a16="http://schemas.microsoft.com/office/drawing/2014/main" id="{3C454C82-67A0-54FD-27A2-627970C7456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5D9C6A2-D0D0-3EED-6789-0303C6E6B7D2}"/>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1290771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A12F54-03BD-9DC6-B668-E4AE3EDCD5A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DDD6214-CC1F-F27F-8E53-3092091D2BF1}"/>
              </a:ext>
            </a:extLst>
          </p:cNvPr>
          <p:cNvSpPr>
            <a:spLocks noGrp="1"/>
          </p:cNvSpPr>
          <p:nvPr>
            <p:ph type="dt" sz="half" idx="10"/>
          </p:nvPr>
        </p:nvSpPr>
        <p:spPr/>
        <p:txBody>
          <a:bodyPr/>
          <a:lstStyle/>
          <a:p>
            <a:fld id="{8040210E-5E95-47B4-8381-15CFB96B7177}" type="datetimeFigureOut">
              <a:rPr lang="zh-CN" altLang="en-US" smtClean="0"/>
              <a:t>2026/6/16</a:t>
            </a:fld>
            <a:endParaRPr lang="zh-CN" altLang="en-US"/>
          </a:p>
        </p:txBody>
      </p:sp>
      <p:sp>
        <p:nvSpPr>
          <p:cNvPr id="4" name="页脚占位符 3">
            <a:extLst>
              <a:ext uri="{FF2B5EF4-FFF2-40B4-BE49-F238E27FC236}">
                <a16:creationId xmlns:a16="http://schemas.microsoft.com/office/drawing/2014/main" id="{8E2B2EB7-654D-0AA8-6EA4-591AADB78B7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72C064F-118A-16CD-E2BC-216C102A9BD7}"/>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271583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9D1F322-47B0-CE51-E36C-1C6A9AF8AC36}"/>
              </a:ext>
            </a:extLst>
          </p:cNvPr>
          <p:cNvSpPr>
            <a:spLocks noGrp="1"/>
          </p:cNvSpPr>
          <p:nvPr>
            <p:ph type="dt" sz="half" idx="10"/>
          </p:nvPr>
        </p:nvSpPr>
        <p:spPr/>
        <p:txBody>
          <a:bodyPr/>
          <a:lstStyle/>
          <a:p>
            <a:fld id="{8040210E-5E95-47B4-8381-15CFB96B7177}" type="datetimeFigureOut">
              <a:rPr lang="zh-CN" altLang="en-US" smtClean="0"/>
              <a:t>2026/6/16</a:t>
            </a:fld>
            <a:endParaRPr lang="zh-CN" altLang="en-US"/>
          </a:p>
        </p:txBody>
      </p:sp>
      <p:sp>
        <p:nvSpPr>
          <p:cNvPr id="3" name="页脚占位符 2">
            <a:extLst>
              <a:ext uri="{FF2B5EF4-FFF2-40B4-BE49-F238E27FC236}">
                <a16:creationId xmlns:a16="http://schemas.microsoft.com/office/drawing/2014/main" id="{BCAC2174-F708-A162-5F98-4A8A0015C66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4340894-D7ED-50C4-6205-5E6F08E39A8B}"/>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1993772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87F3D6-0393-18DF-8D98-89E885CE762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2BAA5F6-4533-8A27-ABA7-2F125F3025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7A17E01-9D5F-C3E9-0AA1-6509A03BED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03EC7C3-6DBF-AC3B-B0C1-BA6822BA8B38}"/>
              </a:ext>
            </a:extLst>
          </p:cNvPr>
          <p:cNvSpPr>
            <a:spLocks noGrp="1"/>
          </p:cNvSpPr>
          <p:nvPr>
            <p:ph type="dt" sz="half" idx="10"/>
          </p:nvPr>
        </p:nvSpPr>
        <p:spPr/>
        <p:txBody>
          <a:bodyPr/>
          <a:lstStyle/>
          <a:p>
            <a:fld id="{8040210E-5E95-47B4-8381-15CFB96B7177}" type="datetimeFigureOut">
              <a:rPr lang="zh-CN" altLang="en-US" smtClean="0"/>
              <a:t>2026/6/16</a:t>
            </a:fld>
            <a:endParaRPr lang="zh-CN" altLang="en-US"/>
          </a:p>
        </p:txBody>
      </p:sp>
      <p:sp>
        <p:nvSpPr>
          <p:cNvPr id="6" name="页脚占位符 5">
            <a:extLst>
              <a:ext uri="{FF2B5EF4-FFF2-40B4-BE49-F238E27FC236}">
                <a16:creationId xmlns:a16="http://schemas.microsoft.com/office/drawing/2014/main" id="{D78C716E-73D4-5BF3-CCCA-BFA1EACE5BE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9BEB5E9-F970-6B49-3544-6CDB8D2E7CE1}"/>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4228526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BDD62A-D7F1-DFFE-9E18-C8E33E53A16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22B9CA9-F04D-10D2-3180-4BC5F87D9F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F76FA08-82C6-59F5-C681-B70FCEC16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775771C-E53A-961D-5EC5-61237EDEBE4A}"/>
              </a:ext>
            </a:extLst>
          </p:cNvPr>
          <p:cNvSpPr>
            <a:spLocks noGrp="1"/>
          </p:cNvSpPr>
          <p:nvPr>
            <p:ph type="dt" sz="half" idx="10"/>
          </p:nvPr>
        </p:nvSpPr>
        <p:spPr/>
        <p:txBody>
          <a:bodyPr/>
          <a:lstStyle/>
          <a:p>
            <a:fld id="{8040210E-5E95-47B4-8381-15CFB96B7177}" type="datetimeFigureOut">
              <a:rPr lang="zh-CN" altLang="en-US" smtClean="0"/>
              <a:t>2026/6/16</a:t>
            </a:fld>
            <a:endParaRPr lang="zh-CN" altLang="en-US"/>
          </a:p>
        </p:txBody>
      </p:sp>
      <p:sp>
        <p:nvSpPr>
          <p:cNvPr id="6" name="页脚占位符 5">
            <a:extLst>
              <a:ext uri="{FF2B5EF4-FFF2-40B4-BE49-F238E27FC236}">
                <a16:creationId xmlns:a16="http://schemas.microsoft.com/office/drawing/2014/main" id="{C0674213-C045-C99A-7263-9E432CB6817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F16E85C-19DE-4611-DDBA-61E76C32F299}"/>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2533133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70524A-5B86-6991-E635-08BD28C778D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CFD2E25-6045-74A4-B062-5822036D86D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32737B2-DE05-A04C-639F-A721ADE00997}"/>
              </a:ext>
            </a:extLst>
          </p:cNvPr>
          <p:cNvSpPr>
            <a:spLocks noGrp="1"/>
          </p:cNvSpPr>
          <p:nvPr>
            <p:ph type="dt" sz="half" idx="10"/>
          </p:nvPr>
        </p:nvSpPr>
        <p:spPr/>
        <p:txBody>
          <a:bodyPr/>
          <a:lstStyle/>
          <a:p>
            <a:fld id="{8040210E-5E95-47B4-8381-15CFB96B7177}" type="datetimeFigureOut">
              <a:rPr lang="zh-CN" altLang="en-US" smtClean="0"/>
              <a:t>2026/6/16</a:t>
            </a:fld>
            <a:endParaRPr lang="zh-CN" altLang="en-US"/>
          </a:p>
        </p:txBody>
      </p:sp>
      <p:sp>
        <p:nvSpPr>
          <p:cNvPr id="5" name="页脚占位符 4">
            <a:extLst>
              <a:ext uri="{FF2B5EF4-FFF2-40B4-BE49-F238E27FC236}">
                <a16:creationId xmlns:a16="http://schemas.microsoft.com/office/drawing/2014/main" id="{F3CCA729-9188-0E5D-C9B6-BD19DAF0AC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7911A5-E567-5999-E769-3499E0241E63}"/>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3707426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E521097-30D1-7DB5-7FAE-47785DD2967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4B456D9-D01A-67BB-039F-899B46D15DA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24415B-8448-8CBB-51A8-CD54B7001ACF}"/>
              </a:ext>
            </a:extLst>
          </p:cNvPr>
          <p:cNvSpPr>
            <a:spLocks noGrp="1"/>
          </p:cNvSpPr>
          <p:nvPr>
            <p:ph type="dt" sz="half" idx="10"/>
          </p:nvPr>
        </p:nvSpPr>
        <p:spPr/>
        <p:txBody>
          <a:bodyPr/>
          <a:lstStyle/>
          <a:p>
            <a:fld id="{8040210E-5E95-47B4-8381-15CFB96B7177}" type="datetimeFigureOut">
              <a:rPr lang="zh-CN" altLang="en-US" smtClean="0"/>
              <a:t>2026/6/16</a:t>
            </a:fld>
            <a:endParaRPr lang="zh-CN" altLang="en-US"/>
          </a:p>
        </p:txBody>
      </p:sp>
      <p:sp>
        <p:nvSpPr>
          <p:cNvPr id="5" name="页脚占位符 4">
            <a:extLst>
              <a:ext uri="{FF2B5EF4-FFF2-40B4-BE49-F238E27FC236}">
                <a16:creationId xmlns:a16="http://schemas.microsoft.com/office/drawing/2014/main" id="{35B38E30-5ECF-16B2-3F10-D138260F24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3A5F3FF-A51C-D63E-3D36-5D58375414B9}"/>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2889226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4D1B41D-419B-AEB1-9F73-5A3AC07CED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EDB5F6C-E60A-28C3-0D5D-B71F61F039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3629E56-5E1D-7ED1-66A8-C588ED18E8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40210E-5E95-47B4-8381-15CFB96B7177}" type="datetimeFigureOut">
              <a:rPr lang="zh-CN" altLang="en-US" smtClean="0"/>
              <a:t>2026/6/16</a:t>
            </a:fld>
            <a:endParaRPr lang="zh-CN" altLang="en-US"/>
          </a:p>
        </p:txBody>
      </p:sp>
      <p:sp>
        <p:nvSpPr>
          <p:cNvPr id="5" name="页脚占位符 4">
            <a:extLst>
              <a:ext uri="{FF2B5EF4-FFF2-40B4-BE49-F238E27FC236}">
                <a16:creationId xmlns:a16="http://schemas.microsoft.com/office/drawing/2014/main" id="{1745B95E-A245-C7DC-E5DF-D93D8F2EBC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4A095E3-0D04-2C0B-CC11-B9E925EF50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24472023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182874-D099-EA2D-32CB-3BF7A1B79C30}"/>
              </a:ext>
            </a:extLst>
          </p:cNvPr>
          <p:cNvSpPr>
            <a:spLocks noGrp="1"/>
          </p:cNvSpPr>
          <p:nvPr>
            <p:ph type="ctrTitle"/>
          </p:nvPr>
        </p:nvSpPr>
        <p:spPr>
          <a:xfrm>
            <a:off x="993464" y="1214438"/>
            <a:ext cx="10205071" cy="2387600"/>
          </a:xfrm>
        </p:spPr>
        <p:txBody>
          <a:bodyPr>
            <a:normAutofit/>
          </a:bodyPr>
          <a:lstStyle/>
          <a:p>
            <a:r>
              <a:rPr lang="en-US" altLang="zh-CN" sz="4400" b="1" dirty="0"/>
              <a:t>《</a:t>
            </a:r>
            <a:r>
              <a:rPr lang="zh-CN" altLang="en-US" sz="4400" b="1" dirty="0"/>
              <a:t>领域驱动设计</a:t>
            </a:r>
            <a:r>
              <a:rPr lang="en-US" altLang="zh-CN" sz="4400" b="1" dirty="0"/>
              <a:t>》</a:t>
            </a:r>
            <a:r>
              <a:rPr lang="zh-CN" altLang="en-US" sz="4400" b="1" dirty="0"/>
              <a:t>第</a:t>
            </a:r>
            <a:r>
              <a:rPr lang="en-US" altLang="zh-CN" sz="4400" b="1" dirty="0"/>
              <a:t>1-6</a:t>
            </a:r>
            <a:r>
              <a:rPr lang="zh-CN" altLang="en-US" sz="4400" b="1" dirty="0"/>
              <a:t>章读书分享</a:t>
            </a:r>
            <a:br>
              <a:rPr lang="zh-CN" altLang="en-US" sz="4400" dirty="0"/>
            </a:br>
            <a:endParaRPr lang="zh-CN" altLang="en-US" sz="4400" dirty="0"/>
          </a:p>
        </p:txBody>
      </p:sp>
      <p:sp>
        <p:nvSpPr>
          <p:cNvPr id="3" name="副标题 2">
            <a:extLst>
              <a:ext uri="{FF2B5EF4-FFF2-40B4-BE49-F238E27FC236}">
                <a16:creationId xmlns:a16="http://schemas.microsoft.com/office/drawing/2014/main" id="{B546AF5D-25CB-0809-5CA5-985A99279C5A}"/>
              </a:ext>
            </a:extLst>
          </p:cNvPr>
          <p:cNvSpPr>
            <a:spLocks noGrp="1"/>
          </p:cNvSpPr>
          <p:nvPr>
            <p:ph type="subTitle" idx="1"/>
          </p:nvPr>
        </p:nvSpPr>
        <p:spPr>
          <a:xfrm>
            <a:off x="1523999" y="3615228"/>
            <a:ext cx="9144000" cy="1655762"/>
          </a:xfrm>
        </p:spPr>
        <p:txBody>
          <a:bodyPr/>
          <a:lstStyle/>
          <a:p>
            <a:r>
              <a:rPr lang="zh-CN" altLang="en-US" dirty="0"/>
              <a:t>分享人</a:t>
            </a:r>
            <a:r>
              <a:rPr lang="en-US" altLang="zh-CN" dirty="0"/>
              <a:t>:</a:t>
            </a:r>
            <a:r>
              <a:rPr lang="zh-CN" altLang="en-US" dirty="0"/>
              <a:t>林灏均</a:t>
            </a:r>
          </a:p>
        </p:txBody>
      </p:sp>
    </p:spTree>
    <p:extLst>
      <p:ext uri="{BB962C8B-B14F-4D97-AF65-F5344CB8AC3E}">
        <p14:creationId xmlns:p14="http://schemas.microsoft.com/office/powerpoint/2010/main" val="246504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C0BF89-A9D1-50CC-EE8A-16BC3260815F}"/>
              </a:ext>
            </a:extLst>
          </p:cNvPr>
          <p:cNvSpPr>
            <a:spLocks noGrp="1"/>
          </p:cNvSpPr>
          <p:nvPr>
            <p:ph type="title"/>
          </p:nvPr>
        </p:nvSpPr>
        <p:spPr/>
        <p:txBody>
          <a:bodyPr>
            <a:normAutofit/>
          </a:bodyPr>
          <a:lstStyle/>
          <a:p>
            <a:r>
              <a:rPr lang="zh-CN" altLang="en-US" sz="3200" dirty="0">
                <a:solidFill>
                  <a:srgbClr val="4ACBD6"/>
                </a:solidFill>
              </a:rPr>
              <a:t>目录</a:t>
            </a:r>
          </a:p>
        </p:txBody>
      </p:sp>
      <p:sp>
        <p:nvSpPr>
          <p:cNvPr id="3" name="内容占位符 2">
            <a:extLst>
              <a:ext uri="{FF2B5EF4-FFF2-40B4-BE49-F238E27FC236}">
                <a16:creationId xmlns:a16="http://schemas.microsoft.com/office/drawing/2014/main" id="{4E9F18F4-6ABC-2005-9D60-D05C2903A63F}"/>
              </a:ext>
            </a:extLst>
          </p:cNvPr>
          <p:cNvSpPr>
            <a:spLocks noGrp="1"/>
          </p:cNvSpPr>
          <p:nvPr>
            <p:ph idx="1"/>
          </p:nvPr>
        </p:nvSpPr>
        <p:spPr>
          <a:xfrm>
            <a:off x="838200" y="1825625"/>
            <a:ext cx="8170788" cy="4351338"/>
          </a:xfrm>
        </p:spPr>
        <p:txBody>
          <a:bodyPr>
            <a:normAutofit/>
          </a:bodyPr>
          <a:lstStyle/>
          <a:p>
            <a:pPr>
              <a:lnSpc>
                <a:spcPct val="120000"/>
              </a:lnSpc>
            </a:pPr>
            <a:r>
              <a:rPr lang="zh-CN" altLang="en-US" sz="2400" dirty="0"/>
              <a:t>消化知识</a:t>
            </a:r>
            <a:endParaRPr lang="en-US" altLang="zh-CN" sz="2400" dirty="0"/>
          </a:p>
          <a:p>
            <a:pPr>
              <a:lnSpc>
                <a:spcPct val="120000"/>
              </a:lnSpc>
            </a:pPr>
            <a:r>
              <a:rPr lang="zh-CN" altLang="en-US" sz="2400" dirty="0"/>
              <a:t>语言的交流和使用</a:t>
            </a:r>
            <a:endParaRPr lang="en-US" altLang="zh-CN" sz="2400" dirty="0"/>
          </a:p>
          <a:p>
            <a:pPr>
              <a:lnSpc>
                <a:spcPct val="120000"/>
              </a:lnSpc>
            </a:pPr>
            <a:r>
              <a:rPr lang="zh-CN" altLang="en-US" sz="2400" dirty="0"/>
              <a:t>绑定模型和实现</a:t>
            </a:r>
            <a:endParaRPr lang="en-US" altLang="zh-CN" sz="2400" dirty="0"/>
          </a:p>
          <a:p>
            <a:pPr>
              <a:lnSpc>
                <a:spcPct val="120000"/>
              </a:lnSpc>
            </a:pPr>
            <a:r>
              <a:rPr lang="zh-CN" altLang="en-US" sz="2400" dirty="0"/>
              <a:t>分离领域</a:t>
            </a:r>
            <a:endParaRPr lang="en-US" altLang="zh-CN" sz="2400" dirty="0"/>
          </a:p>
          <a:p>
            <a:pPr>
              <a:lnSpc>
                <a:spcPct val="120000"/>
              </a:lnSpc>
            </a:pPr>
            <a:r>
              <a:rPr lang="zh-CN" altLang="en-US" sz="2400" dirty="0"/>
              <a:t>软件中所表示的模型</a:t>
            </a:r>
            <a:endParaRPr lang="en-US" altLang="zh-CN" sz="2400" dirty="0"/>
          </a:p>
          <a:p>
            <a:pPr>
              <a:lnSpc>
                <a:spcPct val="120000"/>
              </a:lnSpc>
            </a:pPr>
            <a:r>
              <a:rPr lang="zh-CN" altLang="en-US" sz="2400" dirty="0"/>
              <a:t>领域对象的生命周期</a:t>
            </a:r>
            <a:endParaRPr lang="en-US" altLang="zh-CN" sz="2400" dirty="0"/>
          </a:p>
        </p:txBody>
      </p:sp>
    </p:spTree>
    <p:extLst>
      <p:ext uri="{BB962C8B-B14F-4D97-AF65-F5344CB8AC3E}">
        <p14:creationId xmlns:p14="http://schemas.microsoft.com/office/powerpoint/2010/main" val="2086968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18C141-3D2C-322F-DB22-817A29A0F5A8}"/>
              </a:ext>
            </a:extLst>
          </p:cNvPr>
          <p:cNvSpPr>
            <a:spLocks noGrp="1"/>
          </p:cNvSpPr>
          <p:nvPr>
            <p:ph type="title"/>
          </p:nvPr>
        </p:nvSpPr>
        <p:spPr>
          <a:xfrm>
            <a:off x="838200" y="365126"/>
            <a:ext cx="10515600" cy="806852"/>
          </a:xfrm>
        </p:spPr>
        <p:txBody>
          <a:bodyPr>
            <a:normAutofit/>
          </a:bodyPr>
          <a:lstStyle/>
          <a:p>
            <a:r>
              <a:rPr lang="zh-CN" altLang="en-US" sz="3200" dirty="0">
                <a:solidFill>
                  <a:srgbClr val="4ACBD6"/>
                </a:solidFill>
              </a:rPr>
              <a:t>第</a:t>
            </a:r>
            <a:r>
              <a:rPr lang="en-US" altLang="zh-CN" sz="3200" dirty="0">
                <a:solidFill>
                  <a:srgbClr val="4ACBD6"/>
                </a:solidFill>
              </a:rPr>
              <a:t>1</a:t>
            </a:r>
            <a:r>
              <a:rPr lang="zh-CN" altLang="en-US" sz="3200" dirty="0">
                <a:solidFill>
                  <a:srgbClr val="4ACBD6"/>
                </a:solidFill>
              </a:rPr>
              <a:t>章：消化知识</a:t>
            </a:r>
          </a:p>
        </p:txBody>
      </p:sp>
      <p:sp>
        <p:nvSpPr>
          <p:cNvPr id="8" name="标题 1">
            <a:extLst>
              <a:ext uri="{FF2B5EF4-FFF2-40B4-BE49-F238E27FC236}">
                <a16:creationId xmlns:a16="http://schemas.microsoft.com/office/drawing/2014/main" id="{201697C7-8DF5-7FB9-F713-DEC834D87397}"/>
              </a:ext>
            </a:extLst>
          </p:cNvPr>
          <p:cNvSpPr txBox="1">
            <a:spLocks/>
          </p:cNvSpPr>
          <p:nvPr/>
        </p:nvSpPr>
        <p:spPr>
          <a:xfrm>
            <a:off x="838200" y="1171978"/>
            <a:ext cx="5151427" cy="53208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Arial" panose="020B0604020202020204" pitchFamily="34" charset="0"/>
              <a:buChar char="•"/>
            </a:pPr>
            <a:endParaRPr lang="zh-CN" altLang="en-US" sz="2000" dirty="0"/>
          </a:p>
        </p:txBody>
      </p:sp>
      <p:sp>
        <p:nvSpPr>
          <p:cNvPr id="4" name="内容占位符 3">
            <a:extLst>
              <a:ext uri="{FF2B5EF4-FFF2-40B4-BE49-F238E27FC236}">
                <a16:creationId xmlns:a16="http://schemas.microsoft.com/office/drawing/2014/main" id="{2AA2A5D1-0215-F81B-52BF-4FC627E1E5C5}"/>
              </a:ext>
            </a:extLst>
          </p:cNvPr>
          <p:cNvSpPr>
            <a:spLocks noGrp="1"/>
          </p:cNvSpPr>
          <p:nvPr>
            <p:ph idx="1"/>
          </p:nvPr>
        </p:nvSpPr>
        <p:spPr>
          <a:xfrm>
            <a:off x="838200" y="1171978"/>
            <a:ext cx="10515600" cy="5189065"/>
          </a:xfrm>
        </p:spPr>
        <p:txBody>
          <a:bodyPr>
            <a:normAutofit/>
          </a:bodyPr>
          <a:lstStyle/>
          <a:p>
            <a:r>
              <a:rPr lang="zh-CN" altLang="en-US" sz="1800" dirty="0"/>
              <a:t>模型是一种简化，把与解决问题密切相关的方面抽象出来，而忽略无关的细节。</a:t>
            </a:r>
            <a:endParaRPr lang="en-US" altLang="zh-CN" sz="1800" dirty="0"/>
          </a:p>
          <a:p>
            <a:r>
              <a:rPr lang="zh-CN" altLang="en-US" sz="1800" dirty="0"/>
              <a:t>软件的核心是其为用户解决领域相关的问题的能力。这些用户应用软件的问题区域就是软件的领域（如金融领域，航运领域）。</a:t>
            </a:r>
            <a:endParaRPr lang="en-US" altLang="zh-CN" sz="1800" dirty="0"/>
          </a:p>
          <a:p>
            <a:r>
              <a:rPr lang="zh-CN" altLang="en-US" sz="1800" dirty="0"/>
              <a:t>为了满足用户的需求，开发人员需要了解软件对应的领域知识，这些知识可能非常多。使用模型这种形式可以对知识进行选择性的简化和有意的结构化。适当的模型可以使人理解信息的意义，并专注于问题。</a:t>
            </a:r>
            <a:endParaRPr lang="en-US" altLang="zh-CN" sz="1800" dirty="0"/>
          </a:p>
          <a:p>
            <a:r>
              <a:rPr lang="zh-CN" altLang="en-US" sz="1800" dirty="0"/>
              <a:t>有效的建模要素</a:t>
            </a:r>
            <a:endParaRPr lang="en-US" altLang="zh-CN" sz="1800" dirty="0"/>
          </a:p>
          <a:p>
            <a:pPr marL="342900" indent="-342900">
              <a:buFont typeface="+mj-lt"/>
              <a:buAutoNum type="arabicPeriod"/>
            </a:pPr>
            <a:r>
              <a:rPr lang="zh-CN" altLang="en-US" sz="1800" dirty="0"/>
              <a:t>模型和实现是绑定的</a:t>
            </a:r>
            <a:endParaRPr lang="en-US" altLang="zh-CN" sz="1800" dirty="0"/>
          </a:p>
          <a:p>
            <a:pPr marL="342900" indent="-342900">
              <a:buFont typeface="+mj-lt"/>
              <a:buAutoNum type="arabicPeriod"/>
            </a:pPr>
            <a:r>
              <a:rPr lang="zh-CN" altLang="en-US" sz="1800" dirty="0"/>
              <a:t>建立了一种基于模型的语言</a:t>
            </a:r>
            <a:endParaRPr lang="en-US" altLang="zh-CN" sz="1800" dirty="0"/>
          </a:p>
          <a:p>
            <a:pPr marL="342900" indent="-342900">
              <a:buFont typeface="+mj-lt"/>
              <a:buAutoNum type="arabicPeriod"/>
            </a:pPr>
            <a:r>
              <a:rPr lang="zh-CN" altLang="en-US" sz="1800" dirty="0"/>
              <a:t>开发出一个具有丰富知识的模型</a:t>
            </a:r>
            <a:endParaRPr lang="en-US" altLang="zh-CN" sz="1800" dirty="0"/>
          </a:p>
          <a:p>
            <a:pPr marL="342900" indent="-342900">
              <a:buFont typeface="+mj-lt"/>
              <a:buAutoNum type="arabicPeriod"/>
            </a:pPr>
            <a:r>
              <a:rPr lang="zh-CN" altLang="en-US" sz="1800" dirty="0"/>
              <a:t>提炼模型，排除无关细节，只保留核心</a:t>
            </a:r>
            <a:endParaRPr lang="en-US" altLang="zh-CN" sz="1800" dirty="0"/>
          </a:p>
        </p:txBody>
      </p:sp>
    </p:spTree>
    <p:extLst>
      <p:ext uri="{BB962C8B-B14F-4D97-AF65-F5344CB8AC3E}">
        <p14:creationId xmlns:p14="http://schemas.microsoft.com/office/powerpoint/2010/main" val="2658606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02D78-E587-C5C5-616B-A12FDC13353E}"/>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B24624D6-C2DB-C803-2716-01B715F5C85E}"/>
              </a:ext>
            </a:extLst>
          </p:cNvPr>
          <p:cNvSpPr txBox="1">
            <a:spLocks/>
          </p:cNvSpPr>
          <p:nvPr/>
        </p:nvSpPr>
        <p:spPr>
          <a:xfrm>
            <a:off x="838200" y="1171978"/>
            <a:ext cx="5151427" cy="53208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Arial" panose="020B0604020202020204" pitchFamily="34" charset="0"/>
              <a:buChar char="•"/>
            </a:pPr>
            <a:endParaRPr lang="zh-CN" altLang="en-US" sz="2000" dirty="0"/>
          </a:p>
        </p:txBody>
      </p:sp>
      <p:sp>
        <p:nvSpPr>
          <p:cNvPr id="7" name="标题 1">
            <a:extLst>
              <a:ext uri="{FF2B5EF4-FFF2-40B4-BE49-F238E27FC236}">
                <a16:creationId xmlns:a16="http://schemas.microsoft.com/office/drawing/2014/main" id="{0E6DB918-3045-7A13-38AF-CDE32D3F895B}"/>
              </a:ext>
            </a:extLst>
          </p:cNvPr>
          <p:cNvSpPr>
            <a:spLocks noGrp="1"/>
          </p:cNvSpPr>
          <p:nvPr>
            <p:ph type="title"/>
          </p:nvPr>
        </p:nvSpPr>
        <p:spPr>
          <a:xfrm>
            <a:off x="838200" y="365126"/>
            <a:ext cx="10515600" cy="806852"/>
          </a:xfrm>
        </p:spPr>
        <p:txBody>
          <a:bodyPr>
            <a:normAutofit/>
          </a:bodyPr>
          <a:lstStyle/>
          <a:p>
            <a:r>
              <a:rPr lang="zh-CN" altLang="en-US" sz="3200" dirty="0">
                <a:solidFill>
                  <a:srgbClr val="4ACBD6"/>
                </a:solidFill>
              </a:rPr>
              <a:t>第</a:t>
            </a:r>
            <a:r>
              <a:rPr lang="en-US" altLang="zh-CN" sz="3200" dirty="0">
                <a:solidFill>
                  <a:srgbClr val="4ACBD6"/>
                </a:solidFill>
              </a:rPr>
              <a:t>1</a:t>
            </a:r>
            <a:r>
              <a:rPr lang="zh-CN" altLang="en-US" sz="3200" dirty="0">
                <a:solidFill>
                  <a:srgbClr val="4ACBD6"/>
                </a:solidFill>
              </a:rPr>
              <a:t>章：消化知识</a:t>
            </a:r>
          </a:p>
        </p:txBody>
      </p:sp>
      <p:sp>
        <p:nvSpPr>
          <p:cNvPr id="9" name="内容占位符 3">
            <a:extLst>
              <a:ext uri="{FF2B5EF4-FFF2-40B4-BE49-F238E27FC236}">
                <a16:creationId xmlns:a16="http://schemas.microsoft.com/office/drawing/2014/main" id="{8CF260EE-FDC7-E4F5-4A14-8E61F5BB4D81}"/>
              </a:ext>
            </a:extLst>
          </p:cNvPr>
          <p:cNvSpPr>
            <a:spLocks noGrp="1"/>
          </p:cNvSpPr>
          <p:nvPr>
            <p:ph idx="1"/>
          </p:nvPr>
        </p:nvSpPr>
        <p:spPr>
          <a:xfrm>
            <a:off x="838200" y="1171978"/>
            <a:ext cx="10515600" cy="5320895"/>
          </a:xfrm>
        </p:spPr>
        <p:txBody>
          <a:bodyPr>
            <a:normAutofit/>
          </a:bodyPr>
          <a:lstStyle/>
          <a:p>
            <a:pPr>
              <a:lnSpc>
                <a:spcPct val="120000"/>
              </a:lnSpc>
            </a:pPr>
            <a:r>
              <a:rPr lang="zh-CN" altLang="en-US" sz="1800" dirty="0"/>
              <a:t>高效的领域建模人员是知识的消化者，他们在大量信息中探寻有用的部分。只有找到一组适合于所有细节的抽象概念后，工作才算成功。</a:t>
            </a:r>
            <a:endParaRPr lang="en-US" altLang="zh-CN" sz="1800" dirty="0"/>
          </a:p>
          <a:p>
            <a:pPr>
              <a:lnSpc>
                <a:spcPct val="120000"/>
              </a:lnSpc>
            </a:pPr>
            <a:r>
              <a:rPr lang="zh-CN" altLang="en-US" sz="1800" dirty="0"/>
              <a:t>有效的建模不是与领域专家开一次会就能完成的，而是</a:t>
            </a:r>
            <a:r>
              <a:rPr lang="zh-CN" altLang="en-US" sz="1800" b="1" dirty="0"/>
              <a:t>持续的知识消化过程</a:t>
            </a:r>
            <a:r>
              <a:rPr lang="zh-CN" altLang="en-US" sz="1800" dirty="0"/>
              <a:t>。</a:t>
            </a:r>
            <a:endParaRPr lang="en-US" altLang="zh-CN" sz="1800" dirty="0"/>
          </a:p>
          <a:p>
            <a:pPr>
              <a:lnSpc>
                <a:spcPct val="120000"/>
              </a:lnSpc>
            </a:pPr>
            <a:r>
              <a:rPr lang="zh-CN" altLang="en-US" sz="1800" dirty="0"/>
              <a:t>知识消化的本质不是</a:t>
            </a:r>
            <a:r>
              <a:rPr lang="en-US" altLang="zh-CN" sz="1800" dirty="0"/>
              <a:t>“</a:t>
            </a:r>
            <a:r>
              <a:rPr lang="zh-CN" altLang="en-US" sz="1800" dirty="0"/>
              <a:t>领域专家告诉程序员需求，程序员去实现</a:t>
            </a:r>
            <a:r>
              <a:rPr lang="en-US" altLang="zh-CN" sz="1800" dirty="0"/>
              <a:t>”</a:t>
            </a:r>
            <a:r>
              <a:rPr lang="zh-CN" altLang="en-US" sz="1800" dirty="0"/>
              <a:t>的单向流动。而是开发者和领域专家双向碰撞：开发者问尖锐的问题，专家重新审视自己习以为常的规则。每一次对话都在</a:t>
            </a:r>
            <a:r>
              <a:rPr lang="en-US" altLang="zh-CN" sz="1800" dirty="0"/>
              <a:t>“</a:t>
            </a:r>
            <a:r>
              <a:rPr lang="zh-CN" altLang="en-US" sz="1800" dirty="0"/>
              <a:t>压榨</a:t>
            </a:r>
            <a:r>
              <a:rPr lang="en-US" altLang="zh-CN" sz="1800" dirty="0"/>
              <a:t>”</a:t>
            </a:r>
            <a:r>
              <a:rPr lang="zh-CN" altLang="en-US" sz="1800" dirty="0"/>
              <a:t>出更深层的业务知识。</a:t>
            </a:r>
            <a:endParaRPr lang="en-US" altLang="zh-CN" sz="1800" dirty="0"/>
          </a:p>
          <a:p>
            <a:pPr>
              <a:lnSpc>
                <a:spcPct val="120000"/>
              </a:lnSpc>
            </a:pPr>
            <a:r>
              <a:rPr lang="zh-CN" altLang="en-US" sz="1800" dirty="0"/>
              <a:t>模型获得的知识远远不只是“发现名词”。业务活动和规则如同所涉及的实体一样，都是领域的中心，任何领域都有各种类别的概念。知识消化所产生的模型能够反映出对知识的深层理解。在模型发生改变的同时，开发人员对实现进行重构，以便反映出模型的变化，这样，新知识就被合并到应用程序中了。</a:t>
            </a:r>
            <a:endParaRPr lang="en-US" altLang="zh-CN" sz="1800" dirty="0"/>
          </a:p>
          <a:p>
            <a:pPr>
              <a:lnSpc>
                <a:spcPct val="120000"/>
              </a:lnSpc>
            </a:pPr>
            <a:r>
              <a:rPr lang="zh-CN" altLang="en-US" sz="1800" dirty="0"/>
              <a:t>知识消化是一种无止境的探索，可以帮助改善模型。有用的模型很少停留在表面层次上。随着对领域和需求的理解，我们往往会丢掉那些最初看起来很重要的表面元素，或者切换它们的角度。这时，一些在开始时不可能发现的巧妙抽象就会渐渐浮出水面，而它们恰恰切中问题的要害。</a:t>
            </a:r>
            <a:endParaRPr lang="en-US" altLang="zh-CN" sz="1800" dirty="0"/>
          </a:p>
        </p:txBody>
      </p:sp>
    </p:spTree>
    <p:extLst>
      <p:ext uri="{BB962C8B-B14F-4D97-AF65-F5344CB8AC3E}">
        <p14:creationId xmlns:p14="http://schemas.microsoft.com/office/powerpoint/2010/main" val="3860173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7B071-58A4-3CC7-7A67-32421E9E0A3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AEDBE0-D299-1FEC-7DE4-75717A2367E5}"/>
              </a:ext>
            </a:extLst>
          </p:cNvPr>
          <p:cNvSpPr>
            <a:spLocks noGrp="1"/>
          </p:cNvSpPr>
          <p:nvPr>
            <p:ph type="title"/>
          </p:nvPr>
        </p:nvSpPr>
        <p:spPr>
          <a:xfrm>
            <a:off x="838200" y="365126"/>
            <a:ext cx="10515600" cy="806852"/>
          </a:xfrm>
        </p:spPr>
        <p:txBody>
          <a:bodyPr>
            <a:normAutofit/>
          </a:bodyPr>
          <a:lstStyle/>
          <a:p>
            <a:r>
              <a:rPr lang="zh-CN" altLang="en-US" sz="3200" dirty="0">
                <a:solidFill>
                  <a:srgbClr val="4ACBD6"/>
                </a:solidFill>
              </a:rPr>
              <a:t>第</a:t>
            </a:r>
            <a:r>
              <a:rPr lang="en-US" altLang="zh-CN" sz="3200" dirty="0">
                <a:solidFill>
                  <a:srgbClr val="4ACBD6"/>
                </a:solidFill>
              </a:rPr>
              <a:t>2</a:t>
            </a:r>
            <a:r>
              <a:rPr lang="zh-CN" altLang="en-US" sz="3200" dirty="0">
                <a:solidFill>
                  <a:srgbClr val="4ACBD6"/>
                </a:solidFill>
              </a:rPr>
              <a:t>章：语言的交流和使用</a:t>
            </a:r>
          </a:p>
        </p:txBody>
      </p:sp>
      <p:sp>
        <p:nvSpPr>
          <p:cNvPr id="8" name="标题 1">
            <a:extLst>
              <a:ext uri="{FF2B5EF4-FFF2-40B4-BE49-F238E27FC236}">
                <a16:creationId xmlns:a16="http://schemas.microsoft.com/office/drawing/2014/main" id="{CA644246-B18D-98E2-5A5B-B8B37E92837F}"/>
              </a:ext>
            </a:extLst>
          </p:cNvPr>
          <p:cNvSpPr txBox="1">
            <a:spLocks/>
          </p:cNvSpPr>
          <p:nvPr/>
        </p:nvSpPr>
        <p:spPr>
          <a:xfrm>
            <a:off x="838200" y="1171978"/>
            <a:ext cx="5151427" cy="53208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Arial" panose="020B0604020202020204" pitchFamily="34" charset="0"/>
              <a:buChar char="•"/>
            </a:pPr>
            <a:endParaRPr lang="zh-CN" altLang="en-US" sz="2000" dirty="0"/>
          </a:p>
        </p:txBody>
      </p:sp>
      <p:sp>
        <p:nvSpPr>
          <p:cNvPr id="9" name="内容占位符 3">
            <a:extLst>
              <a:ext uri="{FF2B5EF4-FFF2-40B4-BE49-F238E27FC236}">
                <a16:creationId xmlns:a16="http://schemas.microsoft.com/office/drawing/2014/main" id="{FD9B5B31-4F25-57C8-B834-20FBC8029880}"/>
              </a:ext>
            </a:extLst>
          </p:cNvPr>
          <p:cNvSpPr>
            <a:spLocks noGrp="1"/>
          </p:cNvSpPr>
          <p:nvPr>
            <p:ph idx="1"/>
          </p:nvPr>
        </p:nvSpPr>
        <p:spPr>
          <a:xfrm>
            <a:off x="838200" y="1171978"/>
            <a:ext cx="5257800" cy="5320895"/>
          </a:xfrm>
        </p:spPr>
        <p:txBody>
          <a:bodyPr>
            <a:normAutofit/>
          </a:bodyPr>
          <a:lstStyle/>
          <a:p>
            <a:pPr marL="0" indent="0">
              <a:lnSpc>
                <a:spcPct val="120000"/>
              </a:lnSpc>
              <a:buNone/>
            </a:pPr>
            <a:r>
              <a:rPr lang="zh-CN" altLang="en-US" sz="2000" b="1" dirty="0"/>
              <a:t>通用语言（</a:t>
            </a:r>
            <a:r>
              <a:rPr lang="en-US" altLang="zh-CN" sz="2000" b="1" dirty="0"/>
              <a:t>UBIQUITOUS LANGUAGE</a:t>
            </a:r>
            <a:r>
              <a:rPr lang="zh-CN" altLang="en-US" sz="2000" b="1" dirty="0"/>
              <a:t>）</a:t>
            </a:r>
            <a:endParaRPr lang="en-US" altLang="zh-CN" sz="2000" b="1" dirty="0"/>
          </a:p>
          <a:p>
            <a:pPr>
              <a:lnSpc>
                <a:spcPct val="120000"/>
              </a:lnSpc>
            </a:pPr>
            <a:r>
              <a:rPr lang="zh-CN" altLang="en-US" sz="1800" dirty="0"/>
              <a:t>传统问题：领域专家说</a:t>
            </a:r>
            <a:r>
              <a:rPr lang="en-US" altLang="zh-CN" sz="1800" dirty="0"/>
              <a:t>"</a:t>
            </a:r>
            <a:r>
              <a:rPr lang="zh-CN" altLang="en-US" sz="1800" dirty="0"/>
              <a:t>客户信用额度</a:t>
            </a:r>
            <a:r>
              <a:rPr lang="en-US" altLang="zh-CN" sz="1800" dirty="0"/>
              <a:t>"</a:t>
            </a:r>
            <a:r>
              <a:rPr lang="zh-CN" altLang="en-US" sz="1800" dirty="0"/>
              <a:t>，开发人员翻译成 </a:t>
            </a:r>
            <a:r>
              <a:rPr lang="en-US" altLang="zh-CN" sz="1800" dirty="0" err="1"/>
              <a:t>Customer.creditLimit</a:t>
            </a:r>
            <a:r>
              <a:rPr lang="zh-CN" altLang="en-US" sz="1800" dirty="0"/>
              <a:t>，而测试团队说</a:t>
            </a:r>
            <a:r>
              <a:rPr lang="en-US" altLang="zh-CN" sz="1800" dirty="0"/>
              <a:t>"</a:t>
            </a:r>
            <a:r>
              <a:rPr lang="zh-CN" altLang="en-US" sz="1800" dirty="0"/>
              <a:t>额度上限</a:t>
            </a:r>
            <a:r>
              <a:rPr lang="en-US" altLang="zh-CN" sz="1800" dirty="0"/>
              <a:t>"</a:t>
            </a:r>
            <a:r>
              <a:rPr lang="zh-CN" altLang="en-US" sz="1800" dirty="0"/>
              <a:t>。同一个东西，三个名字</a:t>
            </a:r>
          </a:p>
          <a:p>
            <a:pPr>
              <a:lnSpc>
                <a:spcPct val="120000"/>
              </a:lnSpc>
            </a:pPr>
            <a:r>
              <a:rPr lang="zh-CN" altLang="en-US" sz="1800" dirty="0"/>
              <a:t>通用语言要求：将模型作为语言的支柱。确保团队在内部的所有交流中以及代码中坚持使用这种语言。在画图、写东西，特别是讲话时也要使用这种语言。语言以动态形式传递知识。使用这种语言进行讨论能够呈现图和代码背后的真实含义。</a:t>
            </a:r>
            <a:endParaRPr lang="en-US" altLang="zh-CN" sz="1800" dirty="0"/>
          </a:p>
          <a:p>
            <a:pPr>
              <a:lnSpc>
                <a:spcPct val="120000"/>
              </a:lnSpc>
            </a:pPr>
            <a:r>
              <a:rPr lang="zh-CN" altLang="en-US" sz="1800" dirty="0"/>
              <a:t> 通用语言的词汇表包括类名称和主要操作，其中包含术语，有些术语用来讨论模型中已经明确的规则，还有一些术语则来自施加于模型上的高级组织原则。</a:t>
            </a:r>
            <a:endParaRPr lang="en-US" altLang="zh-CN" sz="1800" dirty="0"/>
          </a:p>
          <a:p>
            <a:pPr>
              <a:lnSpc>
                <a:spcPct val="120000"/>
              </a:lnSpc>
            </a:pPr>
            <a:endParaRPr lang="en-US" altLang="zh-CN" sz="1800" dirty="0"/>
          </a:p>
        </p:txBody>
      </p:sp>
      <p:pic>
        <p:nvPicPr>
          <p:cNvPr id="11" name="图片 10">
            <a:extLst>
              <a:ext uri="{FF2B5EF4-FFF2-40B4-BE49-F238E27FC236}">
                <a16:creationId xmlns:a16="http://schemas.microsoft.com/office/drawing/2014/main" id="{C85EE09D-8ED1-2450-EEF0-5820BA781454}"/>
              </a:ext>
            </a:extLst>
          </p:cNvPr>
          <p:cNvPicPr>
            <a:picLocks noChangeAspect="1"/>
          </p:cNvPicPr>
          <p:nvPr/>
        </p:nvPicPr>
        <p:blipFill>
          <a:blip r:embed="rId2"/>
          <a:stretch>
            <a:fillRect/>
          </a:stretch>
        </p:blipFill>
        <p:spPr>
          <a:xfrm>
            <a:off x="6308477" y="1171978"/>
            <a:ext cx="5045323" cy="2442998"/>
          </a:xfrm>
          <a:prstGeom prst="rect">
            <a:avLst/>
          </a:prstGeom>
        </p:spPr>
      </p:pic>
      <p:pic>
        <p:nvPicPr>
          <p:cNvPr id="13" name="图片 12">
            <a:extLst>
              <a:ext uri="{FF2B5EF4-FFF2-40B4-BE49-F238E27FC236}">
                <a16:creationId xmlns:a16="http://schemas.microsoft.com/office/drawing/2014/main" id="{FD77CF53-191D-38CF-E9A7-79E01B62C63C}"/>
              </a:ext>
            </a:extLst>
          </p:cNvPr>
          <p:cNvPicPr>
            <a:picLocks noChangeAspect="1"/>
          </p:cNvPicPr>
          <p:nvPr/>
        </p:nvPicPr>
        <p:blipFill>
          <a:blip r:embed="rId3"/>
          <a:stretch>
            <a:fillRect/>
          </a:stretch>
        </p:blipFill>
        <p:spPr>
          <a:xfrm>
            <a:off x="6450137" y="3734234"/>
            <a:ext cx="4903663" cy="2615287"/>
          </a:xfrm>
          <a:prstGeom prst="rect">
            <a:avLst/>
          </a:prstGeom>
        </p:spPr>
      </p:pic>
    </p:spTree>
    <p:extLst>
      <p:ext uri="{BB962C8B-B14F-4D97-AF65-F5344CB8AC3E}">
        <p14:creationId xmlns:p14="http://schemas.microsoft.com/office/powerpoint/2010/main" val="27739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9682D6A-C060-5A1F-B76A-975D10D40F33}"/>
              </a:ext>
            </a:extLst>
          </p:cNvPr>
          <p:cNvSpPr>
            <a:spLocks noGrp="1"/>
          </p:cNvSpPr>
          <p:nvPr>
            <p:ph idx="1"/>
          </p:nvPr>
        </p:nvSpPr>
        <p:spPr>
          <a:xfrm>
            <a:off x="838201" y="1171978"/>
            <a:ext cx="5691474" cy="5455888"/>
          </a:xfrm>
        </p:spPr>
        <p:txBody>
          <a:bodyPr>
            <a:noAutofit/>
          </a:bodyPr>
          <a:lstStyle/>
          <a:p>
            <a:r>
              <a:rPr lang="zh-CN" altLang="en-US" sz="1800" dirty="0"/>
              <a:t>精化模型的最佳方式之一就是通过对话来研究，找出可能的模型变化，并试着大声说出对它们的多种构想。这样不完善的地方很容易被听出来。</a:t>
            </a:r>
            <a:endParaRPr lang="en-US" altLang="zh-CN" sz="1800" dirty="0"/>
          </a:p>
          <a:p>
            <a:r>
              <a:rPr lang="zh-CN" altLang="en-US" sz="1800" dirty="0"/>
              <a:t>通用语言模式：讨论系统时要结合模型。使用模型的元素以及模型中各元素之间的交互来描述场景，并且按照模型允许的方式将各种概念结合到一起。找到更简单的表达方式来讲出你要讲的话，然后将这些新的思想应用到图和代码中。</a:t>
            </a:r>
            <a:endParaRPr lang="en-US" altLang="zh-CN" sz="1800" dirty="0"/>
          </a:p>
          <a:p>
            <a:r>
              <a:rPr lang="zh-CN" altLang="en-US" sz="1800" dirty="0"/>
              <a:t>模型的核心最好让领域专家参与。如果连经验丰富的领域专家都不能理解模型，那么模型一定出了什么问题。当领域专家使用这种通用语言互相讨论，或者与开发人员进行讨论时，很快就会发现模型中哪些地方不符合他们的需要，甚至是错误的。由于基于模型的语言要求十分精确，因此领域专家也将发现他们的想法中的一些矛盾和含糊之处。</a:t>
            </a:r>
            <a:endParaRPr lang="en-US" altLang="zh-CN" sz="1800" dirty="0"/>
          </a:p>
          <a:p>
            <a:r>
              <a:rPr lang="zh-CN" altLang="en-US" sz="1800" dirty="0"/>
              <a:t>当然，开发人员确实会使用领域专家无法理解的一些技术术语。领域专家也将有一些开发人员无法理解的、超出应用程序范围的专用行话。但这些是对语言的扩展，在反映独特模型的同一个领域中，他们使用的词汇应该是一致的。</a:t>
            </a:r>
            <a:endParaRPr lang="en-US" altLang="zh-CN" sz="1800" dirty="0"/>
          </a:p>
        </p:txBody>
      </p:sp>
      <p:sp>
        <p:nvSpPr>
          <p:cNvPr id="2" name="标题 1">
            <a:extLst>
              <a:ext uri="{FF2B5EF4-FFF2-40B4-BE49-F238E27FC236}">
                <a16:creationId xmlns:a16="http://schemas.microsoft.com/office/drawing/2014/main" id="{B5F7E82A-0618-EFDF-02A0-4A936BD10EAF}"/>
              </a:ext>
            </a:extLst>
          </p:cNvPr>
          <p:cNvSpPr>
            <a:spLocks noGrp="1"/>
          </p:cNvSpPr>
          <p:nvPr>
            <p:ph type="title"/>
          </p:nvPr>
        </p:nvSpPr>
        <p:spPr>
          <a:xfrm>
            <a:off x="838200" y="365126"/>
            <a:ext cx="10515600" cy="806852"/>
          </a:xfrm>
        </p:spPr>
        <p:txBody>
          <a:bodyPr>
            <a:normAutofit/>
          </a:bodyPr>
          <a:lstStyle/>
          <a:p>
            <a:r>
              <a:rPr lang="zh-CN" altLang="en-US" sz="3200" dirty="0">
                <a:solidFill>
                  <a:srgbClr val="4ACBD6"/>
                </a:solidFill>
              </a:rPr>
              <a:t>第</a:t>
            </a:r>
            <a:r>
              <a:rPr lang="en-US" altLang="zh-CN" sz="3200" dirty="0">
                <a:solidFill>
                  <a:srgbClr val="4ACBD6"/>
                </a:solidFill>
              </a:rPr>
              <a:t>2</a:t>
            </a:r>
            <a:r>
              <a:rPr lang="zh-CN" altLang="en-US" sz="3200" dirty="0">
                <a:solidFill>
                  <a:srgbClr val="4ACBD6"/>
                </a:solidFill>
              </a:rPr>
              <a:t>章：语言的交流和使用</a:t>
            </a:r>
          </a:p>
        </p:txBody>
      </p:sp>
      <p:pic>
        <p:nvPicPr>
          <p:cNvPr id="5" name="图片 4">
            <a:extLst>
              <a:ext uri="{FF2B5EF4-FFF2-40B4-BE49-F238E27FC236}">
                <a16:creationId xmlns:a16="http://schemas.microsoft.com/office/drawing/2014/main" id="{AD6439B7-2F09-837A-77AA-07C6FC26C911}"/>
              </a:ext>
            </a:extLst>
          </p:cNvPr>
          <p:cNvPicPr>
            <a:picLocks noChangeAspect="1"/>
          </p:cNvPicPr>
          <p:nvPr/>
        </p:nvPicPr>
        <p:blipFill>
          <a:blip r:embed="rId2"/>
          <a:stretch>
            <a:fillRect/>
          </a:stretch>
        </p:blipFill>
        <p:spPr>
          <a:xfrm>
            <a:off x="6529675" y="2304223"/>
            <a:ext cx="5067131" cy="3044132"/>
          </a:xfrm>
          <a:prstGeom prst="rect">
            <a:avLst/>
          </a:prstGeom>
        </p:spPr>
      </p:pic>
    </p:spTree>
    <p:extLst>
      <p:ext uri="{BB962C8B-B14F-4D97-AF65-F5344CB8AC3E}">
        <p14:creationId xmlns:p14="http://schemas.microsoft.com/office/powerpoint/2010/main" val="3122452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A040B-F32A-1D45-537A-61B953017CD0}"/>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66B89632-FEB5-AB1B-6444-4FEC12C5431E}"/>
              </a:ext>
            </a:extLst>
          </p:cNvPr>
          <p:cNvSpPr>
            <a:spLocks noGrp="1"/>
          </p:cNvSpPr>
          <p:nvPr>
            <p:ph idx="1"/>
          </p:nvPr>
        </p:nvSpPr>
        <p:spPr>
          <a:xfrm>
            <a:off x="838199" y="1171978"/>
            <a:ext cx="5679841" cy="5320896"/>
          </a:xfrm>
        </p:spPr>
        <p:txBody>
          <a:bodyPr>
            <a:normAutofit lnSpcReduction="10000"/>
          </a:body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文档和图</a:t>
            </a:r>
            <a:endParaRPr kumimoji="0" lang="en-US" altLang="zh-CN"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a:lnSpc>
                <a:spcPct val="120000"/>
              </a:lnSpc>
              <a:defRPr/>
            </a:pPr>
            <a:r>
              <a:rPr lang="zh-CN" altLang="en-US" sz="1600" dirty="0"/>
              <a:t>简单、非正式的</a:t>
            </a:r>
            <a:r>
              <a:rPr lang="en-US" altLang="zh-CN" sz="1600" dirty="0"/>
              <a:t>UML</a:t>
            </a:r>
            <a:r>
              <a:rPr lang="zh-CN" altLang="en-US" sz="1600" dirty="0"/>
              <a:t>图能够维系整个讨论。简洁的小图能够很好地实现这些目标，而涵盖整个对象模型的综合性大图反而失去了沟通或解释能力，因为它们将读者淹没在大量细节之中，加之这些图也缺乏目的性。因此，应避免使用包罗万象的对象模型图，相反，应使用简化的图，图中只包含对象模型的重要概念。</a:t>
            </a:r>
            <a:endParaRPr lang="en-US" altLang="zh-CN" sz="1600" dirty="0"/>
          </a:p>
          <a:p>
            <a:pPr>
              <a:lnSpc>
                <a:spcPct val="120000"/>
              </a:lnSpc>
              <a:defRPr/>
            </a:pPr>
            <a:r>
              <a:rPr lang="zh-CN" altLang="en-US" sz="1600" dirty="0"/>
              <a:t>文档应作为代码和口头交流的补充：口头交流可以解释代码的含义，因此可作为代码精确性和细节的补充。虽然交谈对于将人们与模型联系起来是至关重要的，但书面文档也是必不可少的。</a:t>
            </a:r>
            <a:endParaRPr lang="en-US" altLang="zh-CN" sz="1600" dirty="0"/>
          </a:p>
          <a:p>
            <a:pPr>
              <a:lnSpc>
                <a:spcPct val="120000"/>
              </a:lnSpc>
              <a:defRPr/>
            </a:pPr>
            <a:r>
              <a:rPr lang="zh-CN" altLang="en-US" sz="1600" dirty="0"/>
              <a:t>将代码作为设计文档也有局限性。它可能会把读代码的人淹没在细节中。尽管代码的行为是非常明确的，但这并不意味着其行为是显而易见的。</a:t>
            </a:r>
            <a:endParaRPr lang="en-US" altLang="zh-CN" sz="1600" dirty="0"/>
          </a:p>
          <a:p>
            <a:pPr>
              <a:lnSpc>
                <a:spcPct val="120000"/>
              </a:lnSpc>
              <a:defRPr/>
            </a:pPr>
            <a:r>
              <a:rPr lang="zh-CN" altLang="en-US" sz="1600" dirty="0"/>
              <a:t>解释性模型：解释性模型提供了一定的自由度，可以专门为某个特殊主题定制一些表达力更强的风格。</a:t>
            </a:r>
          </a:p>
        </p:txBody>
      </p:sp>
      <p:sp>
        <p:nvSpPr>
          <p:cNvPr id="4" name="标题 1">
            <a:extLst>
              <a:ext uri="{FF2B5EF4-FFF2-40B4-BE49-F238E27FC236}">
                <a16:creationId xmlns:a16="http://schemas.microsoft.com/office/drawing/2014/main" id="{1AA652A6-48D0-FA1C-9E97-60ED45194A07}"/>
              </a:ext>
            </a:extLst>
          </p:cNvPr>
          <p:cNvSpPr>
            <a:spLocks noGrp="1"/>
          </p:cNvSpPr>
          <p:nvPr>
            <p:ph type="title"/>
          </p:nvPr>
        </p:nvSpPr>
        <p:spPr>
          <a:xfrm>
            <a:off x="838200" y="365126"/>
            <a:ext cx="10515600" cy="806852"/>
          </a:xfrm>
        </p:spPr>
        <p:txBody>
          <a:bodyPr>
            <a:normAutofit/>
          </a:bodyPr>
          <a:lstStyle/>
          <a:p>
            <a:r>
              <a:rPr lang="zh-CN" altLang="en-US" sz="3200" dirty="0">
                <a:solidFill>
                  <a:srgbClr val="4ACBD6"/>
                </a:solidFill>
              </a:rPr>
              <a:t>第</a:t>
            </a:r>
            <a:r>
              <a:rPr lang="en-US" altLang="zh-CN" sz="3200" dirty="0">
                <a:solidFill>
                  <a:srgbClr val="4ACBD6"/>
                </a:solidFill>
              </a:rPr>
              <a:t>2</a:t>
            </a:r>
            <a:r>
              <a:rPr lang="zh-CN" altLang="en-US" sz="3200" dirty="0">
                <a:solidFill>
                  <a:srgbClr val="4ACBD6"/>
                </a:solidFill>
              </a:rPr>
              <a:t>章：语言的交流和使用</a:t>
            </a:r>
          </a:p>
        </p:txBody>
      </p:sp>
      <p:pic>
        <p:nvPicPr>
          <p:cNvPr id="6" name="图片 5">
            <a:extLst>
              <a:ext uri="{FF2B5EF4-FFF2-40B4-BE49-F238E27FC236}">
                <a16:creationId xmlns:a16="http://schemas.microsoft.com/office/drawing/2014/main" id="{1C50814B-7E67-8B86-F4E8-6B2142AB295F}"/>
              </a:ext>
            </a:extLst>
          </p:cNvPr>
          <p:cNvPicPr>
            <a:picLocks noChangeAspect="1"/>
          </p:cNvPicPr>
          <p:nvPr/>
        </p:nvPicPr>
        <p:blipFill>
          <a:blip r:embed="rId2"/>
          <a:stretch>
            <a:fillRect/>
          </a:stretch>
        </p:blipFill>
        <p:spPr>
          <a:xfrm>
            <a:off x="6518040" y="2235625"/>
            <a:ext cx="5257800" cy="3279518"/>
          </a:xfrm>
          <a:prstGeom prst="rect">
            <a:avLst/>
          </a:prstGeom>
        </p:spPr>
      </p:pic>
    </p:spTree>
    <p:extLst>
      <p:ext uri="{BB962C8B-B14F-4D97-AF65-F5344CB8AC3E}">
        <p14:creationId xmlns:p14="http://schemas.microsoft.com/office/powerpoint/2010/main" val="957169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56553-761F-19B9-6819-518BD1D58B9B}"/>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46EF1CB1-19DC-7899-1486-189AFB2F3A38}"/>
              </a:ext>
            </a:extLst>
          </p:cNvPr>
          <p:cNvSpPr>
            <a:spLocks noGrp="1"/>
          </p:cNvSpPr>
          <p:nvPr>
            <p:ph idx="1"/>
          </p:nvPr>
        </p:nvSpPr>
        <p:spPr>
          <a:xfrm>
            <a:off x="838199" y="1171978"/>
            <a:ext cx="10515599" cy="5320896"/>
          </a:xfrm>
        </p:spPr>
        <p:txBody>
          <a:bodyPr>
            <a:normAutofit lnSpcReduction="10000"/>
          </a:bodyPr>
          <a:lstStyle/>
          <a:p>
            <a:pPr marL="0" indent="0">
              <a:lnSpc>
                <a:spcPct val="120000"/>
              </a:lnSpc>
              <a:buNone/>
            </a:pPr>
            <a:r>
              <a:rPr lang="zh-CN" altLang="en-US" sz="2000" b="1" dirty="0"/>
              <a:t>模型驱动设计模式（</a:t>
            </a:r>
            <a:r>
              <a:rPr lang="en-US" altLang="zh-CN" sz="2000" b="1" dirty="0"/>
              <a:t>Model-Driven Design</a:t>
            </a:r>
            <a:r>
              <a:rPr lang="zh-CN" altLang="en-US" sz="2000" b="1" dirty="0"/>
              <a:t>）</a:t>
            </a:r>
            <a:endParaRPr lang="en-US" altLang="zh-CN" sz="2000" b="1" dirty="0"/>
          </a:p>
          <a:p>
            <a:pPr>
              <a:lnSpc>
                <a:spcPct val="120000"/>
              </a:lnSpc>
            </a:pPr>
            <a:r>
              <a:rPr lang="zh-CN" altLang="en-US" sz="1800" dirty="0"/>
              <a:t>软件系统各个部分的设计应该忠实地反映领域模型，以便体现出这二者之间的明确对应关系。我们应该反复检查并修改模型，以便软件可以更加自然地实现模型，即使想让模型反映出更深层次的领域概念时也应如此。我们需要的模型不但应该满足这两种需求，还应该能够支持健壮的通用语言。</a:t>
            </a:r>
            <a:endParaRPr lang="en-US" altLang="zh-CN" sz="1800" dirty="0"/>
          </a:p>
          <a:p>
            <a:pPr>
              <a:lnSpc>
                <a:spcPct val="120000"/>
              </a:lnSpc>
            </a:pPr>
            <a:r>
              <a:rPr lang="zh-CN" altLang="en-US" sz="1800" dirty="0"/>
              <a:t>传统方法：分析阶段产出一个</a:t>
            </a:r>
            <a:r>
              <a:rPr lang="en-US" altLang="zh-CN" sz="1800" dirty="0"/>
              <a:t>“</a:t>
            </a:r>
            <a:r>
              <a:rPr lang="zh-CN" altLang="en-US" sz="1800" dirty="0"/>
              <a:t>分析模型</a:t>
            </a:r>
            <a:r>
              <a:rPr lang="en-US" altLang="zh-CN" sz="1800" dirty="0"/>
              <a:t>”</a:t>
            </a:r>
            <a:r>
              <a:rPr lang="zh-CN" altLang="en-US" sz="1800" dirty="0"/>
              <a:t>（全是业务概念），设计阶段翻译成</a:t>
            </a:r>
            <a:r>
              <a:rPr lang="en-US" altLang="zh-CN" sz="1800" dirty="0"/>
              <a:t>“</a:t>
            </a:r>
            <a:r>
              <a:rPr lang="zh-CN" altLang="en-US" sz="1800" dirty="0"/>
              <a:t>设计模型</a:t>
            </a:r>
            <a:r>
              <a:rPr lang="en-US" altLang="zh-CN" sz="1800" dirty="0"/>
              <a:t>”</a:t>
            </a:r>
            <a:r>
              <a:rPr lang="zh-CN" altLang="en-US" sz="1800" dirty="0"/>
              <a:t>（全是技术概念），开发阶段再翻译成代码。每一步翻译都会丢失信息，最终代码和分析模型几乎没有关系。代码改了对分析模型没影响，分析模型变成</a:t>
            </a:r>
            <a:r>
              <a:rPr lang="en-US" altLang="zh-CN" sz="1800" dirty="0"/>
              <a:t>"</a:t>
            </a:r>
            <a:r>
              <a:rPr lang="zh-CN" altLang="en-US" sz="1800" dirty="0"/>
              <a:t>墙上挂的画</a:t>
            </a:r>
            <a:r>
              <a:rPr lang="en-US" altLang="zh-CN" sz="1800" dirty="0"/>
              <a:t>"</a:t>
            </a:r>
          </a:p>
          <a:p>
            <a:pPr>
              <a:lnSpc>
                <a:spcPct val="120000"/>
              </a:lnSpc>
            </a:pPr>
            <a:r>
              <a:rPr lang="en-US" altLang="zh-CN" sz="1800" dirty="0"/>
              <a:t>DDD </a:t>
            </a:r>
            <a:r>
              <a:rPr lang="zh-CN" altLang="en-US" sz="1800" dirty="0"/>
              <a:t>的方法：只有一个模型</a:t>
            </a:r>
            <a:r>
              <a:rPr lang="en-US" altLang="zh-CN" sz="1800" dirty="0"/>
              <a:t>——</a:t>
            </a:r>
            <a:r>
              <a:rPr lang="zh-CN" altLang="en-US" sz="1800" dirty="0"/>
              <a:t>它既用于分析，也直接体现在代码中代码改了，就是模型改了；模型改了，代码也要跟着改</a:t>
            </a:r>
            <a:endParaRPr lang="en-US" altLang="zh-CN" sz="1800" dirty="0"/>
          </a:p>
          <a:p>
            <a:pPr>
              <a:lnSpc>
                <a:spcPct val="120000"/>
              </a:lnSpc>
            </a:pPr>
            <a:r>
              <a:rPr lang="zh-CN" altLang="en-US" sz="1800" dirty="0"/>
              <a:t>面向对象是 </a:t>
            </a:r>
            <a:r>
              <a:rPr lang="en-US" altLang="zh-CN" sz="1800" dirty="0"/>
              <a:t>DDD </a:t>
            </a:r>
            <a:r>
              <a:rPr lang="zh-CN" altLang="en-US" sz="1800" dirty="0"/>
              <a:t>最自然的搭档：领域中的</a:t>
            </a:r>
            <a:r>
              <a:rPr lang="en-US" altLang="zh-CN" sz="1800" dirty="0"/>
              <a:t>“</a:t>
            </a:r>
            <a:r>
              <a:rPr lang="zh-CN" altLang="en-US" sz="1800" dirty="0"/>
              <a:t>物</a:t>
            </a:r>
            <a:r>
              <a:rPr lang="en-US" altLang="zh-CN" sz="1800" dirty="0"/>
              <a:t>” → </a:t>
            </a:r>
            <a:r>
              <a:rPr lang="zh-CN" altLang="en-US" sz="1800" dirty="0"/>
              <a:t>类，领域中的</a:t>
            </a:r>
            <a:r>
              <a:rPr lang="en-US" altLang="zh-CN" sz="1800" dirty="0"/>
              <a:t>“</a:t>
            </a:r>
            <a:r>
              <a:rPr lang="zh-CN" altLang="en-US" sz="1800" dirty="0"/>
              <a:t>关系</a:t>
            </a:r>
            <a:r>
              <a:rPr lang="en-US" altLang="zh-CN" sz="1800" dirty="0"/>
              <a:t>” → </a:t>
            </a:r>
            <a:r>
              <a:rPr lang="zh-CN" altLang="en-US" sz="1800" dirty="0"/>
              <a:t>关联，领域中的</a:t>
            </a:r>
            <a:r>
              <a:rPr lang="en-US" altLang="zh-CN" sz="1800" dirty="0"/>
              <a:t>“</a:t>
            </a:r>
            <a:r>
              <a:rPr lang="zh-CN" altLang="en-US" sz="1800" dirty="0"/>
              <a:t>行为</a:t>
            </a:r>
            <a:r>
              <a:rPr lang="en-US" altLang="zh-CN" sz="1800" dirty="0"/>
              <a:t>” → </a:t>
            </a:r>
            <a:r>
              <a:rPr lang="zh-CN" altLang="en-US" sz="1800" dirty="0"/>
              <a:t>方法，领域中的</a:t>
            </a:r>
            <a:r>
              <a:rPr lang="en-US" altLang="zh-CN" sz="1800" dirty="0"/>
              <a:t>“</a:t>
            </a:r>
            <a:r>
              <a:rPr lang="zh-CN" altLang="en-US" sz="1800" dirty="0"/>
              <a:t>规则</a:t>
            </a:r>
            <a:r>
              <a:rPr lang="en-US" altLang="zh-CN" sz="1800" dirty="0"/>
              <a:t>” → </a:t>
            </a:r>
            <a:r>
              <a:rPr lang="zh-CN" altLang="en-US" sz="1800" dirty="0"/>
              <a:t>不变式。其他范式也可以（函数式、逻辑式），但必须保证模型可以被直接、自然地表达。</a:t>
            </a:r>
            <a:endParaRPr lang="en-US" altLang="zh-CN" sz="1800" dirty="0"/>
          </a:p>
          <a:p>
            <a:pPr>
              <a:lnSpc>
                <a:spcPct val="120000"/>
              </a:lnSpc>
            </a:pPr>
            <a:r>
              <a:rPr lang="zh-CN" altLang="en-US" sz="1800" dirty="0"/>
              <a:t>开发者必须是动手的建模者，不是</a:t>
            </a:r>
            <a:r>
              <a:rPr lang="en-US" altLang="zh-CN" sz="1800" dirty="0"/>
              <a:t>“</a:t>
            </a:r>
            <a:r>
              <a:rPr lang="zh-CN" altLang="en-US" sz="1800" dirty="0"/>
              <a:t>架构师画好图，程序员对着写代码</a:t>
            </a:r>
            <a:r>
              <a:rPr lang="en-US" altLang="zh-CN" sz="1800" dirty="0"/>
              <a:t>”</a:t>
            </a:r>
            <a:r>
              <a:rPr lang="zh-CN" altLang="en-US" sz="1800" dirty="0"/>
              <a:t>，而是每个写代码的人都参与建模，建模的思考直接在键盘上发生</a:t>
            </a:r>
            <a:endParaRPr lang="en-US" altLang="zh-CN" sz="1800" dirty="0"/>
          </a:p>
        </p:txBody>
      </p:sp>
      <p:sp>
        <p:nvSpPr>
          <p:cNvPr id="4" name="标题 1">
            <a:extLst>
              <a:ext uri="{FF2B5EF4-FFF2-40B4-BE49-F238E27FC236}">
                <a16:creationId xmlns:a16="http://schemas.microsoft.com/office/drawing/2014/main" id="{C423CCF4-5274-D0EA-625E-4D86BB3DC805}"/>
              </a:ext>
            </a:extLst>
          </p:cNvPr>
          <p:cNvSpPr>
            <a:spLocks noGrp="1"/>
          </p:cNvSpPr>
          <p:nvPr>
            <p:ph type="title"/>
          </p:nvPr>
        </p:nvSpPr>
        <p:spPr>
          <a:xfrm>
            <a:off x="838200" y="365126"/>
            <a:ext cx="10515600" cy="806852"/>
          </a:xfrm>
        </p:spPr>
        <p:txBody>
          <a:bodyPr>
            <a:normAutofit/>
          </a:bodyPr>
          <a:lstStyle/>
          <a:p>
            <a:r>
              <a:rPr lang="zh-CN" altLang="en-US" sz="3200" dirty="0">
                <a:solidFill>
                  <a:srgbClr val="4ACBD6"/>
                </a:solidFill>
              </a:rPr>
              <a:t>第</a:t>
            </a:r>
            <a:r>
              <a:rPr lang="en-US" altLang="zh-CN" sz="3200" dirty="0">
                <a:solidFill>
                  <a:srgbClr val="4ACBD6"/>
                </a:solidFill>
              </a:rPr>
              <a:t>3</a:t>
            </a:r>
            <a:r>
              <a:rPr lang="zh-CN" altLang="en-US" sz="3200" dirty="0">
                <a:solidFill>
                  <a:srgbClr val="4ACBD6"/>
                </a:solidFill>
              </a:rPr>
              <a:t>章：绑定模型和实现</a:t>
            </a:r>
          </a:p>
        </p:txBody>
      </p:sp>
    </p:spTree>
    <p:extLst>
      <p:ext uri="{BB962C8B-B14F-4D97-AF65-F5344CB8AC3E}">
        <p14:creationId xmlns:p14="http://schemas.microsoft.com/office/powerpoint/2010/main" val="3287704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A46DE-2655-5FAD-376B-88F07AA6421B}"/>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E07C5F80-527B-0DFF-F9CB-7E7044F312FA}"/>
              </a:ext>
            </a:extLst>
          </p:cNvPr>
          <p:cNvSpPr>
            <a:spLocks noGrp="1"/>
          </p:cNvSpPr>
          <p:nvPr>
            <p:ph idx="1"/>
          </p:nvPr>
        </p:nvSpPr>
        <p:spPr>
          <a:xfrm>
            <a:off x="838199" y="1171978"/>
            <a:ext cx="10576459" cy="5554078"/>
          </a:xfrm>
        </p:spPr>
        <p:txBody>
          <a:bodyPr>
            <a:noAutofit/>
          </a:bodyPr>
          <a:lstStyle/>
          <a:p>
            <a:r>
              <a:rPr lang="zh-CN" altLang="en-US" sz="1800" dirty="0"/>
              <a:t>软件中，专门用于解决领域问题的那部分通常只占整个软件系统的很小一部分，这与其重要性远远不成比例。要想实现最佳的设计构思，就得去研究模型中的元素并且将它们视为一个系统。我们需要将领域对象与系统中的其他功能分离，这样就能够避免将领域概念和其他只与软件技术相关的概念相混淆，也不会把领域与整个软件系统混为一谈。</a:t>
            </a:r>
            <a:endParaRPr lang="en-US" altLang="zh-CN" sz="1800" dirty="0"/>
          </a:p>
          <a:p>
            <a:r>
              <a:rPr lang="zh-CN" altLang="en-US" sz="1800" dirty="0"/>
              <a:t>分离领域的复杂技术早已出现，而且都是我们耳熟能详的，但是它对于能否成功运用领域建模原则起着非常关键的作用，所以我们要从领域驱动的视角对它进行简要的回顾。</a:t>
            </a:r>
            <a:endParaRPr lang="en-US" altLang="zh-CN" sz="1800" dirty="0"/>
          </a:p>
          <a:p>
            <a:r>
              <a:rPr lang="zh-CN" altLang="en-US" sz="1800" dirty="0"/>
              <a:t>分层架构：给复杂的应用程序划分层次。在每一层内分别进行设计，使其具有内聚性并且只依赖于它的下层。采用标准的架构模式，只与上层进行松散的耦合。</a:t>
            </a:r>
            <a:endParaRPr lang="en-US" altLang="zh-CN" sz="1800" dirty="0"/>
          </a:p>
          <a:p>
            <a:r>
              <a:rPr lang="en-US" altLang="zh-CN" sz="1800" dirty="0"/>
              <a:t>DDD </a:t>
            </a:r>
            <a:r>
              <a:rPr lang="zh-CN" altLang="en-US" sz="1800" dirty="0"/>
              <a:t>推荐四层架构层级：领域层在最内侧，不依赖任何其他层（除了基础的编程语言和工具库）。</a:t>
            </a:r>
            <a:endParaRPr lang="en-US" altLang="zh-CN" sz="1800" dirty="0"/>
          </a:p>
          <a:p>
            <a:pPr marL="0" indent="0">
              <a:buNone/>
            </a:pPr>
            <a:endParaRPr lang="en-US" altLang="zh-CN" sz="1800" dirty="0"/>
          </a:p>
        </p:txBody>
      </p:sp>
      <p:sp>
        <p:nvSpPr>
          <p:cNvPr id="14" name="标题 1">
            <a:extLst>
              <a:ext uri="{FF2B5EF4-FFF2-40B4-BE49-F238E27FC236}">
                <a16:creationId xmlns:a16="http://schemas.microsoft.com/office/drawing/2014/main" id="{A6F37C2D-703F-F3EF-7B2C-49461428739C}"/>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4</a:t>
            </a:r>
            <a:r>
              <a:rPr lang="zh-CN" altLang="en-US" sz="3200" dirty="0">
                <a:solidFill>
                  <a:srgbClr val="4ACBD6"/>
                </a:solidFill>
              </a:rPr>
              <a:t>章：分离领域</a:t>
            </a:r>
          </a:p>
        </p:txBody>
      </p:sp>
      <p:graphicFrame>
        <p:nvGraphicFramePr>
          <p:cNvPr id="8" name="表格 7">
            <a:extLst>
              <a:ext uri="{FF2B5EF4-FFF2-40B4-BE49-F238E27FC236}">
                <a16:creationId xmlns:a16="http://schemas.microsoft.com/office/drawing/2014/main" id="{13F3C3C2-CF56-6D11-1ABA-07086D86CB2E}"/>
              </a:ext>
            </a:extLst>
          </p:cNvPr>
          <p:cNvGraphicFramePr>
            <a:graphicFrameLocks noGrp="1"/>
          </p:cNvGraphicFramePr>
          <p:nvPr>
            <p:extLst>
              <p:ext uri="{D42A27DB-BD31-4B8C-83A1-F6EECF244321}">
                <p14:modId xmlns:p14="http://schemas.microsoft.com/office/powerpoint/2010/main" val="226027136"/>
              </p:ext>
            </p:extLst>
          </p:nvPr>
        </p:nvGraphicFramePr>
        <p:xfrm>
          <a:off x="1136010" y="3949017"/>
          <a:ext cx="10217790" cy="1854200"/>
        </p:xfrm>
        <a:graphic>
          <a:graphicData uri="http://schemas.openxmlformats.org/drawingml/2006/table">
            <a:tbl>
              <a:tblPr firstRow="1" bandRow="1">
                <a:tableStyleId>{5C22544A-7EE6-4342-B048-85BDC9FD1C3A}</a:tableStyleId>
              </a:tblPr>
              <a:tblGrid>
                <a:gridCol w="3405930">
                  <a:extLst>
                    <a:ext uri="{9D8B030D-6E8A-4147-A177-3AD203B41FA5}">
                      <a16:colId xmlns:a16="http://schemas.microsoft.com/office/drawing/2014/main" val="933687722"/>
                    </a:ext>
                  </a:extLst>
                </a:gridCol>
                <a:gridCol w="3405930">
                  <a:extLst>
                    <a:ext uri="{9D8B030D-6E8A-4147-A177-3AD203B41FA5}">
                      <a16:colId xmlns:a16="http://schemas.microsoft.com/office/drawing/2014/main" val="3683214579"/>
                    </a:ext>
                  </a:extLst>
                </a:gridCol>
                <a:gridCol w="3405930">
                  <a:extLst>
                    <a:ext uri="{9D8B030D-6E8A-4147-A177-3AD203B41FA5}">
                      <a16:colId xmlns:a16="http://schemas.microsoft.com/office/drawing/2014/main" val="1316556024"/>
                    </a:ext>
                  </a:extLst>
                </a:gridCol>
              </a:tblGrid>
              <a:tr h="370840">
                <a:tc>
                  <a:txBody>
                    <a:bodyPr/>
                    <a:lstStyle/>
                    <a:p>
                      <a:pPr>
                        <a:buNone/>
                      </a:pPr>
                      <a:r>
                        <a:rPr lang="zh-CN" altLang="en-US" dirty="0">
                          <a:effectLst/>
                        </a:rPr>
                        <a:t>层级</a:t>
                      </a:r>
                    </a:p>
                  </a:txBody>
                  <a:tcPr marL="25400" marR="25400" marT="25400" marB="25400" anchor="ctr"/>
                </a:tc>
                <a:tc>
                  <a:txBody>
                    <a:bodyPr/>
                    <a:lstStyle/>
                    <a:p>
                      <a:pPr>
                        <a:buNone/>
                      </a:pPr>
                      <a:r>
                        <a:rPr lang="zh-CN" altLang="en-US">
                          <a:effectLst/>
                        </a:rPr>
                        <a:t>职责</a:t>
                      </a:r>
                    </a:p>
                  </a:txBody>
                  <a:tcPr marL="25400" marR="25400" marT="25400" marB="25400" anchor="ctr"/>
                </a:tc>
                <a:tc>
                  <a:txBody>
                    <a:bodyPr/>
                    <a:lstStyle/>
                    <a:p>
                      <a:pPr>
                        <a:buNone/>
                      </a:pPr>
                      <a:r>
                        <a:rPr lang="zh-CN" altLang="en-US">
                          <a:effectLst/>
                        </a:rPr>
                        <a:t>示例</a:t>
                      </a:r>
                    </a:p>
                  </a:txBody>
                  <a:tcPr marL="25400" marR="25400" marT="25400" marB="25400" anchor="ctr"/>
                </a:tc>
                <a:extLst>
                  <a:ext uri="{0D108BD9-81ED-4DB2-BD59-A6C34878D82A}">
                    <a16:rowId xmlns:a16="http://schemas.microsoft.com/office/drawing/2014/main" val="4082935029"/>
                  </a:ext>
                </a:extLst>
              </a:tr>
              <a:tr h="370840">
                <a:tc>
                  <a:txBody>
                    <a:bodyPr/>
                    <a:lstStyle/>
                    <a:p>
                      <a:pPr>
                        <a:buNone/>
                      </a:pPr>
                      <a:r>
                        <a:rPr lang="zh-CN" altLang="en-US" b="1" dirty="0">
                          <a:effectLst/>
                        </a:rPr>
                        <a:t>用户界面层（</a:t>
                      </a:r>
                      <a:r>
                        <a:rPr lang="en-US" altLang="zh-CN" b="1" dirty="0">
                          <a:effectLst/>
                        </a:rPr>
                        <a:t>UI</a:t>
                      </a:r>
                      <a:r>
                        <a:rPr lang="zh-CN" altLang="en-US" b="1" dirty="0">
                          <a:effectLst/>
                        </a:rPr>
                        <a:t>）</a:t>
                      </a:r>
                      <a:endParaRPr lang="zh-CN" altLang="en-US" dirty="0">
                        <a:effectLst/>
                      </a:endParaRPr>
                    </a:p>
                  </a:txBody>
                  <a:tcPr marL="25400" marR="25400" marT="25400" marB="25400" anchor="ctr"/>
                </a:tc>
                <a:tc>
                  <a:txBody>
                    <a:bodyPr/>
                    <a:lstStyle/>
                    <a:p>
                      <a:pPr>
                        <a:buNone/>
                      </a:pPr>
                      <a:r>
                        <a:rPr lang="zh-CN" altLang="en-US">
                          <a:effectLst/>
                        </a:rPr>
                        <a:t>展示信息，接收用户输入</a:t>
                      </a:r>
                    </a:p>
                  </a:txBody>
                  <a:tcPr marL="25400" marR="25400" marT="25400" marB="25400" anchor="ctr"/>
                </a:tc>
                <a:tc>
                  <a:txBody>
                    <a:bodyPr/>
                    <a:lstStyle/>
                    <a:p>
                      <a:pPr>
                        <a:buNone/>
                      </a:pPr>
                      <a:r>
                        <a:rPr lang="en-US" altLang="zh-CN">
                          <a:effectLst/>
                        </a:rPr>
                        <a:t>Web</a:t>
                      </a:r>
                      <a:r>
                        <a:rPr lang="zh-CN" altLang="en-US">
                          <a:effectLst/>
                        </a:rPr>
                        <a:t>页面、</a:t>
                      </a:r>
                      <a:r>
                        <a:rPr lang="en-US" altLang="zh-CN">
                          <a:effectLst/>
                        </a:rPr>
                        <a:t>CLI</a:t>
                      </a:r>
                      <a:r>
                        <a:rPr lang="zh-CN" altLang="en-US">
                          <a:effectLst/>
                        </a:rPr>
                        <a:t>、</a:t>
                      </a:r>
                      <a:r>
                        <a:rPr lang="en-US" altLang="zh-CN">
                          <a:effectLst/>
                        </a:rPr>
                        <a:t>API</a:t>
                      </a:r>
                      <a:r>
                        <a:rPr lang="zh-CN" altLang="en-US">
                          <a:effectLst/>
                        </a:rPr>
                        <a:t>响应格式</a:t>
                      </a:r>
                    </a:p>
                  </a:txBody>
                  <a:tcPr marL="25400" marR="25400" marT="25400" marB="25400" anchor="ctr"/>
                </a:tc>
                <a:extLst>
                  <a:ext uri="{0D108BD9-81ED-4DB2-BD59-A6C34878D82A}">
                    <a16:rowId xmlns:a16="http://schemas.microsoft.com/office/drawing/2014/main" val="2317073893"/>
                  </a:ext>
                </a:extLst>
              </a:tr>
              <a:tr h="370840">
                <a:tc>
                  <a:txBody>
                    <a:bodyPr/>
                    <a:lstStyle/>
                    <a:p>
                      <a:pPr>
                        <a:buNone/>
                      </a:pPr>
                      <a:r>
                        <a:rPr lang="zh-CN" altLang="en-US" b="1">
                          <a:effectLst/>
                        </a:rPr>
                        <a:t>应用层（</a:t>
                      </a:r>
                      <a:r>
                        <a:rPr lang="en-US" b="1">
                          <a:effectLst/>
                        </a:rPr>
                        <a:t>Application）</a:t>
                      </a:r>
                      <a:endParaRPr lang="en-US">
                        <a:effectLst/>
                      </a:endParaRPr>
                    </a:p>
                  </a:txBody>
                  <a:tcPr marL="25400" marR="25400" marT="25400" marB="25400" anchor="ctr"/>
                </a:tc>
                <a:tc>
                  <a:txBody>
                    <a:bodyPr/>
                    <a:lstStyle/>
                    <a:p>
                      <a:pPr>
                        <a:buNone/>
                      </a:pPr>
                      <a:r>
                        <a:rPr lang="zh-CN" altLang="en-US">
                          <a:effectLst/>
                        </a:rPr>
                        <a:t>编排任务，协调领域对象</a:t>
                      </a:r>
                    </a:p>
                  </a:txBody>
                  <a:tcPr marL="25400" marR="25400" marT="25400" marB="25400" anchor="ctr"/>
                </a:tc>
                <a:tc>
                  <a:txBody>
                    <a:bodyPr/>
                    <a:lstStyle/>
                    <a:p>
                      <a:pPr>
                        <a:buNone/>
                      </a:pPr>
                      <a:r>
                        <a:rPr lang="zh-CN" altLang="en-US">
                          <a:effectLst/>
                        </a:rPr>
                        <a:t>用例（</a:t>
                      </a:r>
                      <a:r>
                        <a:rPr lang="en-US">
                          <a:effectLst/>
                        </a:rPr>
                        <a:t>Use Case）、</a:t>
                      </a:r>
                      <a:r>
                        <a:rPr lang="zh-CN" altLang="en-US">
                          <a:effectLst/>
                        </a:rPr>
                        <a:t>事务管理</a:t>
                      </a:r>
                    </a:p>
                  </a:txBody>
                  <a:tcPr marL="25400" marR="25400" marT="25400" marB="25400" anchor="ctr"/>
                </a:tc>
                <a:extLst>
                  <a:ext uri="{0D108BD9-81ED-4DB2-BD59-A6C34878D82A}">
                    <a16:rowId xmlns:a16="http://schemas.microsoft.com/office/drawing/2014/main" val="305346836"/>
                  </a:ext>
                </a:extLst>
              </a:tr>
              <a:tr h="370840">
                <a:tc>
                  <a:txBody>
                    <a:bodyPr/>
                    <a:lstStyle/>
                    <a:p>
                      <a:pPr>
                        <a:buNone/>
                      </a:pPr>
                      <a:r>
                        <a:rPr lang="zh-CN" altLang="en-US" b="1">
                          <a:effectLst/>
                        </a:rPr>
                        <a:t>领域层（</a:t>
                      </a:r>
                      <a:r>
                        <a:rPr lang="en-US" b="1">
                          <a:effectLst/>
                        </a:rPr>
                        <a:t>Domain）</a:t>
                      </a:r>
                      <a:endParaRPr lang="en-US">
                        <a:effectLst/>
                      </a:endParaRPr>
                    </a:p>
                  </a:txBody>
                  <a:tcPr marL="25400" marR="25400" marT="25400" marB="25400" anchor="ctr"/>
                </a:tc>
                <a:tc>
                  <a:txBody>
                    <a:bodyPr/>
                    <a:lstStyle/>
                    <a:p>
                      <a:pPr>
                        <a:buNone/>
                      </a:pPr>
                      <a:r>
                        <a:rPr lang="zh-CN" altLang="en-US">
                          <a:effectLst/>
                        </a:rPr>
                        <a:t>核心业务逻辑和规则</a:t>
                      </a:r>
                    </a:p>
                  </a:txBody>
                  <a:tcPr marL="25400" marR="25400" marT="25400" marB="25400" anchor="ctr"/>
                </a:tc>
                <a:tc>
                  <a:txBody>
                    <a:bodyPr/>
                    <a:lstStyle/>
                    <a:p>
                      <a:pPr>
                        <a:buNone/>
                      </a:pPr>
                      <a:r>
                        <a:rPr lang="zh-CN" altLang="en-US">
                          <a:effectLst/>
                        </a:rPr>
                        <a:t>实体、值对象、领域服务</a:t>
                      </a:r>
                    </a:p>
                  </a:txBody>
                  <a:tcPr marL="25400" marR="25400" marT="25400" marB="25400" anchor="ctr"/>
                </a:tc>
                <a:extLst>
                  <a:ext uri="{0D108BD9-81ED-4DB2-BD59-A6C34878D82A}">
                    <a16:rowId xmlns:a16="http://schemas.microsoft.com/office/drawing/2014/main" val="288800051"/>
                  </a:ext>
                </a:extLst>
              </a:tr>
              <a:tr h="370840">
                <a:tc>
                  <a:txBody>
                    <a:bodyPr/>
                    <a:lstStyle/>
                    <a:p>
                      <a:pPr>
                        <a:buNone/>
                      </a:pPr>
                      <a:r>
                        <a:rPr lang="zh-CN" altLang="en-US" b="1">
                          <a:effectLst/>
                        </a:rPr>
                        <a:t>基础设施层（</a:t>
                      </a:r>
                      <a:r>
                        <a:rPr lang="en-US" b="1">
                          <a:effectLst/>
                        </a:rPr>
                        <a:t>Infrastructure）</a:t>
                      </a:r>
                      <a:endParaRPr lang="en-US">
                        <a:effectLst/>
                      </a:endParaRPr>
                    </a:p>
                  </a:txBody>
                  <a:tcPr marL="25400" marR="25400" marT="25400" marB="25400" anchor="ctr"/>
                </a:tc>
                <a:tc>
                  <a:txBody>
                    <a:bodyPr/>
                    <a:lstStyle/>
                    <a:p>
                      <a:pPr>
                        <a:buNone/>
                      </a:pPr>
                      <a:r>
                        <a:rPr lang="zh-CN" altLang="en-US">
                          <a:effectLst/>
                        </a:rPr>
                        <a:t>技术支撑，持久化，消息</a:t>
                      </a:r>
                    </a:p>
                  </a:txBody>
                  <a:tcPr marL="25400" marR="25400" marT="25400" marB="25400" anchor="ctr"/>
                </a:tc>
                <a:tc>
                  <a:txBody>
                    <a:bodyPr/>
                    <a:lstStyle/>
                    <a:p>
                      <a:pPr>
                        <a:buNone/>
                      </a:pPr>
                      <a:r>
                        <a:rPr lang="zh-CN" altLang="en-US" dirty="0">
                          <a:effectLst/>
                        </a:rPr>
                        <a:t>数据库访问、邮件发送、</a:t>
                      </a:r>
                      <a:r>
                        <a:rPr lang="en-US" altLang="zh-CN" dirty="0">
                          <a:effectLst/>
                        </a:rPr>
                        <a:t>ORM</a:t>
                      </a:r>
                    </a:p>
                  </a:txBody>
                  <a:tcPr marL="25400" marR="25400" marT="25400" marB="25400" anchor="ctr"/>
                </a:tc>
                <a:extLst>
                  <a:ext uri="{0D108BD9-81ED-4DB2-BD59-A6C34878D82A}">
                    <a16:rowId xmlns:a16="http://schemas.microsoft.com/office/drawing/2014/main" val="3521790354"/>
                  </a:ext>
                </a:extLst>
              </a:tr>
            </a:tbl>
          </a:graphicData>
        </a:graphic>
      </p:graphicFrame>
    </p:spTree>
    <p:extLst>
      <p:ext uri="{BB962C8B-B14F-4D97-AF65-F5344CB8AC3E}">
        <p14:creationId xmlns:p14="http://schemas.microsoft.com/office/powerpoint/2010/main" val="1473263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B5829-DD04-6976-AD1F-9E045AB1437D}"/>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83884E51-75CB-5D8E-262E-3E2428599103}"/>
              </a:ext>
            </a:extLst>
          </p:cNvPr>
          <p:cNvSpPr>
            <a:spLocks noGrp="1"/>
          </p:cNvSpPr>
          <p:nvPr>
            <p:ph idx="1"/>
          </p:nvPr>
        </p:nvSpPr>
        <p:spPr>
          <a:xfrm>
            <a:off x="838200" y="1171978"/>
            <a:ext cx="10276703" cy="5320896"/>
          </a:xfrm>
        </p:spPr>
        <p:txBody>
          <a:bodyPr>
            <a:normAutofit/>
          </a:bodyPr>
          <a:lstStyle/>
          <a:p>
            <a:r>
              <a:rPr lang="zh-CN" altLang="en-US" sz="1800" dirty="0"/>
              <a:t>领域模型是一系列概念的集合。“领域层”则是领域模型以及所有与其直接相关的设计元素的表现，它由业务逻辑的设计和实现组成。在</a:t>
            </a:r>
            <a:r>
              <a:rPr lang="en-US" altLang="zh-CN" sz="1800" dirty="0"/>
              <a:t>MODEL-DRIVEN DESIGN</a:t>
            </a:r>
            <a:r>
              <a:rPr lang="zh-CN" altLang="en-US" sz="1800" dirty="0"/>
              <a:t>中，领域层的软件构造反映出了模型概念。</a:t>
            </a:r>
            <a:endParaRPr lang="en-US" altLang="zh-CN" sz="1800" dirty="0"/>
          </a:p>
          <a:p>
            <a:r>
              <a:rPr lang="zh-CN" altLang="en-US" sz="1800" dirty="0"/>
              <a:t>分层架构各层之间需要互相连接。在连接各层的同时不影响分离带来的好处，这是很多模式的目的所在。</a:t>
            </a:r>
            <a:endParaRPr lang="en-US" altLang="zh-CN" sz="1800" dirty="0"/>
          </a:p>
          <a:p>
            <a:r>
              <a:rPr lang="zh-CN" altLang="en-US" sz="1800" dirty="0"/>
              <a:t>上调下：各层之间是松散连接的，层与层的依赖关系只能是单向的。上层可以直接使用或操作下层元素，方法是通过调用下层元素的公共接口，保持对下层元素的引用</a:t>
            </a:r>
            <a:r>
              <a:rPr lang="en-US" altLang="zh-CN" sz="1800" dirty="0"/>
              <a:t>(</a:t>
            </a:r>
            <a:r>
              <a:rPr lang="zh-CN" altLang="en-US" sz="1800" dirty="0"/>
              <a:t>至少是暂时的</a:t>
            </a:r>
            <a:r>
              <a:rPr lang="en-US" altLang="zh-CN" sz="1800" dirty="0"/>
              <a:t>)</a:t>
            </a:r>
            <a:r>
              <a:rPr lang="zh-CN" altLang="en-US" sz="1800" dirty="0"/>
              <a:t>，以及采用常规的交互手段。</a:t>
            </a:r>
          </a:p>
          <a:p>
            <a:r>
              <a:rPr lang="zh-CN" altLang="en-US" sz="1800" dirty="0"/>
              <a:t>下调上：如回调模式或</a:t>
            </a:r>
            <a:r>
              <a:rPr lang="en-US" altLang="zh-CN" sz="1800" dirty="0"/>
              <a:t>OBSERVERS</a:t>
            </a:r>
            <a:r>
              <a:rPr lang="zh-CN" altLang="en-US" sz="1800" dirty="0"/>
              <a:t>模式。</a:t>
            </a:r>
            <a:endParaRPr lang="en-US" altLang="zh-CN" sz="1800" dirty="0"/>
          </a:p>
          <a:p>
            <a:r>
              <a:rPr lang="zh-CN" altLang="en-US" sz="1800" dirty="0"/>
              <a:t>应用层和领域层可以调用基础设施层所提供的</a:t>
            </a:r>
            <a:r>
              <a:rPr lang="en-US" altLang="zh-CN" sz="1800" dirty="0"/>
              <a:t>SERVICE</a:t>
            </a:r>
            <a:r>
              <a:rPr lang="zh-CN" altLang="en-US" sz="1800" dirty="0"/>
              <a:t>。如果</a:t>
            </a:r>
            <a:r>
              <a:rPr lang="en-US" altLang="zh-CN" sz="1800" dirty="0"/>
              <a:t>SERVICE</a:t>
            </a:r>
            <a:r>
              <a:rPr lang="zh-CN" altLang="en-US" sz="1800" dirty="0"/>
              <a:t>的范围选择合理，接口设计完善，那么通过把详细行为封装到服务接口中，调用程序就可以保持与</a:t>
            </a:r>
            <a:r>
              <a:rPr lang="en-US" altLang="zh-CN" sz="1800" dirty="0"/>
              <a:t>SERVICE</a:t>
            </a:r>
            <a:r>
              <a:rPr lang="zh-CN" altLang="en-US" sz="1800" dirty="0"/>
              <a:t>的松散连接，并且自身也会很简单。</a:t>
            </a:r>
            <a:endParaRPr lang="en-US" altLang="zh-CN" sz="1800" dirty="0"/>
          </a:p>
          <a:p>
            <a:r>
              <a:rPr lang="zh-CN" altLang="en-US" sz="1800" dirty="0"/>
              <a:t>反模式：如果项目简单，就不要硬套</a:t>
            </a:r>
            <a:r>
              <a:rPr lang="en-US" altLang="zh-CN" sz="1800" dirty="0"/>
              <a:t>DDD</a:t>
            </a:r>
            <a:r>
              <a:rPr lang="zh-CN" altLang="en-US" sz="1800" dirty="0"/>
              <a:t>。但如果你把业务逻辑全写在界面</a:t>
            </a:r>
            <a:r>
              <a:rPr lang="en-US" altLang="zh-CN" sz="1800" dirty="0"/>
              <a:t>/Controller</a:t>
            </a:r>
            <a:r>
              <a:rPr lang="zh-CN" altLang="en-US" sz="1800" dirty="0"/>
              <a:t>里，项目会变成</a:t>
            </a:r>
            <a:r>
              <a:rPr lang="en-US" altLang="zh-CN" sz="1800" dirty="0"/>
              <a:t>“</a:t>
            </a:r>
            <a:r>
              <a:rPr lang="zh-CN" altLang="en-US" sz="1800" dirty="0"/>
              <a:t>意大利面条</a:t>
            </a:r>
            <a:r>
              <a:rPr lang="en-US" altLang="zh-CN" sz="1800" dirty="0"/>
              <a:t>”——</a:t>
            </a:r>
            <a:r>
              <a:rPr lang="zh-CN" altLang="en-US" sz="1800" dirty="0"/>
              <a:t>这就是反模式。</a:t>
            </a:r>
          </a:p>
          <a:p>
            <a:r>
              <a:rPr lang="zh-CN" altLang="en-US" sz="1800" dirty="0"/>
              <a:t>反模式判断标准：项目是否有复杂的、需要持续演进的业务规则？有 → 分离领域层</a:t>
            </a:r>
            <a:endParaRPr lang="en-US" altLang="zh-CN" sz="1800" dirty="0"/>
          </a:p>
        </p:txBody>
      </p:sp>
      <p:sp>
        <p:nvSpPr>
          <p:cNvPr id="2" name="标题 1">
            <a:extLst>
              <a:ext uri="{FF2B5EF4-FFF2-40B4-BE49-F238E27FC236}">
                <a16:creationId xmlns:a16="http://schemas.microsoft.com/office/drawing/2014/main" id="{53E63310-22BD-1D44-ADDB-79128082B278}"/>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4</a:t>
            </a:r>
            <a:r>
              <a:rPr lang="zh-CN" altLang="en-US" sz="3200" dirty="0">
                <a:solidFill>
                  <a:srgbClr val="4ACBD6"/>
                </a:solidFill>
              </a:rPr>
              <a:t>章：分离领域</a:t>
            </a:r>
          </a:p>
        </p:txBody>
      </p:sp>
    </p:spTree>
    <p:extLst>
      <p:ext uri="{BB962C8B-B14F-4D97-AF65-F5344CB8AC3E}">
        <p14:creationId xmlns:p14="http://schemas.microsoft.com/office/powerpoint/2010/main" val="113943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167DD-1DAF-32D4-503A-7228DD74ABE7}"/>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D58F32CB-07DF-7809-AD21-DDB61532F4B3}"/>
              </a:ext>
            </a:extLst>
          </p:cNvPr>
          <p:cNvSpPr>
            <a:spLocks noGrp="1"/>
          </p:cNvSpPr>
          <p:nvPr>
            <p:ph idx="1"/>
          </p:nvPr>
        </p:nvSpPr>
        <p:spPr>
          <a:xfrm>
            <a:off x="838200" y="1171978"/>
            <a:ext cx="10832758" cy="5320896"/>
          </a:xfrm>
        </p:spPr>
        <p:txBody>
          <a:bodyPr>
            <a:normAutofit/>
          </a:bodyPr>
          <a:lstStyle/>
          <a:p>
            <a:r>
              <a:rPr lang="zh-CN" altLang="en-US" sz="1800" dirty="0"/>
              <a:t>模型组成要素：</a:t>
            </a:r>
            <a:r>
              <a:rPr lang="en-US" altLang="zh-CN" sz="1800" dirty="0"/>
              <a:t>ENTITY</a:t>
            </a:r>
            <a:r>
              <a:rPr lang="zh-CN" altLang="en-US" sz="1800" dirty="0"/>
              <a:t>（实体）、</a:t>
            </a:r>
            <a:r>
              <a:rPr lang="en-US" altLang="zh-CN" sz="1800" dirty="0"/>
              <a:t>VALUE OBJECT</a:t>
            </a:r>
            <a:r>
              <a:rPr lang="zh-CN" altLang="en-US" sz="1800" dirty="0"/>
              <a:t>（值对象）和</a:t>
            </a:r>
            <a:r>
              <a:rPr lang="en-US" altLang="zh-CN" sz="1800" dirty="0"/>
              <a:t>SERVICE</a:t>
            </a:r>
            <a:r>
              <a:rPr lang="zh-CN" altLang="en-US" sz="1800" dirty="0"/>
              <a:t>（领域服务）。</a:t>
            </a:r>
            <a:endParaRPr lang="en-US" altLang="zh-CN" sz="1800" dirty="0"/>
          </a:p>
          <a:p>
            <a:pPr marL="0" indent="0">
              <a:buNone/>
            </a:pPr>
            <a:r>
              <a:rPr lang="zh-CN" altLang="en-US" sz="2000" b="1" dirty="0"/>
              <a:t>实体（</a:t>
            </a:r>
            <a:r>
              <a:rPr lang="en-US" altLang="zh-CN" sz="2000" b="1" dirty="0"/>
              <a:t>Entity</a:t>
            </a:r>
            <a:r>
              <a:rPr lang="zh-CN" altLang="en-US" sz="2000" b="1" dirty="0"/>
              <a:t>）</a:t>
            </a:r>
          </a:p>
          <a:p>
            <a:r>
              <a:rPr lang="zh-CN" altLang="en-US" sz="1800" dirty="0"/>
              <a:t>定义：主要由标识定义的对象称为实体</a:t>
            </a:r>
          </a:p>
          <a:p>
            <a:pPr marL="342900" indent="-342900">
              <a:buFont typeface="+mj-lt"/>
              <a:buAutoNum type="arabicPeriod"/>
            </a:pPr>
            <a:r>
              <a:rPr lang="zh-CN" altLang="en-US" sz="1800" dirty="0"/>
              <a:t>有唯一标识的对象</a:t>
            </a:r>
            <a:endParaRPr lang="en-US" altLang="zh-CN" sz="1800" dirty="0"/>
          </a:p>
          <a:p>
            <a:pPr marL="342900" indent="-342900">
              <a:buFont typeface="+mj-lt"/>
              <a:buAutoNum type="arabicPeriod"/>
            </a:pPr>
            <a:r>
              <a:rPr lang="zh-CN" altLang="en-US" sz="1800" dirty="0"/>
              <a:t>标识在其整个生命周期中保持不变</a:t>
            </a:r>
            <a:endParaRPr lang="en-US" altLang="zh-CN" sz="1800" dirty="0"/>
          </a:p>
          <a:p>
            <a:pPr marL="342900" indent="-342900">
              <a:buFont typeface="+mj-lt"/>
              <a:buAutoNum type="arabicPeriod"/>
            </a:pPr>
            <a:r>
              <a:rPr lang="zh-CN" altLang="en-US" sz="1800" dirty="0"/>
              <a:t>即使所有属性都变了，</a:t>
            </a:r>
            <a:r>
              <a:rPr lang="en-US" altLang="zh-CN" sz="1800" dirty="0"/>
              <a:t>"</a:t>
            </a:r>
            <a:r>
              <a:rPr lang="zh-CN" altLang="en-US" sz="1800" dirty="0"/>
              <a:t>它是它</a:t>
            </a:r>
            <a:r>
              <a:rPr lang="en-US" altLang="zh-CN" sz="1800" dirty="0"/>
              <a:t>"</a:t>
            </a:r>
            <a:r>
              <a:rPr lang="zh-CN" altLang="en-US" sz="1800" dirty="0"/>
              <a:t>这件事不变</a:t>
            </a:r>
            <a:endParaRPr lang="en-US" altLang="zh-CN" sz="1800" dirty="0"/>
          </a:p>
          <a:p>
            <a:r>
              <a:rPr lang="zh-CN" altLang="en-US" sz="1800" dirty="0"/>
              <a:t>关键属性：</a:t>
            </a:r>
          </a:p>
          <a:p>
            <a:pPr marL="342900" indent="-342900">
              <a:buFont typeface="+mj-lt"/>
              <a:buAutoNum type="arabicPeriod"/>
            </a:pPr>
            <a:r>
              <a:rPr lang="zh-CN" altLang="en-US" sz="1800" dirty="0"/>
              <a:t>标识（</a:t>
            </a:r>
            <a:r>
              <a:rPr lang="en-US" altLang="zh-CN" sz="1800" dirty="0"/>
              <a:t>Identity</a:t>
            </a:r>
            <a:r>
              <a:rPr lang="zh-CN" altLang="en-US" sz="1800" dirty="0"/>
              <a:t>）：这是实体的灵魂。通常用一个</a:t>
            </a:r>
            <a:r>
              <a:rPr lang="en-US" altLang="zh-CN" sz="1800" dirty="0"/>
              <a:t>ID</a:t>
            </a:r>
            <a:r>
              <a:rPr lang="zh-CN" altLang="en-US" sz="1800" dirty="0"/>
              <a:t>字段表示</a:t>
            </a:r>
            <a:endParaRPr lang="en-US" altLang="zh-CN" sz="1800" dirty="0"/>
          </a:p>
          <a:p>
            <a:pPr marL="342900" indent="-342900">
              <a:buFont typeface="+mj-lt"/>
              <a:buAutoNum type="arabicPeriod"/>
            </a:pPr>
            <a:r>
              <a:rPr lang="zh-CN" altLang="en-US" sz="1800" dirty="0"/>
              <a:t>标识可以由用户生成（身份证号）、系统生成（</a:t>
            </a:r>
            <a:r>
              <a:rPr lang="en-US" altLang="zh-CN" sz="1800" dirty="0"/>
              <a:t>UUID</a:t>
            </a:r>
            <a:r>
              <a:rPr lang="zh-CN" altLang="en-US" sz="1800" dirty="0"/>
              <a:t>）、或由其他属性组合（但很少这样做）</a:t>
            </a:r>
            <a:endParaRPr lang="en-US" altLang="zh-CN" sz="1800" dirty="0"/>
          </a:p>
          <a:p>
            <a:pPr marL="342900" indent="-342900">
              <a:buFont typeface="+mj-lt"/>
              <a:buAutoNum type="arabicPeriod"/>
            </a:pPr>
            <a:r>
              <a:rPr lang="zh-CN" altLang="en-US" sz="1800" dirty="0"/>
              <a:t>实体是可变的（</a:t>
            </a:r>
            <a:r>
              <a:rPr lang="en-US" altLang="zh-CN" sz="1800" dirty="0"/>
              <a:t>Mutable</a:t>
            </a:r>
            <a:r>
              <a:rPr lang="zh-CN" altLang="en-US" sz="1800" dirty="0"/>
              <a:t>）</a:t>
            </a:r>
            <a:r>
              <a:rPr lang="en-US" altLang="zh-CN" sz="1800" dirty="0"/>
              <a:t>——</a:t>
            </a:r>
            <a:r>
              <a:rPr lang="zh-CN" altLang="en-US" sz="1800" dirty="0"/>
              <a:t>状态会变化，但身份不变</a:t>
            </a:r>
            <a:endParaRPr lang="en-US" altLang="zh-CN" sz="1800" dirty="0"/>
          </a:p>
          <a:p>
            <a:pPr marL="0" indent="0">
              <a:buNone/>
            </a:pPr>
            <a:endParaRPr lang="en-US" altLang="zh-CN" sz="1800" dirty="0"/>
          </a:p>
          <a:p>
            <a:pPr marL="0" indent="0">
              <a:buNone/>
            </a:pPr>
            <a:r>
              <a:rPr lang="zh-CN" altLang="en-US" sz="1800" dirty="0"/>
              <a:t>用户（</a:t>
            </a:r>
            <a:r>
              <a:rPr lang="en-US" altLang="zh-CN" sz="1800" dirty="0"/>
              <a:t>User</a:t>
            </a:r>
            <a:r>
              <a:rPr lang="zh-CN" altLang="en-US" sz="1800" dirty="0"/>
              <a:t>）：改了昵称、头像、等级，还是同一个人</a:t>
            </a:r>
          </a:p>
          <a:p>
            <a:pPr marL="0" indent="0">
              <a:buNone/>
            </a:pPr>
            <a:r>
              <a:rPr lang="zh-CN" altLang="en-US" sz="1800" dirty="0"/>
              <a:t>订单（</a:t>
            </a:r>
            <a:r>
              <a:rPr lang="en-US" altLang="zh-CN" sz="1800" dirty="0"/>
              <a:t>Order</a:t>
            </a:r>
            <a:r>
              <a:rPr lang="zh-CN" altLang="en-US" sz="1800" dirty="0"/>
              <a:t>）：订单号不变，但状态从</a:t>
            </a:r>
            <a:r>
              <a:rPr lang="en-US" altLang="zh-CN" sz="1800" dirty="0"/>
              <a:t>"</a:t>
            </a:r>
            <a:r>
              <a:rPr lang="zh-CN" altLang="en-US" sz="1800" dirty="0"/>
              <a:t>待支付</a:t>
            </a:r>
            <a:r>
              <a:rPr lang="en-US" altLang="zh-CN" sz="1800" dirty="0"/>
              <a:t>"→"</a:t>
            </a:r>
            <a:r>
              <a:rPr lang="zh-CN" altLang="en-US" sz="1800" dirty="0"/>
              <a:t>已支付</a:t>
            </a:r>
            <a:r>
              <a:rPr lang="en-US" altLang="zh-CN" sz="1800" dirty="0"/>
              <a:t>"→"</a:t>
            </a:r>
            <a:r>
              <a:rPr lang="zh-CN" altLang="en-US" sz="1800" dirty="0"/>
              <a:t>已发货</a:t>
            </a:r>
            <a:r>
              <a:rPr lang="en-US" altLang="zh-CN" sz="1800" dirty="0"/>
              <a:t>"</a:t>
            </a:r>
            <a:r>
              <a:rPr lang="zh-CN" altLang="en-US" sz="1800" dirty="0"/>
              <a:t>不断变化</a:t>
            </a:r>
          </a:p>
          <a:p>
            <a:pPr marL="0" indent="0">
              <a:buNone/>
            </a:pPr>
            <a:r>
              <a:rPr lang="zh-CN" altLang="en-US" sz="1800" dirty="0"/>
              <a:t>银行账户（</a:t>
            </a:r>
            <a:r>
              <a:rPr lang="en-US" altLang="zh-CN" sz="1800" dirty="0"/>
              <a:t>Account</a:t>
            </a:r>
            <a:r>
              <a:rPr lang="zh-CN" altLang="en-US" sz="1800" dirty="0"/>
              <a:t>）：余额天天变，账号永远不变</a:t>
            </a:r>
          </a:p>
          <a:p>
            <a:pPr marL="0" indent="0">
              <a:buNone/>
            </a:pPr>
            <a:endParaRPr lang="en-US" altLang="zh-CN" sz="1800" dirty="0"/>
          </a:p>
        </p:txBody>
      </p:sp>
      <p:sp>
        <p:nvSpPr>
          <p:cNvPr id="14" name="标题 1">
            <a:extLst>
              <a:ext uri="{FF2B5EF4-FFF2-40B4-BE49-F238E27FC236}">
                <a16:creationId xmlns:a16="http://schemas.microsoft.com/office/drawing/2014/main" id="{D733F12F-8B2B-21DA-8890-58855DD3BC9C}"/>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5</a:t>
            </a:r>
            <a:r>
              <a:rPr lang="zh-CN" altLang="en-US" sz="3200" dirty="0">
                <a:solidFill>
                  <a:srgbClr val="4ACBD6"/>
                </a:solidFill>
              </a:rPr>
              <a:t>章：软件中所表示的模型</a:t>
            </a:r>
          </a:p>
        </p:txBody>
      </p:sp>
    </p:spTree>
    <p:extLst>
      <p:ext uri="{BB962C8B-B14F-4D97-AF65-F5344CB8AC3E}">
        <p14:creationId xmlns:p14="http://schemas.microsoft.com/office/powerpoint/2010/main" val="925955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8EFB5-9D05-D6E8-B5A2-30068DBEA179}"/>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57986282-B29C-2395-6549-7186C329C718}"/>
              </a:ext>
            </a:extLst>
          </p:cNvPr>
          <p:cNvSpPr>
            <a:spLocks noGrp="1"/>
          </p:cNvSpPr>
          <p:nvPr>
            <p:ph idx="1"/>
          </p:nvPr>
        </p:nvSpPr>
        <p:spPr>
          <a:xfrm>
            <a:off x="838201" y="1171978"/>
            <a:ext cx="5482820" cy="5320896"/>
          </a:xfrm>
        </p:spPr>
        <p:txBody>
          <a:bodyPr>
            <a:noAutofit/>
          </a:bodyPr>
          <a:lstStyle/>
          <a:p>
            <a:pPr marL="0" indent="0">
              <a:buNone/>
            </a:pPr>
            <a:r>
              <a:rPr lang="zh-CN" altLang="en-US" sz="2000" b="1" dirty="0"/>
              <a:t>值对象（</a:t>
            </a:r>
            <a:r>
              <a:rPr lang="en-US" altLang="zh-CN" sz="2000" b="1" dirty="0"/>
              <a:t>Value Object</a:t>
            </a:r>
            <a:r>
              <a:rPr lang="zh-CN" altLang="en-US" sz="2000" b="1" dirty="0"/>
              <a:t>）</a:t>
            </a:r>
            <a:endParaRPr lang="en-US" altLang="zh-CN" sz="2000" b="1" dirty="0"/>
          </a:p>
          <a:p>
            <a:pPr marL="0" indent="0">
              <a:buNone/>
            </a:pPr>
            <a:r>
              <a:rPr lang="zh-CN" altLang="en-US" sz="1800" dirty="0"/>
              <a:t>定义：用于描述领域的某个方面而本身没有概念标识的对象称为值对象，当我们只关心一个模型元素的属性时，应把它归类为值对象。</a:t>
            </a:r>
            <a:endParaRPr lang="en-US" altLang="zh-CN" sz="1800" dirty="0"/>
          </a:p>
          <a:p>
            <a:pPr marL="342900" indent="-342900">
              <a:buFont typeface="+mj-lt"/>
              <a:buAutoNum type="arabicPeriod"/>
            </a:pPr>
            <a:r>
              <a:rPr lang="zh-CN" altLang="en-US" sz="1800" dirty="0"/>
              <a:t>没有唯一标识的对象</a:t>
            </a:r>
          </a:p>
          <a:p>
            <a:pPr marL="342900" indent="-342900">
              <a:buFont typeface="+mj-lt"/>
              <a:buAutoNum type="arabicPeriod"/>
            </a:pPr>
            <a:r>
              <a:rPr lang="zh-CN" altLang="en-US" sz="1800" dirty="0"/>
              <a:t>通过属性值来定义和识别</a:t>
            </a:r>
          </a:p>
          <a:p>
            <a:pPr marL="342900" indent="-342900">
              <a:buFont typeface="+mj-lt"/>
              <a:buAutoNum type="arabicPeriod"/>
            </a:pPr>
            <a:r>
              <a:rPr lang="zh-CN" altLang="en-US" sz="1800" dirty="0"/>
              <a:t>通常是不可变（</a:t>
            </a:r>
            <a:r>
              <a:rPr lang="en-US" altLang="zh-CN" sz="1800" dirty="0"/>
              <a:t>Immutable</a:t>
            </a:r>
            <a:r>
              <a:rPr lang="zh-CN" altLang="en-US" sz="1800" dirty="0"/>
              <a:t>）的</a:t>
            </a:r>
            <a:endParaRPr lang="en-US" altLang="zh-CN" sz="1800" dirty="0"/>
          </a:p>
          <a:p>
            <a:endParaRPr lang="en-US" altLang="zh-CN" sz="1800" dirty="0"/>
          </a:p>
          <a:p>
            <a:r>
              <a:rPr lang="zh-CN" altLang="en-US" sz="1800" dirty="0"/>
              <a:t>关键属性：</a:t>
            </a:r>
          </a:p>
          <a:p>
            <a:pPr marL="342900" indent="-342900">
              <a:buFont typeface="+mj-lt"/>
              <a:buAutoNum type="arabicPeriod"/>
            </a:pPr>
            <a:r>
              <a:rPr lang="zh-CN" altLang="en-US" sz="1800" dirty="0"/>
              <a:t>精心设计的值对象能极大提升代码的表达力</a:t>
            </a:r>
          </a:p>
          <a:p>
            <a:pPr marL="342900" indent="-342900">
              <a:buFont typeface="+mj-lt"/>
              <a:buAutoNum type="arabicPeriod"/>
            </a:pPr>
            <a:r>
              <a:rPr lang="zh-CN" altLang="en-US" sz="1800" dirty="0"/>
              <a:t>不可变性让它们可以自由共享、传递、缓存，没有副作用</a:t>
            </a:r>
            <a:endParaRPr lang="en-US" altLang="zh-CN" sz="1800" dirty="0"/>
          </a:p>
          <a:p>
            <a:pPr marL="342900" indent="-342900">
              <a:buFont typeface="+mj-lt"/>
              <a:buAutoNum type="arabicPeriod"/>
            </a:pPr>
            <a:endParaRPr lang="en-US" altLang="zh-CN" sz="1800" dirty="0"/>
          </a:p>
          <a:p>
            <a:pPr marL="0" indent="0">
              <a:buNone/>
            </a:pPr>
            <a:r>
              <a:rPr lang="zh-CN" altLang="en-US" sz="1800" dirty="0"/>
              <a:t>金额（</a:t>
            </a:r>
            <a:r>
              <a:rPr lang="en-US" altLang="zh-CN" sz="1800" dirty="0"/>
              <a:t>Money</a:t>
            </a:r>
            <a:r>
              <a:rPr lang="zh-CN" altLang="en-US" sz="1800" dirty="0"/>
              <a:t>）：</a:t>
            </a:r>
            <a:r>
              <a:rPr lang="en-US" altLang="zh-CN" sz="1800" dirty="0"/>
              <a:t>{ currency: "CNY", amount: 100.00 }</a:t>
            </a:r>
          </a:p>
          <a:p>
            <a:pPr marL="0" indent="0">
              <a:buNone/>
            </a:pPr>
            <a:r>
              <a:rPr lang="zh-CN" altLang="en-US" sz="1800" dirty="0"/>
              <a:t>颜色（</a:t>
            </a:r>
            <a:r>
              <a:rPr lang="en-US" altLang="zh-CN" sz="1800" dirty="0"/>
              <a:t>Color</a:t>
            </a:r>
            <a:r>
              <a:rPr lang="zh-CN" altLang="en-US" sz="1800" dirty="0"/>
              <a:t>）：</a:t>
            </a:r>
            <a:r>
              <a:rPr lang="en-US" altLang="zh-CN" sz="1800" dirty="0"/>
              <a:t>{ r: 255, g: 128, b: 0 }</a:t>
            </a:r>
          </a:p>
        </p:txBody>
      </p:sp>
      <p:sp>
        <p:nvSpPr>
          <p:cNvPr id="2" name="标题 1">
            <a:extLst>
              <a:ext uri="{FF2B5EF4-FFF2-40B4-BE49-F238E27FC236}">
                <a16:creationId xmlns:a16="http://schemas.microsoft.com/office/drawing/2014/main" id="{4EEC7557-5D57-CA04-2930-824B20EECDE3}"/>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5</a:t>
            </a:r>
            <a:r>
              <a:rPr lang="zh-CN" altLang="en-US" sz="3200" dirty="0">
                <a:solidFill>
                  <a:srgbClr val="4ACBD6"/>
                </a:solidFill>
              </a:rPr>
              <a:t>章：软件中所表示的模型</a:t>
            </a:r>
          </a:p>
        </p:txBody>
      </p:sp>
      <p:pic>
        <p:nvPicPr>
          <p:cNvPr id="5" name="图片 4">
            <a:extLst>
              <a:ext uri="{FF2B5EF4-FFF2-40B4-BE49-F238E27FC236}">
                <a16:creationId xmlns:a16="http://schemas.microsoft.com/office/drawing/2014/main" id="{51C8482A-9D48-1C3D-16B8-2EBE49C4C2E5}"/>
              </a:ext>
            </a:extLst>
          </p:cNvPr>
          <p:cNvPicPr>
            <a:picLocks noChangeAspect="1"/>
          </p:cNvPicPr>
          <p:nvPr/>
        </p:nvPicPr>
        <p:blipFill>
          <a:blip r:embed="rId2"/>
          <a:stretch>
            <a:fillRect/>
          </a:stretch>
        </p:blipFill>
        <p:spPr>
          <a:xfrm>
            <a:off x="6321021" y="1125800"/>
            <a:ext cx="5539681" cy="2488842"/>
          </a:xfrm>
          <a:prstGeom prst="rect">
            <a:avLst/>
          </a:prstGeom>
        </p:spPr>
      </p:pic>
      <p:pic>
        <p:nvPicPr>
          <p:cNvPr id="7" name="图片 6">
            <a:extLst>
              <a:ext uri="{FF2B5EF4-FFF2-40B4-BE49-F238E27FC236}">
                <a16:creationId xmlns:a16="http://schemas.microsoft.com/office/drawing/2014/main" id="{E1EA9392-5CF9-2997-4C50-994E8C8D5739}"/>
              </a:ext>
            </a:extLst>
          </p:cNvPr>
          <p:cNvPicPr>
            <a:picLocks noChangeAspect="1"/>
          </p:cNvPicPr>
          <p:nvPr/>
        </p:nvPicPr>
        <p:blipFill>
          <a:blip r:embed="rId3"/>
          <a:stretch>
            <a:fillRect/>
          </a:stretch>
        </p:blipFill>
        <p:spPr>
          <a:xfrm>
            <a:off x="6321021" y="3953078"/>
            <a:ext cx="5140607" cy="2539796"/>
          </a:xfrm>
          <a:prstGeom prst="rect">
            <a:avLst/>
          </a:prstGeom>
        </p:spPr>
      </p:pic>
    </p:spTree>
    <p:extLst>
      <p:ext uri="{BB962C8B-B14F-4D97-AF65-F5344CB8AC3E}">
        <p14:creationId xmlns:p14="http://schemas.microsoft.com/office/powerpoint/2010/main" val="2678121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5238F-92F3-1116-86D1-4BCC8CDBEC5C}"/>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1676DB5F-462F-FD5B-9EDD-F7DE5A13F847}"/>
              </a:ext>
            </a:extLst>
          </p:cNvPr>
          <p:cNvSpPr>
            <a:spLocks noGrp="1"/>
          </p:cNvSpPr>
          <p:nvPr>
            <p:ph idx="1"/>
          </p:nvPr>
        </p:nvSpPr>
        <p:spPr>
          <a:xfrm>
            <a:off x="838200" y="1171978"/>
            <a:ext cx="10515599" cy="5320896"/>
          </a:xfrm>
        </p:spPr>
        <p:txBody>
          <a:bodyPr>
            <a:noAutofit/>
          </a:bodyPr>
          <a:lstStyle/>
          <a:p>
            <a:pPr marL="0" indent="0">
              <a:buNone/>
            </a:pPr>
            <a:r>
              <a:rPr lang="zh-CN" altLang="en-US" sz="2000" b="1" dirty="0"/>
              <a:t>服务（</a:t>
            </a:r>
            <a:r>
              <a:rPr lang="en-US" altLang="zh-CN" sz="2000" b="1" dirty="0"/>
              <a:t>Service</a:t>
            </a:r>
            <a:r>
              <a:rPr lang="zh-CN" altLang="en-US" sz="2000" b="1" dirty="0"/>
              <a:t>）</a:t>
            </a:r>
            <a:endParaRPr lang="en-US" altLang="zh-CN" sz="2000" b="1" dirty="0"/>
          </a:p>
          <a:p>
            <a:pPr marL="0" indent="0">
              <a:buNone/>
            </a:pPr>
            <a:r>
              <a:rPr lang="zh-CN" altLang="en-US" sz="1800" dirty="0"/>
              <a:t>定义：</a:t>
            </a:r>
          </a:p>
          <a:p>
            <a:pPr marL="342900" indent="-342900">
              <a:buFont typeface="+mj-lt"/>
              <a:buAutoNum type="arabicPeriod"/>
            </a:pPr>
            <a:r>
              <a:rPr lang="zh-CN" altLang="en-US" sz="1800" dirty="0"/>
              <a:t>那些不属于任何实体或值对象的重要操作</a:t>
            </a:r>
            <a:endParaRPr lang="en-US" altLang="zh-CN" sz="1800" dirty="0"/>
          </a:p>
          <a:p>
            <a:pPr marL="342900" indent="-342900">
              <a:buFont typeface="+mj-lt"/>
              <a:buAutoNum type="arabicPeriod"/>
            </a:pPr>
            <a:r>
              <a:rPr lang="zh-CN" altLang="en-US" sz="1800" dirty="0"/>
              <a:t>通常是无状态（</a:t>
            </a:r>
            <a:r>
              <a:rPr lang="en-US" altLang="zh-CN" sz="1800" dirty="0"/>
              <a:t>Stateless</a:t>
            </a:r>
            <a:r>
              <a:rPr lang="zh-CN" altLang="en-US" sz="1800" dirty="0"/>
              <a:t>）的</a:t>
            </a:r>
            <a:endParaRPr lang="en-US" altLang="zh-CN" sz="1800" dirty="0"/>
          </a:p>
          <a:p>
            <a:pPr marL="342900" indent="-342900">
              <a:buFont typeface="+mj-lt"/>
              <a:buAutoNum type="arabicPeriod"/>
            </a:pPr>
            <a:r>
              <a:rPr lang="zh-CN" altLang="en-US" sz="1800" dirty="0"/>
              <a:t>将操作命名得向</a:t>
            </a:r>
            <a:r>
              <a:rPr lang="en-US" altLang="zh-CN" sz="1800" dirty="0"/>
              <a:t>"</a:t>
            </a:r>
            <a:r>
              <a:rPr lang="zh-CN" altLang="en-US" sz="1800" dirty="0"/>
              <a:t>领域活动</a:t>
            </a:r>
            <a:r>
              <a:rPr lang="en-US" altLang="zh-CN" sz="1800" dirty="0"/>
              <a:t>"</a:t>
            </a:r>
            <a:r>
              <a:rPr lang="zh-CN" altLang="en-US" sz="1800" dirty="0"/>
              <a:t>而不是</a:t>
            </a:r>
            <a:r>
              <a:rPr lang="en-US" altLang="zh-CN" sz="1800" dirty="0"/>
              <a:t>"</a:t>
            </a:r>
            <a:r>
              <a:rPr lang="zh-CN" altLang="en-US" sz="1800" dirty="0"/>
              <a:t>技术操作</a:t>
            </a:r>
            <a:r>
              <a:rPr lang="en-US" altLang="zh-CN" sz="1800" dirty="0"/>
              <a:t>"</a:t>
            </a:r>
          </a:p>
          <a:p>
            <a:pPr marL="0" indent="0">
              <a:buNone/>
            </a:pPr>
            <a:r>
              <a:rPr lang="zh-CN" altLang="en-US" sz="1800" dirty="0"/>
              <a:t>什么时候需要服务？</a:t>
            </a:r>
          </a:p>
          <a:p>
            <a:pPr marL="342900" indent="-342900">
              <a:buFont typeface="+mj-lt"/>
              <a:buAutoNum type="arabicPeriod"/>
            </a:pPr>
            <a:r>
              <a:rPr lang="zh-CN" altLang="en-US" sz="1800" dirty="0"/>
              <a:t>该操作跨多个实体</a:t>
            </a:r>
            <a:r>
              <a:rPr lang="en-US" altLang="zh-CN" sz="1800" dirty="0"/>
              <a:t>/</a:t>
            </a:r>
            <a:r>
              <a:rPr lang="zh-CN" altLang="en-US" sz="1800" dirty="0"/>
              <a:t>聚合</a:t>
            </a:r>
            <a:endParaRPr lang="en-US" altLang="zh-CN" sz="1800" dirty="0"/>
          </a:p>
          <a:p>
            <a:pPr marL="342900" indent="-342900">
              <a:buFont typeface="+mj-lt"/>
              <a:buAutoNum type="arabicPeriod"/>
            </a:pPr>
            <a:r>
              <a:rPr lang="zh-CN" altLang="en-US" sz="1800" dirty="0"/>
              <a:t>该操作不自然地属于任何一个实体</a:t>
            </a:r>
            <a:endParaRPr lang="en-US" altLang="zh-CN" sz="1800" dirty="0"/>
          </a:p>
          <a:p>
            <a:pPr marL="342900" indent="-342900">
              <a:buFont typeface="+mj-lt"/>
              <a:buAutoNum type="arabicPeriod"/>
            </a:pPr>
            <a:r>
              <a:rPr lang="zh-CN" altLang="en-US" sz="1800" dirty="0"/>
              <a:t>该操作需要访问基础设施（但要通过接口隔离）</a:t>
            </a:r>
            <a:endParaRPr lang="en-US" altLang="zh-CN" sz="1800" dirty="0"/>
          </a:p>
        </p:txBody>
      </p:sp>
      <p:sp>
        <p:nvSpPr>
          <p:cNvPr id="2" name="标题 1">
            <a:extLst>
              <a:ext uri="{FF2B5EF4-FFF2-40B4-BE49-F238E27FC236}">
                <a16:creationId xmlns:a16="http://schemas.microsoft.com/office/drawing/2014/main" id="{C20E0578-2CC0-9F8C-DDE9-5A722CE677DC}"/>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5</a:t>
            </a:r>
            <a:r>
              <a:rPr lang="zh-CN" altLang="en-US" sz="3200" dirty="0">
                <a:solidFill>
                  <a:srgbClr val="4ACBD6"/>
                </a:solidFill>
              </a:rPr>
              <a:t>章：软件中所表示的模型</a:t>
            </a:r>
          </a:p>
        </p:txBody>
      </p:sp>
      <p:graphicFrame>
        <p:nvGraphicFramePr>
          <p:cNvPr id="4" name="表格 3">
            <a:extLst>
              <a:ext uri="{FF2B5EF4-FFF2-40B4-BE49-F238E27FC236}">
                <a16:creationId xmlns:a16="http://schemas.microsoft.com/office/drawing/2014/main" id="{9DA7F4F3-BA80-E18D-55A3-A2CB49DBC70E}"/>
              </a:ext>
            </a:extLst>
          </p:cNvPr>
          <p:cNvGraphicFramePr>
            <a:graphicFrameLocks noGrp="1"/>
          </p:cNvGraphicFramePr>
          <p:nvPr>
            <p:extLst>
              <p:ext uri="{D42A27DB-BD31-4B8C-83A1-F6EECF244321}">
                <p14:modId xmlns:p14="http://schemas.microsoft.com/office/powerpoint/2010/main" val="2276145338"/>
              </p:ext>
            </p:extLst>
          </p:nvPr>
        </p:nvGraphicFramePr>
        <p:xfrm>
          <a:off x="838199" y="4552314"/>
          <a:ext cx="10257972" cy="1940560"/>
        </p:xfrm>
        <a:graphic>
          <a:graphicData uri="http://schemas.openxmlformats.org/drawingml/2006/table">
            <a:tbl>
              <a:tblPr firstRow="1" bandRow="1">
                <a:tableStyleId>{5C22544A-7EE6-4342-B048-85BDC9FD1C3A}</a:tableStyleId>
              </a:tblPr>
              <a:tblGrid>
                <a:gridCol w="3419324">
                  <a:extLst>
                    <a:ext uri="{9D8B030D-6E8A-4147-A177-3AD203B41FA5}">
                      <a16:colId xmlns:a16="http://schemas.microsoft.com/office/drawing/2014/main" val="4099796202"/>
                    </a:ext>
                  </a:extLst>
                </a:gridCol>
                <a:gridCol w="3419324">
                  <a:extLst>
                    <a:ext uri="{9D8B030D-6E8A-4147-A177-3AD203B41FA5}">
                      <a16:colId xmlns:a16="http://schemas.microsoft.com/office/drawing/2014/main" val="2184600309"/>
                    </a:ext>
                  </a:extLst>
                </a:gridCol>
                <a:gridCol w="3419324">
                  <a:extLst>
                    <a:ext uri="{9D8B030D-6E8A-4147-A177-3AD203B41FA5}">
                      <a16:colId xmlns:a16="http://schemas.microsoft.com/office/drawing/2014/main" val="1833596390"/>
                    </a:ext>
                  </a:extLst>
                </a:gridCol>
              </a:tblGrid>
              <a:tr h="370840">
                <a:tc>
                  <a:txBody>
                    <a:bodyPr/>
                    <a:lstStyle/>
                    <a:p>
                      <a:pPr>
                        <a:buNone/>
                      </a:pPr>
                      <a:r>
                        <a:rPr lang="zh-CN" altLang="en-US" dirty="0">
                          <a:effectLst/>
                        </a:rPr>
                        <a:t>类型</a:t>
                      </a:r>
                    </a:p>
                  </a:txBody>
                  <a:tcPr marL="25400" marR="25400" marT="25400" marB="25400" anchor="ctr"/>
                </a:tc>
                <a:tc>
                  <a:txBody>
                    <a:bodyPr/>
                    <a:lstStyle/>
                    <a:p>
                      <a:pPr>
                        <a:buNone/>
                      </a:pPr>
                      <a:r>
                        <a:rPr lang="zh-CN" altLang="en-US" dirty="0">
                          <a:effectLst/>
                        </a:rPr>
                        <a:t>所在层</a:t>
                      </a:r>
                    </a:p>
                  </a:txBody>
                  <a:tcPr marL="25400" marR="25400" marT="25400" marB="25400" anchor="ctr"/>
                </a:tc>
                <a:tc>
                  <a:txBody>
                    <a:bodyPr/>
                    <a:lstStyle/>
                    <a:p>
                      <a:pPr>
                        <a:buNone/>
                      </a:pPr>
                      <a:r>
                        <a:rPr lang="zh-CN" altLang="en-US">
                          <a:effectLst/>
                        </a:rPr>
                        <a:t>例子</a:t>
                      </a:r>
                    </a:p>
                  </a:txBody>
                  <a:tcPr marL="25400" marR="25400" marT="25400" marB="25400" anchor="ctr"/>
                </a:tc>
                <a:extLst>
                  <a:ext uri="{0D108BD9-81ED-4DB2-BD59-A6C34878D82A}">
                    <a16:rowId xmlns:a16="http://schemas.microsoft.com/office/drawing/2014/main" val="4259482374"/>
                  </a:ext>
                </a:extLst>
              </a:tr>
              <a:tr h="370840">
                <a:tc>
                  <a:txBody>
                    <a:bodyPr/>
                    <a:lstStyle/>
                    <a:p>
                      <a:pPr>
                        <a:buNone/>
                      </a:pPr>
                      <a:r>
                        <a:rPr lang="zh-CN" altLang="en-US">
                          <a:effectLst/>
                        </a:rPr>
                        <a:t>领域服务</a:t>
                      </a:r>
                    </a:p>
                  </a:txBody>
                  <a:tcPr marL="25400" marR="25400" marT="25400" marB="25400" anchor="ctr"/>
                </a:tc>
                <a:tc>
                  <a:txBody>
                    <a:bodyPr/>
                    <a:lstStyle/>
                    <a:p>
                      <a:pPr>
                        <a:buNone/>
                      </a:pPr>
                      <a:r>
                        <a:rPr lang="zh-CN" altLang="en-US" dirty="0">
                          <a:effectLst/>
                        </a:rPr>
                        <a:t>领域层</a:t>
                      </a:r>
                    </a:p>
                  </a:txBody>
                  <a:tcPr marL="25400" marR="25400" marT="25400" marB="25400" anchor="ctr"/>
                </a:tc>
                <a:tc>
                  <a:txBody>
                    <a:bodyPr/>
                    <a:lstStyle/>
                    <a:p>
                      <a:pPr>
                        <a:buNone/>
                      </a:pPr>
                      <a:r>
                        <a:rPr lang="en-US" dirty="0" err="1">
                          <a:solidFill>
                            <a:schemeClr val="tx1"/>
                          </a:solidFill>
                          <a:effectLst/>
                          <a:latin typeface="Consolas" panose="020B0609020204030204" pitchFamily="49" charset="0"/>
                        </a:rPr>
                        <a:t>FundsTransferService.transfer</a:t>
                      </a:r>
                      <a:r>
                        <a:rPr lang="en-US" dirty="0">
                          <a:solidFill>
                            <a:schemeClr val="tx1"/>
                          </a:solidFill>
                          <a:effectLst/>
                          <a:latin typeface="Consolas" panose="020B0609020204030204" pitchFamily="49" charset="0"/>
                        </a:rPr>
                        <a:t>(from, to, amount)</a:t>
                      </a:r>
                      <a:endParaRPr lang="en-US" dirty="0">
                        <a:solidFill>
                          <a:schemeClr val="tx1"/>
                        </a:solidFill>
                        <a:effectLst/>
                      </a:endParaRPr>
                    </a:p>
                  </a:txBody>
                  <a:tcPr marL="25400" marR="25400" marT="25400" marB="25400" anchor="ctr"/>
                </a:tc>
                <a:extLst>
                  <a:ext uri="{0D108BD9-81ED-4DB2-BD59-A6C34878D82A}">
                    <a16:rowId xmlns:a16="http://schemas.microsoft.com/office/drawing/2014/main" val="3875085519"/>
                  </a:ext>
                </a:extLst>
              </a:tr>
              <a:tr h="370840">
                <a:tc>
                  <a:txBody>
                    <a:bodyPr/>
                    <a:lstStyle/>
                    <a:p>
                      <a:pPr>
                        <a:buNone/>
                      </a:pPr>
                      <a:r>
                        <a:rPr lang="zh-CN" altLang="en-US">
                          <a:effectLst/>
                        </a:rPr>
                        <a:t>应用服务</a:t>
                      </a:r>
                    </a:p>
                  </a:txBody>
                  <a:tcPr marL="25400" marR="25400" marT="25400" marB="25400" anchor="ctr"/>
                </a:tc>
                <a:tc>
                  <a:txBody>
                    <a:bodyPr/>
                    <a:lstStyle/>
                    <a:p>
                      <a:pPr>
                        <a:buNone/>
                      </a:pPr>
                      <a:r>
                        <a:rPr lang="zh-CN" altLang="en-US">
                          <a:effectLst/>
                        </a:rPr>
                        <a:t>应用层</a:t>
                      </a:r>
                    </a:p>
                  </a:txBody>
                  <a:tcPr marL="25400" marR="25400" marT="25400" marB="25400" anchor="ctr"/>
                </a:tc>
                <a:tc>
                  <a:txBody>
                    <a:bodyPr/>
                    <a:lstStyle/>
                    <a:p>
                      <a:pPr>
                        <a:buNone/>
                      </a:pPr>
                      <a:r>
                        <a:rPr lang="en-US" dirty="0" err="1">
                          <a:solidFill>
                            <a:schemeClr val="tx1"/>
                          </a:solidFill>
                          <a:effectLst/>
                          <a:latin typeface="Consolas" panose="020B0609020204030204" pitchFamily="49" charset="0"/>
                        </a:rPr>
                        <a:t>OrderService.placeOrder</a:t>
                      </a:r>
                      <a:r>
                        <a:rPr lang="en-US" dirty="0">
                          <a:solidFill>
                            <a:schemeClr val="tx1"/>
                          </a:solidFill>
                          <a:effectLst/>
                          <a:latin typeface="Consolas" panose="020B0609020204030204" pitchFamily="49" charset="0"/>
                        </a:rPr>
                        <a:t>(request)</a:t>
                      </a:r>
                      <a:endParaRPr lang="en-US" dirty="0">
                        <a:solidFill>
                          <a:schemeClr val="tx1"/>
                        </a:solidFill>
                        <a:effectLst/>
                      </a:endParaRPr>
                    </a:p>
                  </a:txBody>
                  <a:tcPr marL="25400" marR="25400" marT="25400" marB="25400" anchor="ctr"/>
                </a:tc>
                <a:extLst>
                  <a:ext uri="{0D108BD9-81ED-4DB2-BD59-A6C34878D82A}">
                    <a16:rowId xmlns:a16="http://schemas.microsoft.com/office/drawing/2014/main" val="1782082361"/>
                  </a:ext>
                </a:extLst>
              </a:tr>
              <a:tr h="370840">
                <a:tc>
                  <a:txBody>
                    <a:bodyPr/>
                    <a:lstStyle/>
                    <a:p>
                      <a:pPr>
                        <a:buNone/>
                      </a:pPr>
                      <a:r>
                        <a:rPr lang="zh-CN" altLang="en-US">
                          <a:effectLst/>
                        </a:rPr>
                        <a:t>基础设施服务</a:t>
                      </a:r>
                    </a:p>
                  </a:txBody>
                  <a:tcPr marL="25400" marR="25400" marT="25400" marB="25400" anchor="ctr"/>
                </a:tc>
                <a:tc>
                  <a:txBody>
                    <a:bodyPr/>
                    <a:lstStyle/>
                    <a:p>
                      <a:pPr>
                        <a:buNone/>
                      </a:pPr>
                      <a:r>
                        <a:rPr lang="zh-CN" altLang="en-US">
                          <a:effectLst/>
                        </a:rPr>
                        <a:t>基础设施层</a:t>
                      </a:r>
                    </a:p>
                  </a:txBody>
                  <a:tcPr marL="25400" marR="25400" marT="25400" marB="25400" anchor="ctr"/>
                </a:tc>
                <a:tc>
                  <a:txBody>
                    <a:bodyPr/>
                    <a:lstStyle/>
                    <a:p>
                      <a:pPr>
                        <a:buNone/>
                      </a:pPr>
                      <a:r>
                        <a:rPr lang="en-US" dirty="0" err="1">
                          <a:solidFill>
                            <a:schemeClr val="tx1"/>
                          </a:solidFill>
                          <a:effectLst/>
                          <a:latin typeface="Consolas" panose="020B0609020204030204" pitchFamily="49" charset="0"/>
                        </a:rPr>
                        <a:t>EmailSender.send</a:t>
                      </a:r>
                      <a:r>
                        <a:rPr lang="en-US" dirty="0">
                          <a:solidFill>
                            <a:schemeClr val="tx1"/>
                          </a:solidFill>
                          <a:effectLst/>
                          <a:latin typeface="Consolas" panose="020B0609020204030204" pitchFamily="49" charset="0"/>
                        </a:rPr>
                        <a:t>(message)</a:t>
                      </a:r>
                      <a:endParaRPr lang="en-US" dirty="0">
                        <a:solidFill>
                          <a:schemeClr val="tx1"/>
                        </a:solidFill>
                        <a:effectLst/>
                      </a:endParaRPr>
                    </a:p>
                  </a:txBody>
                  <a:tcPr marL="25400" marR="25400" marT="25400" marB="25400" anchor="ctr"/>
                </a:tc>
                <a:extLst>
                  <a:ext uri="{0D108BD9-81ED-4DB2-BD59-A6C34878D82A}">
                    <a16:rowId xmlns:a16="http://schemas.microsoft.com/office/drawing/2014/main" val="2477160986"/>
                  </a:ext>
                </a:extLst>
              </a:tr>
            </a:tbl>
          </a:graphicData>
        </a:graphic>
      </p:graphicFrame>
      <p:sp>
        <p:nvSpPr>
          <p:cNvPr id="8" name="文本框 7">
            <a:extLst>
              <a:ext uri="{FF2B5EF4-FFF2-40B4-BE49-F238E27FC236}">
                <a16:creationId xmlns:a16="http://schemas.microsoft.com/office/drawing/2014/main" id="{9F2895AA-77B1-A591-2F00-384471C81256}"/>
              </a:ext>
            </a:extLst>
          </p:cNvPr>
          <p:cNvSpPr txBox="1"/>
          <p:nvPr/>
        </p:nvSpPr>
        <p:spPr>
          <a:xfrm>
            <a:off x="7322457" y="1224087"/>
            <a:ext cx="3773714" cy="2308324"/>
          </a:xfrm>
          <a:prstGeom prst="rect">
            <a:avLst/>
          </a:prstGeom>
          <a:noFill/>
        </p:spPr>
        <p:txBody>
          <a:bodyPr wrap="square">
            <a:spAutoFit/>
          </a:bodyPr>
          <a:lstStyle/>
          <a:p>
            <a:r>
              <a:rPr lang="zh-CN" altLang="en-US" b="1" dirty="0"/>
              <a:t>反模式警告</a:t>
            </a:r>
            <a:r>
              <a:rPr lang="zh-CN" altLang="en-US" dirty="0"/>
              <a:t>：</a:t>
            </a:r>
          </a:p>
          <a:p>
            <a:pPr marL="285750" indent="-285750">
              <a:buFont typeface="Arial" panose="020B0604020202020204" pitchFamily="34" charset="0"/>
              <a:buChar char="•"/>
            </a:pPr>
            <a:r>
              <a:rPr lang="zh-CN" altLang="en-US" dirty="0"/>
              <a:t>不要把所有的逻辑都塞进服务</a:t>
            </a:r>
            <a:r>
              <a:rPr lang="en-US" altLang="zh-CN" dirty="0"/>
              <a:t>——</a:t>
            </a:r>
            <a:r>
              <a:rPr lang="zh-CN" altLang="en-US" dirty="0"/>
              <a:t>这是</a:t>
            </a:r>
            <a:r>
              <a:rPr lang="en-US" altLang="zh-CN" dirty="0"/>
              <a:t>"</a:t>
            </a:r>
            <a:r>
              <a:rPr lang="zh-CN" altLang="en-US" b="1" dirty="0"/>
              <a:t>贫血模型</a:t>
            </a:r>
            <a:r>
              <a:rPr lang="en-US" altLang="zh-CN" dirty="0"/>
              <a:t>“</a:t>
            </a:r>
          </a:p>
          <a:p>
            <a:pPr marL="285750" indent="-285750">
              <a:buFont typeface="Arial" panose="020B0604020202020204" pitchFamily="34" charset="0"/>
              <a:buChar char="•"/>
            </a:pPr>
            <a:r>
              <a:rPr lang="zh-CN" altLang="en-US" dirty="0"/>
              <a:t>实体和值对象应该承担它们自己的行为</a:t>
            </a:r>
            <a:endParaRPr lang="en-US" altLang="zh-CN" dirty="0"/>
          </a:p>
          <a:p>
            <a:pPr marL="285750" indent="-285750">
              <a:buFont typeface="Arial" panose="020B0604020202020204" pitchFamily="34" charset="0"/>
              <a:buChar char="•"/>
            </a:pPr>
            <a:r>
              <a:rPr lang="zh-CN" altLang="en-US" dirty="0"/>
              <a:t>如果一个</a:t>
            </a:r>
            <a:r>
              <a:rPr lang="en-US" altLang="zh-CN" dirty="0"/>
              <a:t>"</a:t>
            </a:r>
            <a:r>
              <a:rPr lang="zh-CN" altLang="en-US" dirty="0"/>
              <a:t>服务</a:t>
            </a:r>
            <a:r>
              <a:rPr lang="en-US" altLang="zh-CN" dirty="0"/>
              <a:t>"</a:t>
            </a:r>
            <a:r>
              <a:rPr lang="zh-CN" altLang="en-US" dirty="0"/>
              <a:t>里全是 </a:t>
            </a:r>
            <a:r>
              <a:rPr lang="en-US" altLang="zh-CN" dirty="0" err="1"/>
              <a:t>entity.getX</a:t>
            </a:r>
            <a:r>
              <a:rPr lang="en-US" altLang="zh-CN" dirty="0"/>
              <a:t>()</a:t>
            </a:r>
            <a:r>
              <a:rPr lang="zh-CN" altLang="en-US" dirty="0"/>
              <a:t> 和 </a:t>
            </a:r>
            <a:r>
              <a:rPr lang="en-US" altLang="zh-CN" dirty="0" err="1"/>
              <a:t>entity.setY</a:t>
            </a:r>
            <a:r>
              <a:rPr lang="en-US" altLang="zh-CN" dirty="0"/>
              <a:t>()</a:t>
            </a:r>
            <a:r>
              <a:rPr lang="zh-CN" altLang="en-US" dirty="0"/>
              <a:t>，说明领域逻辑泄漏了</a:t>
            </a:r>
          </a:p>
        </p:txBody>
      </p:sp>
    </p:spTree>
    <p:extLst>
      <p:ext uri="{BB962C8B-B14F-4D97-AF65-F5344CB8AC3E}">
        <p14:creationId xmlns:p14="http://schemas.microsoft.com/office/powerpoint/2010/main" val="1750042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C4E33-249D-224A-7FD2-08FF71981FFD}"/>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86FBB7E9-F993-3B6E-AE2E-27E90D35966E}"/>
              </a:ext>
            </a:extLst>
          </p:cNvPr>
          <p:cNvSpPr>
            <a:spLocks noGrp="1"/>
          </p:cNvSpPr>
          <p:nvPr>
            <p:ph idx="1"/>
          </p:nvPr>
        </p:nvSpPr>
        <p:spPr>
          <a:xfrm>
            <a:off x="838200" y="1171978"/>
            <a:ext cx="10515599" cy="5320896"/>
          </a:xfrm>
        </p:spPr>
        <p:txBody>
          <a:bodyPr>
            <a:noAutofit/>
          </a:bodyPr>
          <a:lstStyle/>
          <a:p>
            <a:pPr marL="0" indent="0">
              <a:buNone/>
            </a:pPr>
            <a:r>
              <a:rPr lang="zh-CN" altLang="en-US" sz="2000" b="1" dirty="0"/>
              <a:t>模块（</a:t>
            </a:r>
            <a:r>
              <a:rPr lang="en-US" altLang="zh-CN" sz="2000" b="1" dirty="0"/>
              <a:t>Module</a:t>
            </a:r>
            <a:r>
              <a:rPr lang="zh-CN" altLang="en-US" sz="2000" b="1" dirty="0"/>
              <a:t>）</a:t>
            </a:r>
            <a:endParaRPr lang="en-US" altLang="zh-CN" sz="2000" b="1" dirty="0"/>
          </a:p>
          <a:p>
            <a:pPr marL="0" indent="0">
              <a:buNone/>
            </a:pPr>
            <a:r>
              <a:rPr lang="zh-CN" altLang="en-US" sz="1800" dirty="0"/>
              <a:t>定义：</a:t>
            </a:r>
          </a:p>
          <a:p>
            <a:pPr marL="342900" indent="-342900">
              <a:buFont typeface="+mj-lt"/>
              <a:buAutoNum type="arabicPeriod"/>
            </a:pPr>
            <a:r>
              <a:rPr lang="zh-CN" altLang="en-US" sz="1800" dirty="0"/>
              <a:t>将高度相关的概念组织在一起</a:t>
            </a:r>
          </a:p>
          <a:p>
            <a:pPr marL="342900" indent="-342900">
              <a:buFont typeface="+mj-lt"/>
              <a:buAutoNum type="arabicPeriod"/>
            </a:pPr>
            <a:r>
              <a:rPr lang="zh-CN" altLang="en-US" sz="1800" dirty="0"/>
              <a:t>在</a:t>
            </a:r>
            <a:r>
              <a:rPr lang="en-US" altLang="zh-CN" sz="1800" dirty="0"/>
              <a:t>Java</a:t>
            </a:r>
            <a:r>
              <a:rPr lang="zh-CN" altLang="en-US" sz="1800" dirty="0"/>
              <a:t>中是包（</a:t>
            </a:r>
            <a:r>
              <a:rPr lang="en-US" altLang="zh-CN" sz="1800" dirty="0"/>
              <a:t>package</a:t>
            </a:r>
            <a:r>
              <a:rPr lang="zh-CN" altLang="en-US" sz="1800" dirty="0"/>
              <a:t>），在其他语言中是命名空间（</a:t>
            </a:r>
            <a:r>
              <a:rPr lang="en-US" altLang="zh-CN" sz="1800" dirty="0"/>
              <a:t>namespace</a:t>
            </a:r>
            <a:r>
              <a:rPr lang="zh-CN" altLang="en-US" sz="1800" dirty="0"/>
              <a:t>）或模块</a:t>
            </a:r>
          </a:p>
          <a:p>
            <a:pPr marL="0" indent="0">
              <a:buNone/>
            </a:pPr>
            <a:endParaRPr lang="en-US" altLang="zh-CN" sz="1800" dirty="0"/>
          </a:p>
          <a:p>
            <a:pPr marL="0" indent="0">
              <a:buNone/>
            </a:pPr>
            <a:r>
              <a:rPr lang="zh-CN" altLang="en-US" sz="1800" dirty="0"/>
              <a:t>模块化原则：</a:t>
            </a:r>
          </a:p>
          <a:p>
            <a:pPr marL="342900" indent="-342900">
              <a:buFont typeface="+mj-lt"/>
              <a:buAutoNum type="arabicPeriod"/>
            </a:pPr>
            <a:r>
              <a:rPr lang="zh-CN" altLang="en-US" sz="1800" dirty="0"/>
              <a:t>高内聚：一个模块内的类频繁互相引用</a:t>
            </a:r>
          </a:p>
          <a:p>
            <a:pPr marL="342900" indent="-342900">
              <a:buFont typeface="+mj-lt"/>
              <a:buAutoNum type="arabicPeriod"/>
            </a:pPr>
            <a:r>
              <a:rPr lang="zh-CN" altLang="en-US" sz="1800" dirty="0"/>
              <a:t>低耦合：不同模块之间只有必需的关联</a:t>
            </a:r>
          </a:p>
          <a:p>
            <a:pPr marL="342900" indent="-342900">
              <a:buFont typeface="+mj-lt"/>
              <a:buAutoNum type="arabicPeriod"/>
            </a:pPr>
            <a:r>
              <a:rPr lang="zh-CN" altLang="en-US" sz="1800" dirty="0"/>
              <a:t>模块名是通用语言的一部分</a:t>
            </a:r>
            <a:endParaRPr lang="en-US" altLang="zh-CN" sz="1800" dirty="0"/>
          </a:p>
        </p:txBody>
      </p:sp>
      <p:sp>
        <p:nvSpPr>
          <p:cNvPr id="2" name="标题 1">
            <a:extLst>
              <a:ext uri="{FF2B5EF4-FFF2-40B4-BE49-F238E27FC236}">
                <a16:creationId xmlns:a16="http://schemas.microsoft.com/office/drawing/2014/main" id="{E2614505-08AE-B6B4-15F2-1207FD9487FA}"/>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5</a:t>
            </a:r>
            <a:r>
              <a:rPr lang="zh-CN" altLang="en-US" sz="3200" dirty="0">
                <a:solidFill>
                  <a:srgbClr val="4ACBD6"/>
                </a:solidFill>
              </a:rPr>
              <a:t>章：软件中所表示的模型</a:t>
            </a:r>
          </a:p>
        </p:txBody>
      </p:sp>
    </p:spTree>
    <p:extLst>
      <p:ext uri="{BB962C8B-B14F-4D97-AF65-F5344CB8AC3E}">
        <p14:creationId xmlns:p14="http://schemas.microsoft.com/office/powerpoint/2010/main" val="142544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22C85-2B1F-1F3E-F27C-4690A64F55E0}"/>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59381EF9-2182-FDF5-4FCC-F9CE66038999}"/>
              </a:ext>
            </a:extLst>
          </p:cNvPr>
          <p:cNvSpPr>
            <a:spLocks noGrp="1"/>
          </p:cNvSpPr>
          <p:nvPr>
            <p:ph idx="1"/>
          </p:nvPr>
        </p:nvSpPr>
        <p:spPr>
          <a:xfrm>
            <a:off x="838200" y="1171978"/>
            <a:ext cx="10515599" cy="5320896"/>
          </a:xfrm>
        </p:spPr>
        <p:txBody>
          <a:bodyPr>
            <a:noAutofit/>
          </a:bodyPr>
          <a:lstStyle/>
          <a:p>
            <a:pPr marL="0" indent="0">
              <a:buNone/>
            </a:pPr>
            <a:r>
              <a:rPr lang="zh-CN" altLang="en-US" sz="2000" b="1" dirty="0"/>
              <a:t>聚合（</a:t>
            </a:r>
            <a:r>
              <a:rPr lang="en-US" altLang="zh-CN" sz="2000" b="1" dirty="0"/>
              <a:t>Aggregate</a:t>
            </a:r>
            <a:r>
              <a:rPr lang="zh-CN" altLang="en-US" sz="2000" b="1" dirty="0"/>
              <a:t>）</a:t>
            </a:r>
            <a:endParaRPr lang="en-US" altLang="zh-CN" sz="2000" b="1" dirty="0"/>
          </a:p>
          <a:p>
            <a:r>
              <a:rPr lang="zh-CN" altLang="en-US" sz="1800" dirty="0"/>
              <a:t>领域模型中有大量关联关系：</a:t>
            </a:r>
            <a:r>
              <a:rPr lang="en-US" altLang="zh-CN" sz="1800" dirty="0"/>
              <a:t>Order → </a:t>
            </a:r>
            <a:r>
              <a:rPr lang="en-US" altLang="zh-CN" sz="1800" dirty="0" err="1"/>
              <a:t>OrderItem</a:t>
            </a:r>
            <a:r>
              <a:rPr lang="en-US" altLang="zh-CN" sz="1800" dirty="0"/>
              <a:t> → Product</a:t>
            </a:r>
            <a:r>
              <a:rPr lang="zh-CN" altLang="en-US" sz="1800" dirty="0"/>
              <a:t>，</a:t>
            </a:r>
            <a:r>
              <a:rPr lang="en-US" altLang="zh-CN" sz="1800" dirty="0"/>
              <a:t>User → Cart → </a:t>
            </a:r>
            <a:r>
              <a:rPr lang="en-US" altLang="zh-CN" sz="1800" dirty="0" err="1"/>
              <a:t>CartItem</a:t>
            </a:r>
            <a:r>
              <a:rPr lang="en-US" altLang="zh-CN" sz="1800" dirty="0"/>
              <a:t> → Product</a:t>
            </a:r>
          </a:p>
          <a:p>
            <a:r>
              <a:rPr lang="zh-CN" altLang="en-US" sz="1800" dirty="0"/>
              <a:t>如果允许任意访问，数据一致性和并发控制会变成灾难</a:t>
            </a:r>
            <a:endParaRPr lang="en-US" altLang="zh-CN" sz="1800" dirty="0"/>
          </a:p>
          <a:p>
            <a:r>
              <a:rPr lang="zh-CN" altLang="en-US" sz="1800" dirty="0"/>
              <a:t>多个用户同时修改关联对象可能导致数据损坏</a:t>
            </a:r>
          </a:p>
          <a:p>
            <a:pPr marL="0" indent="0">
              <a:buNone/>
            </a:pPr>
            <a:r>
              <a:rPr lang="zh-CN" altLang="en-US" sz="1800" dirty="0"/>
              <a:t>聚合的解决方案：</a:t>
            </a:r>
          </a:p>
          <a:p>
            <a:r>
              <a:rPr lang="zh-CN" altLang="en-US" sz="1800" dirty="0"/>
              <a:t>将一组紧密相关的对象划为一个聚合</a:t>
            </a:r>
            <a:endParaRPr lang="en-US" altLang="zh-CN" sz="1800" dirty="0"/>
          </a:p>
          <a:p>
            <a:r>
              <a:rPr lang="zh-CN" altLang="en-US" sz="1800" dirty="0"/>
              <a:t>每个聚合有一个聚合根（</a:t>
            </a:r>
            <a:r>
              <a:rPr lang="en-US" altLang="zh-CN" sz="1800" dirty="0"/>
              <a:t>Aggregate Root</a:t>
            </a:r>
            <a:r>
              <a:rPr lang="zh-CN" altLang="en-US" sz="1800" dirty="0"/>
              <a:t>）</a:t>
            </a:r>
            <a:r>
              <a:rPr lang="en-US" altLang="zh-CN" sz="1800" dirty="0"/>
              <a:t>——</a:t>
            </a:r>
            <a:r>
              <a:rPr lang="zh-CN" altLang="en-US" sz="1800" dirty="0"/>
              <a:t>唯一的入口</a:t>
            </a:r>
            <a:endParaRPr lang="en-US" altLang="zh-CN" sz="1800" dirty="0"/>
          </a:p>
          <a:p>
            <a:r>
              <a:rPr lang="zh-CN" altLang="en-US" sz="1800" dirty="0"/>
              <a:t>外部对象只能引用聚合根，不能直接引用内部对象</a:t>
            </a:r>
            <a:endParaRPr lang="en-US" altLang="zh-CN" sz="1800" dirty="0"/>
          </a:p>
          <a:p>
            <a:r>
              <a:rPr lang="zh-CN" altLang="en-US" sz="1800" dirty="0"/>
              <a:t>聚合根负责维护内部所有对象的不变式（</a:t>
            </a:r>
            <a:r>
              <a:rPr lang="en-US" altLang="zh-CN" sz="1800" dirty="0"/>
              <a:t>Invariant</a:t>
            </a:r>
            <a:r>
              <a:rPr lang="zh-CN" altLang="en-US" sz="1800" dirty="0"/>
              <a:t>）</a:t>
            </a:r>
            <a:endParaRPr lang="en-US" altLang="zh-CN" sz="1800" dirty="0"/>
          </a:p>
          <a:p>
            <a:r>
              <a:rPr lang="zh-CN" altLang="en-US" sz="1800" dirty="0"/>
              <a:t>删除聚合根 → 删除聚合内所有对象（级联删除）</a:t>
            </a:r>
          </a:p>
          <a:p>
            <a:r>
              <a:rPr lang="zh-CN" altLang="en-US" sz="1800" dirty="0"/>
              <a:t>修改聚合内对象 → 只能通过聚合根操作</a:t>
            </a:r>
          </a:p>
          <a:p>
            <a:r>
              <a:rPr lang="zh-CN" altLang="en-US" sz="1800" dirty="0"/>
              <a:t>修改的边界 </a:t>
            </a:r>
            <a:r>
              <a:rPr lang="en-US" altLang="zh-CN" sz="1800" dirty="0"/>
              <a:t>= </a:t>
            </a:r>
            <a:r>
              <a:rPr lang="zh-CN" altLang="en-US" sz="1800" dirty="0"/>
              <a:t>聚合的边界（一次事务只修改一个聚合）</a:t>
            </a:r>
          </a:p>
        </p:txBody>
      </p:sp>
      <p:sp>
        <p:nvSpPr>
          <p:cNvPr id="2" name="标题 1">
            <a:extLst>
              <a:ext uri="{FF2B5EF4-FFF2-40B4-BE49-F238E27FC236}">
                <a16:creationId xmlns:a16="http://schemas.microsoft.com/office/drawing/2014/main" id="{4DF10E57-205D-706C-6D24-8C692AE2B336}"/>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6</a:t>
            </a:r>
            <a:r>
              <a:rPr lang="zh-CN" altLang="en-US" sz="3200" dirty="0">
                <a:solidFill>
                  <a:srgbClr val="4ACBD6"/>
                </a:solidFill>
              </a:rPr>
              <a:t>章：领域对象的生命周期</a:t>
            </a:r>
          </a:p>
        </p:txBody>
      </p:sp>
    </p:spTree>
    <p:extLst>
      <p:ext uri="{BB962C8B-B14F-4D97-AF65-F5344CB8AC3E}">
        <p14:creationId xmlns:p14="http://schemas.microsoft.com/office/powerpoint/2010/main" val="774978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87758-53DF-2ACE-1D76-1DD9CA1ED170}"/>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247E2E94-559A-3AE4-5C75-106778DAF733}"/>
              </a:ext>
            </a:extLst>
          </p:cNvPr>
          <p:cNvSpPr>
            <a:spLocks noGrp="1"/>
          </p:cNvSpPr>
          <p:nvPr>
            <p:ph idx="1"/>
          </p:nvPr>
        </p:nvSpPr>
        <p:spPr>
          <a:xfrm>
            <a:off x="838200" y="1171978"/>
            <a:ext cx="10515599" cy="5320896"/>
          </a:xfrm>
        </p:spPr>
        <p:txBody>
          <a:bodyPr>
            <a:noAutofit/>
          </a:bodyPr>
          <a:lstStyle/>
          <a:p>
            <a:pPr marL="0" indent="0">
              <a:buNone/>
            </a:pPr>
            <a:r>
              <a:rPr lang="zh-CN" altLang="en-US" sz="2000" b="1" dirty="0"/>
              <a:t>工厂（</a:t>
            </a:r>
            <a:r>
              <a:rPr lang="en-US" altLang="zh-CN" sz="2000" b="1" dirty="0"/>
              <a:t>Factory</a:t>
            </a:r>
            <a:r>
              <a:rPr lang="zh-CN" altLang="en-US" sz="2000" b="1" dirty="0"/>
              <a:t>）</a:t>
            </a:r>
          </a:p>
          <a:p>
            <a:r>
              <a:rPr lang="zh-CN" altLang="en-US" sz="1800" dirty="0"/>
              <a:t>定义：</a:t>
            </a:r>
          </a:p>
          <a:p>
            <a:r>
              <a:rPr lang="zh-CN" altLang="en-US" sz="1800" dirty="0"/>
              <a:t>封装复杂对象或聚合的创建逻辑</a:t>
            </a:r>
          </a:p>
          <a:p>
            <a:r>
              <a:rPr lang="zh-CN" altLang="en-US" sz="1800" dirty="0"/>
              <a:t>当构造函数无法清晰表达创建意图时使用</a:t>
            </a:r>
            <a:endParaRPr lang="en-US" altLang="zh-CN" sz="1800" dirty="0"/>
          </a:p>
          <a:p>
            <a:endParaRPr lang="en-US" altLang="zh-CN" sz="1800" dirty="0"/>
          </a:p>
          <a:p>
            <a:r>
              <a:rPr lang="zh-CN" altLang="en-US" sz="1800" dirty="0"/>
              <a:t>何时使用工厂：</a:t>
            </a:r>
            <a:endParaRPr lang="en-US" altLang="zh-CN" sz="1800" dirty="0"/>
          </a:p>
          <a:p>
            <a:pPr marL="0" indent="0">
              <a:buNone/>
            </a:pPr>
            <a:endParaRPr lang="en-US" altLang="zh-CN" sz="1800" dirty="0"/>
          </a:p>
          <a:p>
            <a:endParaRPr lang="en-US" altLang="zh-CN" sz="1800" dirty="0"/>
          </a:p>
          <a:p>
            <a:endParaRPr lang="en-US" altLang="zh-CN" sz="1800" dirty="0"/>
          </a:p>
          <a:p>
            <a:endParaRPr lang="en-US" altLang="zh-CN" sz="1800" dirty="0"/>
          </a:p>
          <a:p>
            <a:endParaRPr lang="en-US" altLang="zh-CN" sz="1800" dirty="0"/>
          </a:p>
          <a:p>
            <a:r>
              <a:rPr lang="zh-CN" altLang="en-US" sz="1800" dirty="0"/>
              <a:t>好的工厂需要满足以下两个基本需求：</a:t>
            </a:r>
            <a:endParaRPr lang="en-US" altLang="zh-CN" sz="1800" dirty="0"/>
          </a:p>
          <a:p>
            <a:pPr marL="342900" indent="-342900">
              <a:buFont typeface="+mj-lt"/>
              <a:buAutoNum type="arabicPeriod"/>
            </a:pPr>
            <a:r>
              <a:rPr lang="zh-CN" altLang="en-US" sz="1800" dirty="0"/>
              <a:t>每个创建方法都是原子的，而且要保证被创建对象或</a:t>
            </a:r>
            <a:r>
              <a:rPr lang="en-US" altLang="zh-CN" sz="1800" dirty="0"/>
              <a:t>AGGREGATE</a:t>
            </a:r>
            <a:r>
              <a:rPr lang="zh-CN" altLang="en-US" sz="1800" dirty="0"/>
              <a:t>的所有固定规则。</a:t>
            </a:r>
            <a:endParaRPr lang="en-US" altLang="zh-CN" sz="1800" dirty="0"/>
          </a:p>
          <a:p>
            <a:pPr marL="342900" indent="-342900">
              <a:buFont typeface="+mj-lt"/>
              <a:buAutoNum type="arabicPeriod"/>
            </a:pPr>
            <a:r>
              <a:rPr lang="en-US" altLang="zh-CN" sz="1800" dirty="0"/>
              <a:t>FACTORY</a:t>
            </a:r>
            <a:r>
              <a:rPr lang="zh-CN" altLang="en-US" sz="1800" dirty="0"/>
              <a:t>应该被抽象为所需的类型，而不是所要创建的具体类。</a:t>
            </a:r>
          </a:p>
        </p:txBody>
      </p:sp>
      <p:sp>
        <p:nvSpPr>
          <p:cNvPr id="2" name="标题 1">
            <a:extLst>
              <a:ext uri="{FF2B5EF4-FFF2-40B4-BE49-F238E27FC236}">
                <a16:creationId xmlns:a16="http://schemas.microsoft.com/office/drawing/2014/main" id="{5E7B65CE-4E64-B32B-85D5-8AFBE97F95FC}"/>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6</a:t>
            </a:r>
            <a:r>
              <a:rPr lang="zh-CN" altLang="en-US" sz="3200" dirty="0">
                <a:solidFill>
                  <a:srgbClr val="4ACBD6"/>
                </a:solidFill>
              </a:rPr>
              <a:t>章：领域对象的生命周期</a:t>
            </a:r>
          </a:p>
        </p:txBody>
      </p:sp>
      <p:graphicFrame>
        <p:nvGraphicFramePr>
          <p:cNvPr id="7" name="表格 6">
            <a:extLst>
              <a:ext uri="{FF2B5EF4-FFF2-40B4-BE49-F238E27FC236}">
                <a16:creationId xmlns:a16="http://schemas.microsoft.com/office/drawing/2014/main" id="{617B1EBE-5276-FA65-872F-7909301166C2}"/>
              </a:ext>
            </a:extLst>
          </p:cNvPr>
          <p:cNvGraphicFramePr>
            <a:graphicFrameLocks noGrp="1"/>
          </p:cNvGraphicFramePr>
          <p:nvPr>
            <p:extLst>
              <p:ext uri="{D42A27DB-BD31-4B8C-83A1-F6EECF244321}">
                <p14:modId xmlns:p14="http://schemas.microsoft.com/office/powerpoint/2010/main" val="4190234117"/>
              </p:ext>
            </p:extLst>
          </p:nvPr>
        </p:nvGraphicFramePr>
        <p:xfrm>
          <a:off x="838199" y="3429000"/>
          <a:ext cx="8128000" cy="1483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84588587"/>
                    </a:ext>
                  </a:extLst>
                </a:gridCol>
                <a:gridCol w="4064000">
                  <a:extLst>
                    <a:ext uri="{9D8B030D-6E8A-4147-A177-3AD203B41FA5}">
                      <a16:colId xmlns:a16="http://schemas.microsoft.com/office/drawing/2014/main" val="679821903"/>
                    </a:ext>
                  </a:extLst>
                </a:gridCol>
              </a:tblGrid>
              <a:tr h="370840">
                <a:tc>
                  <a:txBody>
                    <a:bodyPr/>
                    <a:lstStyle/>
                    <a:p>
                      <a:pPr>
                        <a:buNone/>
                      </a:pPr>
                      <a:r>
                        <a:rPr lang="zh-CN" altLang="en-US" dirty="0">
                          <a:effectLst/>
                        </a:rPr>
                        <a:t>场景</a:t>
                      </a:r>
                    </a:p>
                  </a:txBody>
                  <a:tcPr marL="25400" marR="25400" marT="25400" marB="25400" anchor="ctr"/>
                </a:tc>
                <a:tc>
                  <a:txBody>
                    <a:bodyPr/>
                    <a:lstStyle/>
                    <a:p>
                      <a:pPr>
                        <a:buNone/>
                      </a:pPr>
                      <a:r>
                        <a:rPr lang="zh-CN" altLang="en-US">
                          <a:effectLst/>
                        </a:rPr>
                        <a:t>解决方案</a:t>
                      </a:r>
                    </a:p>
                  </a:txBody>
                  <a:tcPr marL="25400" marR="25400" marT="25400" marB="25400" anchor="ctr"/>
                </a:tc>
                <a:extLst>
                  <a:ext uri="{0D108BD9-81ED-4DB2-BD59-A6C34878D82A}">
                    <a16:rowId xmlns:a16="http://schemas.microsoft.com/office/drawing/2014/main" val="2018471550"/>
                  </a:ext>
                </a:extLst>
              </a:tr>
              <a:tr h="370840">
                <a:tc>
                  <a:txBody>
                    <a:bodyPr/>
                    <a:lstStyle/>
                    <a:p>
                      <a:pPr>
                        <a:buNone/>
                      </a:pPr>
                      <a:r>
                        <a:rPr lang="zh-CN" altLang="en-US">
                          <a:effectLst/>
                        </a:rPr>
                        <a:t>创建需要判断多套规则</a:t>
                      </a:r>
                    </a:p>
                  </a:txBody>
                  <a:tcPr marL="25400" marR="25400" marT="25400" marB="25400" anchor="ctr"/>
                </a:tc>
                <a:tc>
                  <a:txBody>
                    <a:bodyPr/>
                    <a:lstStyle/>
                    <a:p>
                      <a:pPr>
                        <a:buNone/>
                      </a:pPr>
                      <a:r>
                        <a:rPr lang="zh-CN" altLang="en-US">
                          <a:effectLst/>
                        </a:rPr>
                        <a:t>工厂封装判断逻辑</a:t>
                      </a:r>
                    </a:p>
                  </a:txBody>
                  <a:tcPr marL="25400" marR="25400" marT="25400" marB="25400" anchor="ctr"/>
                </a:tc>
                <a:extLst>
                  <a:ext uri="{0D108BD9-81ED-4DB2-BD59-A6C34878D82A}">
                    <a16:rowId xmlns:a16="http://schemas.microsoft.com/office/drawing/2014/main" val="3920326145"/>
                  </a:ext>
                </a:extLst>
              </a:tr>
              <a:tr h="370840">
                <a:tc>
                  <a:txBody>
                    <a:bodyPr/>
                    <a:lstStyle/>
                    <a:p>
                      <a:pPr>
                        <a:buNone/>
                      </a:pPr>
                      <a:r>
                        <a:rPr lang="zh-CN" altLang="en-US">
                          <a:effectLst/>
                        </a:rPr>
                        <a:t>创建需要组装多层嵌套对象</a:t>
                      </a:r>
                    </a:p>
                  </a:txBody>
                  <a:tcPr marL="25400" marR="25400" marT="25400" marB="25400" anchor="ctr"/>
                </a:tc>
                <a:tc>
                  <a:txBody>
                    <a:bodyPr/>
                    <a:lstStyle/>
                    <a:p>
                      <a:pPr>
                        <a:buNone/>
                      </a:pPr>
                      <a:r>
                        <a:rPr lang="zh-CN" altLang="en-US" dirty="0">
                          <a:effectLst/>
                        </a:rPr>
                        <a:t>工厂一次性构建完整聚合</a:t>
                      </a:r>
                    </a:p>
                  </a:txBody>
                  <a:tcPr marL="25400" marR="25400" marT="25400" marB="25400" anchor="ctr"/>
                </a:tc>
                <a:extLst>
                  <a:ext uri="{0D108BD9-81ED-4DB2-BD59-A6C34878D82A}">
                    <a16:rowId xmlns:a16="http://schemas.microsoft.com/office/drawing/2014/main" val="2169302777"/>
                  </a:ext>
                </a:extLst>
              </a:tr>
              <a:tr h="370840">
                <a:tc>
                  <a:txBody>
                    <a:bodyPr/>
                    <a:lstStyle/>
                    <a:p>
                      <a:pPr>
                        <a:buNone/>
                      </a:pPr>
                      <a:r>
                        <a:rPr lang="zh-CN" altLang="en-US">
                          <a:effectLst/>
                        </a:rPr>
                        <a:t>希望隐藏子类选择逻辑</a:t>
                      </a:r>
                    </a:p>
                  </a:txBody>
                  <a:tcPr marL="25400" marR="25400" marT="25400" marB="25400" anchor="ctr"/>
                </a:tc>
                <a:tc>
                  <a:txBody>
                    <a:bodyPr/>
                    <a:lstStyle/>
                    <a:p>
                      <a:pPr>
                        <a:buNone/>
                      </a:pPr>
                      <a:r>
                        <a:rPr lang="zh-CN" altLang="en-US" dirty="0">
                          <a:effectLst/>
                        </a:rPr>
                        <a:t>工厂根据参数返回合适的子类</a:t>
                      </a:r>
                    </a:p>
                  </a:txBody>
                  <a:tcPr marL="25400" marR="25400" marT="25400" marB="25400" anchor="ctr"/>
                </a:tc>
                <a:extLst>
                  <a:ext uri="{0D108BD9-81ED-4DB2-BD59-A6C34878D82A}">
                    <a16:rowId xmlns:a16="http://schemas.microsoft.com/office/drawing/2014/main" val="2279010455"/>
                  </a:ext>
                </a:extLst>
              </a:tr>
            </a:tbl>
          </a:graphicData>
        </a:graphic>
      </p:graphicFrame>
    </p:spTree>
    <p:extLst>
      <p:ext uri="{BB962C8B-B14F-4D97-AF65-F5344CB8AC3E}">
        <p14:creationId xmlns:p14="http://schemas.microsoft.com/office/powerpoint/2010/main" val="2018854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12B6C-FDBF-26B6-6BEF-C2049A81F858}"/>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7115C853-35D4-C56E-74A8-C1EBFA735C2C}"/>
              </a:ext>
            </a:extLst>
          </p:cNvPr>
          <p:cNvSpPr>
            <a:spLocks noGrp="1"/>
          </p:cNvSpPr>
          <p:nvPr>
            <p:ph idx="1"/>
          </p:nvPr>
        </p:nvSpPr>
        <p:spPr>
          <a:xfrm>
            <a:off x="838201" y="1171978"/>
            <a:ext cx="10515599" cy="5320896"/>
          </a:xfrm>
        </p:spPr>
        <p:txBody>
          <a:bodyPr>
            <a:noAutofit/>
          </a:bodyPr>
          <a:lstStyle/>
          <a:p>
            <a:pPr marL="0" indent="0">
              <a:buNone/>
            </a:pPr>
            <a:r>
              <a:rPr lang="zh-CN" altLang="en-US" sz="2000" b="1" dirty="0"/>
              <a:t>仓库（</a:t>
            </a:r>
            <a:r>
              <a:rPr lang="en-US" altLang="zh-CN" sz="2000" b="1" dirty="0"/>
              <a:t>Repository</a:t>
            </a:r>
            <a:r>
              <a:rPr lang="zh-CN" altLang="en-US" sz="2000" b="1" dirty="0"/>
              <a:t>）</a:t>
            </a:r>
            <a:endParaRPr lang="en-US" altLang="zh-CN" sz="2000" b="1" dirty="0"/>
          </a:p>
          <a:p>
            <a:pPr marL="0" indent="0">
              <a:buNone/>
            </a:pPr>
            <a:r>
              <a:rPr lang="zh-CN" altLang="en-US" sz="1800" dirty="0"/>
              <a:t>定义：</a:t>
            </a:r>
          </a:p>
          <a:p>
            <a:r>
              <a:rPr lang="zh-CN" altLang="en-US" sz="1800" dirty="0"/>
              <a:t>提供</a:t>
            </a:r>
            <a:r>
              <a:rPr lang="en-US" altLang="zh-CN" sz="1800" dirty="0"/>
              <a:t>"</a:t>
            </a:r>
            <a:r>
              <a:rPr lang="zh-CN" altLang="en-US" sz="1800" dirty="0"/>
              <a:t>像访问内存集合一样</a:t>
            </a:r>
            <a:r>
              <a:rPr lang="en-US" altLang="zh-CN" sz="1800" dirty="0"/>
              <a:t>"</a:t>
            </a:r>
            <a:r>
              <a:rPr lang="zh-CN" altLang="en-US" sz="1800" dirty="0"/>
              <a:t>检索和持久化聚合的假象</a:t>
            </a:r>
            <a:endParaRPr lang="en-US" altLang="zh-CN" sz="1800" dirty="0"/>
          </a:p>
          <a:p>
            <a:r>
              <a:rPr lang="zh-CN" altLang="en-US" sz="1800" dirty="0"/>
              <a:t>隐藏了所有存储技术细节，让领域层不需要知道数据在 </a:t>
            </a:r>
            <a:r>
              <a:rPr lang="en-US" altLang="zh-CN" sz="1800" dirty="0"/>
              <a:t>MySQL / MongoDB / Redis </a:t>
            </a:r>
            <a:r>
              <a:rPr lang="zh-CN" altLang="en-US" sz="1800" dirty="0"/>
              <a:t>中</a:t>
            </a:r>
          </a:p>
          <a:p>
            <a:pPr marL="0" indent="0">
              <a:buNone/>
            </a:pPr>
            <a:endParaRPr lang="en-US" altLang="zh-CN" sz="1800" dirty="0"/>
          </a:p>
          <a:p>
            <a:pPr marL="0" indent="0">
              <a:buNone/>
            </a:pPr>
            <a:r>
              <a:rPr lang="zh-CN" altLang="en-US" sz="1800" dirty="0"/>
              <a:t>仓库的职责：</a:t>
            </a:r>
          </a:p>
          <a:p>
            <a:r>
              <a:rPr lang="zh-CN" altLang="en-US" sz="1800" dirty="0"/>
              <a:t>根据</a:t>
            </a:r>
            <a:r>
              <a:rPr lang="en-US" altLang="zh-CN" sz="1800" dirty="0"/>
              <a:t>ID</a:t>
            </a:r>
            <a:r>
              <a:rPr lang="zh-CN" altLang="en-US" sz="1800" dirty="0"/>
              <a:t>或条件找到聚合根</a:t>
            </a:r>
            <a:endParaRPr lang="en-US" altLang="zh-CN" sz="1800" dirty="0"/>
          </a:p>
          <a:p>
            <a:r>
              <a:rPr lang="zh-CN" altLang="en-US" sz="1800" dirty="0"/>
              <a:t>保存聚合（新增或更新）</a:t>
            </a:r>
            <a:endParaRPr lang="en-US" altLang="zh-CN" sz="1800" dirty="0"/>
          </a:p>
          <a:p>
            <a:r>
              <a:rPr lang="zh-CN" altLang="en-US" sz="1800" dirty="0"/>
              <a:t>删除聚合</a:t>
            </a:r>
            <a:endParaRPr lang="en-US" altLang="zh-CN" sz="1800" dirty="0"/>
          </a:p>
          <a:p>
            <a:endParaRPr lang="en-US" altLang="zh-CN" sz="1800" dirty="0"/>
          </a:p>
          <a:p>
            <a:r>
              <a:rPr lang="zh-CN" altLang="en-US" sz="1800" dirty="0"/>
              <a:t>工厂负责</a:t>
            </a:r>
            <a:r>
              <a:rPr lang="en-US" altLang="zh-CN" sz="1800" dirty="0"/>
              <a:t>"</a:t>
            </a:r>
            <a:r>
              <a:rPr lang="zh-CN" altLang="en-US" sz="1800" dirty="0"/>
              <a:t>生</a:t>
            </a:r>
            <a:r>
              <a:rPr lang="en-US" altLang="zh-CN" sz="1800" dirty="0"/>
              <a:t>"——</a:t>
            </a:r>
            <a:r>
              <a:rPr lang="zh-CN" altLang="en-US" sz="1800" dirty="0"/>
              <a:t>创建完整的、满足不变式的聚合</a:t>
            </a:r>
            <a:endParaRPr lang="en-US" altLang="zh-CN" sz="1800" dirty="0"/>
          </a:p>
          <a:p>
            <a:r>
              <a:rPr lang="zh-CN" altLang="en-US" sz="1800" dirty="0"/>
              <a:t>聚合负责</a:t>
            </a:r>
            <a:r>
              <a:rPr lang="en-US" altLang="zh-CN" sz="1800" dirty="0"/>
              <a:t>"</a:t>
            </a:r>
            <a:r>
              <a:rPr lang="zh-CN" altLang="en-US" sz="1800" dirty="0"/>
              <a:t>管</a:t>
            </a:r>
            <a:r>
              <a:rPr lang="en-US" altLang="zh-CN" sz="1800" dirty="0"/>
              <a:t>"——</a:t>
            </a:r>
            <a:r>
              <a:rPr lang="zh-CN" altLang="en-US" sz="1800" dirty="0"/>
              <a:t>维护内部一致性，是修改的边界</a:t>
            </a:r>
            <a:endParaRPr lang="en-US" altLang="zh-CN" sz="1800" dirty="0"/>
          </a:p>
          <a:p>
            <a:r>
              <a:rPr lang="zh-CN" altLang="en-US" sz="1800" dirty="0"/>
              <a:t>仓库负责</a:t>
            </a:r>
            <a:r>
              <a:rPr lang="en-US" altLang="zh-CN" sz="1800" dirty="0"/>
              <a:t>"</a:t>
            </a:r>
            <a:r>
              <a:rPr lang="zh-CN" altLang="en-US" sz="1800" dirty="0"/>
              <a:t>存</a:t>
            </a:r>
            <a:r>
              <a:rPr lang="en-US" altLang="zh-CN" sz="1800" dirty="0"/>
              <a:t>"——</a:t>
            </a:r>
            <a:r>
              <a:rPr lang="zh-CN" altLang="en-US" sz="1800" dirty="0"/>
              <a:t>持久化和检索，隔离存储技术</a:t>
            </a:r>
            <a:endParaRPr lang="en-US" altLang="zh-CN" sz="1800" dirty="0"/>
          </a:p>
        </p:txBody>
      </p:sp>
      <p:sp>
        <p:nvSpPr>
          <p:cNvPr id="2" name="标题 1">
            <a:extLst>
              <a:ext uri="{FF2B5EF4-FFF2-40B4-BE49-F238E27FC236}">
                <a16:creationId xmlns:a16="http://schemas.microsoft.com/office/drawing/2014/main" id="{CADB0F75-F6D8-EA5F-AB18-884AA02CAB08}"/>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6</a:t>
            </a:r>
            <a:r>
              <a:rPr lang="zh-CN" altLang="en-US" sz="3200" dirty="0">
                <a:solidFill>
                  <a:srgbClr val="4ACBD6"/>
                </a:solidFill>
              </a:rPr>
              <a:t>章：领域对象的生命周期</a:t>
            </a:r>
          </a:p>
        </p:txBody>
      </p:sp>
    </p:spTree>
    <p:extLst>
      <p:ext uri="{BB962C8B-B14F-4D97-AF65-F5344CB8AC3E}">
        <p14:creationId xmlns:p14="http://schemas.microsoft.com/office/powerpoint/2010/main" val="4225508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1460</TotalTime>
  <Words>2958</Words>
  <Application>Microsoft Office PowerPoint</Application>
  <PresentationFormat>宽屏</PresentationFormat>
  <Paragraphs>189</Paragraphs>
  <Slides>17</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17</vt:i4>
      </vt:variant>
    </vt:vector>
  </HeadingPairs>
  <TitlesOfParts>
    <vt:vector size="22" baseType="lpstr">
      <vt:lpstr>等线</vt:lpstr>
      <vt:lpstr>等线 Light</vt:lpstr>
      <vt:lpstr>Arial</vt:lpstr>
      <vt:lpstr>Consolas</vt:lpstr>
      <vt:lpstr>Office 主题​​</vt:lpstr>
      <vt:lpstr>《领域驱动设计》第1-6章读书分享 </vt:lpstr>
      <vt:lpstr>目录</vt:lpstr>
      <vt:lpstr>第1章：消化知识</vt:lpstr>
      <vt:lpstr>第1章：消化知识</vt:lpstr>
      <vt:lpstr>第2章：语言的交流和使用</vt:lpstr>
      <vt:lpstr>第2章：语言的交流和使用</vt:lpstr>
      <vt:lpstr>第2章：语言的交流和使用</vt:lpstr>
      <vt:lpstr>第3章：绑定模型和实现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1113054274@qq.com</dc:creator>
  <cp:lastModifiedBy>1113054274@qq.com</cp:lastModifiedBy>
  <cp:revision>100</cp:revision>
  <dcterms:created xsi:type="dcterms:W3CDTF">2025-11-25T14:46:02Z</dcterms:created>
  <dcterms:modified xsi:type="dcterms:W3CDTF">2026-06-16T18:34:09Z</dcterms:modified>
</cp:coreProperties>
</file>