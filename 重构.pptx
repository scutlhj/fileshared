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4" r:id="rId4"/>
    <p:sldId id="289" r:id="rId5"/>
    <p:sldId id="290" r:id="rId6"/>
    <p:sldId id="273" r:id="rId7"/>
    <p:sldId id="292" r:id="rId8"/>
    <p:sldId id="281" r:id="rId9"/>
    <p:sldId id="287" r:id="rId10"/>
    <p:sldId id="288" r:id="rId11"/>
    <p:sldId id="282" r:id="rId12"/>
    <p:sldId id="29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113054274@qq.com" initials="1" lastIdx="5" clrIdx="0">
    <p:extLst>
      <p:ext uri="{19B8F6BF-5375-455C-9EA6-DF929625EA0E}">
        <p15:presenceInfo xmlns:p15="http://schemas.microsoft.com/office/powerpoint/2012/main" userId="03292909b2ee05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C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EB2F9-B744-1B12-FAB9-E9D1B30D0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6A1AD1-F657-4561-EE7A-B48CDFEDE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5FC9C-5E7E-DF84-9353-D3977FAD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12500D-6D11-0C2B-A740-9486CB4B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8227E-204C-3895-D6B0-FD293C97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14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605AA-2D58-7FE3-3D65-2F2C2D99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6398C-8F4B-94EE-C000-465E4EF9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CF015-F3CE-103A-E80F-C5D5ED4C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3E700-2180-DC70-ED0D-6C597023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7126A-2DDF-8FDD-C25C-29193784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29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78C7B-3230-A3FB-129A-7E5A1FE2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91EFD5-6BA0-5862-5C24-506AAE9FB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835FB-64EC-E937-25F7-314DB5D6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7F05D-12FA-5591-8E4C-E646C84B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E7303-235F-6CF2-48FE-341251E5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40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AD54F-8FAF-F03E-62B1-ABCB4E1C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2C2CA3-A4C3-EC06-C6EA-2110E3A13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275E03-600E-6FBA-449E-3D5685F04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176CEB-B2AA-9AD2-62B0-8AD6EEC2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94F1A6-7624-CBD6-5210-C6455EDB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BED4E0-7089-04AA-0A30-052EFDE9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75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12170-C317-D0A0-6400-6700CFD6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661CD5-8069-3AD0-96F3-8B280A86A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AE6E42-1E03-E9A7-FB21-D4B663E1D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ACDE0B-32D8-6724-82C2-5BB3CD412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14F550-0DBC-F07F-EC80-678BA9121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D51014-26C0-C3B0-6AC4-50E57524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454C82-67A0-54FD-27A2-627970C7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D9C6A2-D0D0-3EED-6789-0303C6E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77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12F54-03BD-9DC6-B668-E4AE3EDC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DD6214-CC1F-F27F-8E53-3092091D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2B2EB7-654D-0AA8-6EA4-591AADB7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2C064F-118A-16CD-E2BC-216C102A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D1F322-47B0-CE51-E36C-1C6A9AF8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AC2174-F708-A162-5F98-4A8A0015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340894-D7ED-50C4-6205-5E6F08E3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7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7F3D6-0393-18DF-8D98-89E885CE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BAA5F6-4533-8A27-ABA7-2F125F302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A17E01-9D5F-C3E9-0AA1-6509A03BE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3EC7C3-6DBF-AC3B-B0C1-BA6822B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8C716E-73D4-5BF3-CCCA-BFA1EACE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BEB5E9-F970-6B49-3544-6CDB8D2E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52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DD62A-D7F1-DFFE-9E18-C8E33E53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2B9CA9-F04D-10D2-3180-4BC5F87D9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76FA08-82C6-59F5-C681-B70FCEC16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75771C-E53A-961D-5EC5-61237EDE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674213-C045-C99A-7263-9E432CB6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6E85C-19DE-4611-DDBA-61E76C32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13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0524A-5B86-6991-E635-08BD28C7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FD2E25-6045-74A4-B062-5822036D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2737B2-DE05-A04C-639F-A721ADE0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CA729-9188-0E5D-C9B6-BD19DAF0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911A5-E567-5999-E769-3499E024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2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521097-30D1-7DB5-7FAE-47785DD29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B456D9-D01A-67BB-039F-899B46D15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4415B-8448-8CBB-51A8-CD54B700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38E30-5ECF-16B2-3F10-D138260F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5F3FF-A51C-D63E-3D36-5D583754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22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D1B41D-419B-AEB1-9F73-5A3AC07C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B5F6C-E60A-28C3-0D5D-B71F61F0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629E56-5E1D-7ED1-66A8-C588ED18E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0210E-5E95-47B4-8381-15CFB96B7177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5B95E-A245-C7DC-E5DF-D93D8F2EB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095E3-0D04-2C0B-CC11-B9E925EF5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B3619-DF15-477E-86B7-BF27CED59C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20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82874-D099-EA2D-32CB-3BF7A1B79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464" y="1214438"/>
            <a:ext cx="10205071" cy="2387600"/>
          </a:xfrm>
        </p:spPr>
        <p:txBody>
          <a:bodyPr>
            <a:normAutofit/>
          </a:bodyPr>
          <a:lstStyle/>
          <a:p>
            <a:r>
              <a:rPr lang="en-US" altLang="zh-CN" sz="4400" b="1" dirty="0"/>
              <a:t>《</a:t>
            </a:r>
            <a:r>
              <a:rPr lang="zh-CN" altLang="en-US" sz="4400" b="1" dirty="0"/>
              <a:t>重构</a:t>
            </a:r>
            <a:r>
              <a:rPr lang="en-US" altLang="zh-CN" sz="4400" b="1" dirty="0"/>
              <a:t>》</a:t>
            </a:r>
            <a:r>
              <a:rPr lang="zh-CN" altLang="en-US" sz="4400" b="1" dirty="0"/>
              <a:t>第</a:t>
            </a:r>
            <a:r>
              <a:rPr lang="en-US" altLang="zh-CN" sz="4400" b="1" dirty="0"/>
              <a:t>1-6</a:t>
            </a:r>
            <a:r>
              <a:rPr lang="zh-CN" altLang="en-US" sz="4400" b="1" dirty="0"/>
              <a:t>章读书分享</a:t>
            </a:r>
            <a:br>
              <a:rPr lang="zh-CN" altLang="en-US" sz="4400" dirty="0"/>
            </a:b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6AF5D-25CB-0809-5CA5-985A99279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15228"/>
            <a:ext cx="9144000" cy="1655762"/>
          </a:xfrm>
        </p:spPr>
        <p:txBody>
          <a:bodyPr/>
          <a:lstStyle/>
          <a:p>
            <a:r>
              <a:rPr lang="zh-CN" altLang="en-US" dirty="0"/>
              <a:t>分享人</a:t>
            </a:r>
            <a:r>
              <a:rPr lang="en-US" altLang="zh-CN" dirty="0"/>
              <a:t>:</a:t>
            </a:r>
            <a:r>
              <a:rPr lang="zh-CN" altLang="en-US" dirty="0"/>
              <a:t>林灏均</a:t>
            </a:r>
          </a:p>
        </p:txBody>
      </p:sp>
    </p:spTree>
    <p:extLst>
      <p:ext uri="{BB962C8B-B14F-4D97-AF65-F5344CB8AC3E}">
        <p14:creationId xmlns:p14="http://schemas.microsoft.com/office/powerpoint/2010/main" val="24650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0BF89-A9D1-50CC-EE8A-16BC3260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4ACBD6"/>
                </a:solidFill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F18F4-6ABC-2005-9D60-D05C2903A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70788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重构，第一个示例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重构的原则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代码的坏味道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构筑测试体系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介绍重构名录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第一组重构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8696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8C141-3D2C-322F-DB22-817A29A0F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85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1</a:t>
            </a:r>
            <a:r>
              <a:rPr lang="zh-CN" altLang="en-US" sz="3200" dirty="0">
                <a:solidFill>
                  <a:srgbClr val="4ACBD6"/>
                </a:solidFill>
              </a:rPr>
              <a:t>章：重构，第一个示例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CD55D80-6252-A3D9-DE2A-38EC5132A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184" t="8614" r="7606" b="6853"/>
          <a:stretch>
            <a:fillRect/>
          </a:stretch>
        </p:blipFill>
        <p:spPr>
          <a:xfrm>
            <a:off x="6683097" y="518549"/>
            <a:ext cx="4872710" cy="6138847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201697C7-8DF5-7FB9-F713-DEC834D87397}"/>
              </a:ext>
            </a:extLst>
          </p:cNvPr>
          <p:cNvSpPr txBox="1">
            <a:spLocks/>
          </p:cNvSpPr>
          <p:nvPr/>
        </p:nvSpPr>
        <p:spPr>
          <a:xfrm>
            <a:off x="838200" y="1171978"/>
            <a:ext cx="5151427" cy="5320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67B14D-1FDB-7B9B-6128-5D2163E0EC6C}"/>
              </a:ext>
            </a:extLst>
          </p:cNvPr>
          <p:cNvSpPr txBox="1"/>
          <p:nvPr/>
        </p:nvSpPr>
        <p:spPr>
          <a:xfrm>
            <a:off x="838200" y="1453889"/>
            <a:ext cx="5257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Statement </a:t>
            </a:r>
            <a:r>
              <a:rPr lang="zh-CN" altLang="en-US" sz="2400" b="1" dirty="0"/>
              <a:t>函数做了以下的事情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/>
              <a:t>初始化 </a:t>
            </a:r>
            <a:r>
              <a:rPr lang="en-US" altLang="zh-CN" sz="1800" dirty="0"/>
              <a:t>format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遍历 </a:t>
            </a:r>
            <a:r>
              <a:rPr lang="en-US" altLang="zh-CN" dirty="0"/>
              <a:t>performances</a:t>
            </a:r>
            <a:r>
              <a:rPr lang="zh-CN" altLang="en-US" dirty="0"/>
              <a:t>，拿到 </a:t>
            </a:r>
            <a:r>
              <a:rPr lang="en-US" altLang="zh-CN" dirty="0"/>
              <a:t>play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根据 </a:t>
            </a:r>
            <a:r>
              <a:rPr lang="en-US" altLang="zh-CN" dirty="0" err="1"/>
              <a:t>play.type</a:t>
            </a:r>
            <a:r>
              <a:rPr lang="en-US" altLang="zh-CN" dirty="0"/>
              <a:t> </a:t>
            </a:r>
            <a:r>
              <a:rPr lang="zh-CN" altLang="en-US" dirty="0"/>
              <a:t>算 </a:t>
            </a:r>
            <a:r>
              <a:rPr lang="en-US" altLang="zh-CN" dirty="0" err="1"/>
              <a:t>thisAmount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计算 </a:t>
            </a:r>
            <a:r>
              <a:rPr lang="en-US" altLang="zh-CN" dirty="0" err="1"/>
              <a:t>volumeCredits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拼接 </a:t>
            </a:r>
            <a:r>
              <a:rPr lang="en-US" altLang="zh-CN" dirty="0"/>
              <a:t>result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计算 </a:t>
            </a:r>
            <a:r>
              <a:rPr lang="en-US" altLang="zh-CN" dirty="0" err="1"/>
              <a:t>totalAmout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如果要给程序添加一个特性，但发现代码因缺乏良好的结构而不易于进行更改，那就先重构那个程序，使其比较容易添加该特性，然后再添加该特性。</a:t>
            </a:r>
            <a:endParaRPr lang="en-US" altLang="zh-CN" b="1" dirty="0"/>
          </a:p>
          <a:p>
            <a:pPr marL="457200" indent="-457200">
              <a:buFont typeface="+mj-lt"/>
              <a:buAutoNum type="arabicPeriod"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65860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02D78-E587-C5C5-616B-A12FDC13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B490D-6CB5-86A7-E707-15A9C16B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85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1</a:t>
            </a:r>
            <a:r>
              <a:rPr lang="zh-CN" altLang="en-US" sz="3200" dirty="0">
                <a:solidFill>
                  <a:srgbClr val="4ACBD6"/>
                </a:solidFill>
              </a:rPr>
              <a:t>章：重构，第一个示例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24624D6-C2DB-C803-2716-01B715F5C85E}"/>
              </a:ext>
            </a:extLst>
          </p:cNvPr>
          <p:cNvSpPr txBox="1">
            <a:spLocks/>
          </p:cNvSpPr>
          <p:nvPr/>
        </p:nvSpPr>
        <p:spPr>
          <a:xfrm>
            <a:off x="838200" y="1171978"/>
            <a:ext cx="5151427" cy="5320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1875D6-23CB-A991-E0E1-08C406340D33}"/>
              </a:ext>
            </a:extLst>
          </p:cNvPr>
          <p:cNvSpPr txBox="1"/>
          <p:nvPr/>
        </p:nvSpPr>
        <p:spPr>
          <a:xfrm>
            <a:off x="838200" y="1171978"/>
            <a:ext cx="3324416" cy="483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/>
              <a:t>书中重构的做法</a:t>
            </a:r>
            <a:endParaRPr lang="en-US" altLang="zh-CN" sz="2400" b="1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写测试：先为 </a:t>
            </a:r>
            <a:r>
              <a:rPr lang="en-US" altLang="zh-CN" dirty="0"/>
              <a:t>statement </a:t>
            </a:r>
            <a:r>
              <a:rPr lang="zh-CN" altLang="en-US" dirty="0"/>
              <a:t>写一个简单的单元测试，确保后续每步修改后，输出完全相同。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800" dirty="0"/>
              <a:t>抽取子函数：抽取 </a:t>
            </a:r>
            <a:r>
              <a:rPr lang="en-US" altLang="zh-CN" sz="1800" dirty="0"/>
              <a:t>format </a:t>
            </a:r>
            <a:r>
              <a:rPr lang="zh-CN" altLang="en-US" sz="1800" dirty="0"/>
              <a:t>初始化，计算 </a:t>
            </a:r>
            <a:r>
              <a:rPr lang="en-US" altLang="zh-CN" sz="1800" dirty="0" err="1"/>
              <a:t>thisAmout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volumeCredits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totalAmout</a:t>
            </a:r>
            <a:r>
              <a:rPr lang="en-US" altLang="zh-CN" sz="1800" dirty="0"/>
              <a:t> </a:t>
            </a:r>
            <a:r>
              <a:rPr lang="zh-CN" altLang="en-US" sz="1800" dirty="0"/>
              <a:t>的逻辑分别到一个函数，主逻辑只保留拼接 </a:t>
            </a:r>
            <a:r>
              <a:rPr lang="en-US" altLang="zh-CN" sz="1800" dirty="0"/>
              <a:t>result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拆分渲染逻辑和计算逻辑到两个文件</a:t>
            </a:r>
            <a:endParaRPr lang="en-US" altLang="zh-CN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800" dirty="0"/>
              <a:t>使用继承，多态拆分不同类型的计算逻辑</a:t>
            </a:r>
            <a:endParaRPr lang="en-US" altLang="zh-CN" sz="18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F74B85C-3D29-9061-5462-AB95608F49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70" t="12783" r="8482" b="7342"/>
          <a:stretch>
            <a:fillRect/>
          </a:stretch>
        </p:blipFill>
        <p:spPr>
          <a:xfrm>
            <a:off x="8169765" y="1285665"/>
            <a:ext cx="3909214" cy="360560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26A10E5-A8DB-F9BF-D51B-084E2FC7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65" t="9038" r="8383" b="5325"/>
          <a:stretch>
            <a:fillRect/>
          </a:stretch>
        </p:blipFill>
        <p:spPr>
          <a:xfrm>
            <a:off x="4318085" y="1285665"/>
            <a:ext cx="3654020" cy="525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7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B071-58A4-3CC7-7A67-32421E9E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EDBE0-D299-1FEC-7DE4-75717A23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85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1</a:t>
            </a:r>
            <a:r>
              <a:rPr lang="zh-CN" altLang="en-US" sz="3200" dirty="0">
                <a:solidFill>
                  <a:srgbClr val="4ACBD6"/>
                </a:solidFill>
              </a:rPr>
              <a:t>章：重构，第一个示例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A644246-B18D-98E2-5A5B-B8B37E92837F}"/>
              </a:ext>
            </a:extLst>
          </p:cNvPr>
          <p:cNvSpPr txBox="1">
            <a:spLocks/>
          </p:cNvSpPr>
          <p:nvPr/>
        </p:nvSpPr>
        <p:spPr>
          <a:xfrm>
            <a:off x="838200" y="1171978"/>
            <a:ext cx="5151427" cy="5320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7413AA-D5E7-B91A-AD70-A074C4B192B2}"/>
              </a:ext>
            </a:extLst>
          </p:cNvPr>
          <p:cNvSpPr txBox="1"/>
          <p:nvPr/>
        </p:nvSpPr>
        <p:spPr>
          <a:xfrm>
            <a:off x="838199" y="1171978"/>
            <a:ext cx="9833891" cy="217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/>
              <a:t>总结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800" dirty="0"/>
              <a:t>一般来说，重构早期的主要动力是尝试理解代码如何工作。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800" dirty="0"/>
              <a:t>什么样的代码才算好代码，程序员们有很多争论。</a:t>
            </a:r>
            <a:r>
              <a:rPr lang="zh-CN" altLang="en-US" sz="1800" b="1" dirty="0"/>
              <a:t>好代码的检验标准就是人们是否能轻而易举地修改它。</a:t>
            </a:r>
            <a:r>
              <a:rPr lang="zh-CN" altLang="en-US" sz="1800" dirty="0"/>
              <a:t>好代码应该直截了当：有人需要修改代码时，他们应能轻易找到修改点，应该能快速做出更改，而不易引入其他错误。</a:t>
            </a:r>
            <a:endParaRPr lang="en-US" altLang="zh-CN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重构代码需要保持小步前进，小步修改累积起来也能大大改善系统的设计。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773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82D6A-C060-5A1F-B76A-975D10D4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1978"/>
            <a:ext cx="10647405" cy="532089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何为重构：使用一系列重构手法，在不改变软件可观察行为的前提下，调整其结构。如果有人说他们的代码在重构过程中有一两天时间不可用，基本上可以确定，他们在做的事不是重构（而是“结构调整”）。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可观察行为：整体而言，经过重构之后的代码所做的事应该与重构之前大致一样。重构之后的代码不一定与重构前行为完全一致。就调用者关心的行为而言，不应该有任何改变。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两顶帽子：添加新功能和重构。添加新功能时，不应该修改既有代码，只管添加新功能。通过添加测试并让测试正常运行。重构时我就不能再添加功能，只管调整代码的结构。</a:t>
            </a:r>
            <a:endParaRPr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重构的目的：</a:t>
            </a:r>
            <a:endParaRPr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1600" dirty="0"/>
              <a:t>改进软件的设计，让代码更易读</a:t>
            </a:r>
            <a:endParaRPr lang="en-US" altLang="zh-CN" sz="16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1600" dirty="0"/>
              <a:t>帮助找到 </a:t>
            </a:r>
            <a:r>
              <a:rPr lang="en-US" altLang="zh-CN" sz="1600" dirty="0"/>
              <a:t>bug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1600" dirty="0"/>
              <a:t>提高编程速度</a:t>
            </a:r>
            <a:endParaRPr lang="en-US" altLang="zh-CN" sz="16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F81A364-7989-5BE7-4DA4-F18A21D39C0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2</a:t>
            </a:r>
            <a:r>
              <a:rPr lang="zh-CN" altLang="en-US" sz="3200" dirty="0">
                <a:solidFill>
                  <a:srgbClr val="4ACBD6"/>
                </a:solidFill>
              </a:rPr>
              <a:t>章：重构的原则</a:t>
            </a:r>
          </a:p>
        </p:txBody>
      </p:sp>
    </p:spTree>
    <p:extLst>
      <p:ext uri="{BB962C8B-B14F-4D97-AF65-F5344CB8AC3E}">
        <p14:creationId xmlns:p14="http://schemas.microsoft.com/office/powerpoint/2010/main" val="312245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040B-F32A-1D45-537A-61B95301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89632-FEB5-AB1B-6444-4FEC12C54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1978"/>
            <a:ext cx="10647405" cy="5320896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 startAt="5"/>
            </a:pPr>
            <a:r>
              <a:rPr lang="zh-CN" altLang="en-US" sz="2000" dirty="0"/>
              <a:t>何时重构</a:t>
            </a:r>
            <a:endParaRPr lang="en-US" altLang="zh-CN" sz="20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三次法则：一个简单的经验法则：“事不过三，三则重构。” 第一次做某件事，尽管去做；第二次做类似的事，会有些反感，但还是可以去做；第三次再做类似的事时，就应该重构。这是识别重构时机的“信号灯”。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添加功能时 ：这是最常见的重构时机。在增加新功能之前，如果发现代码结构不佳，就先重构它，让新功能的添加变得更容易。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修复</a:t>
            </a:r>
            <a:r>
              <a:rPr lang="en-US" altLang="zh-CN" sz="1600" dirty="0"/>
              <a:t>Bug</a:t>
            </a:r>
            <a:r>
              <a:rPr lang="zh-CN" altLang="en-US" sz="1600" dirty="0"/>
              <a:t>时：当在排查</a:t>
            </a:r>
            <a:r>
              <a:rPr lang="en-US" altLang="zh-CN" sz="1600" dirty="0"/>
              <a:t>Bug</a:t>
            </a:r>
            <a:r>
              <a:rPr lang="zh-CN" altLang="en-US" sz="1600" dirty="0"/>
              <a:t>时，发现代码难以理解，正是重构的好时机。重构可以让代码更清晰，帮助理清逻辑，从而更快地定位并修复问题。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代码复审时：在团队中进行代码复审时，可以集思广益，提出改进建议。这正是对代码进行重构，让它变得更好的绝佳机会。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“捡垃圾式重构”：不需要专门抽出几周时间来做重构。更好的做法是“见机行事”，在每次修改代码时，顺手将“脏乱差”的地方整理干净。如同露营法则：“保证离开时的代码库一定比来时更健康”。</a:t>
            </a:r>
            <a:endParaRPr lang="en-US" altLang="zh-CN" sz="2000" dirty="0"/>
          </a:p>
          <a:p>
            <a:pPr marL="457200" indent="-457200">
              <a:lnSpc>
                <a:spcPct val="110000"/>
              </a:lnSpc>
              <a:buFont typeface="+mj-lt"/>
              <a:buAutoNum type="arabicPeriod" startAt="5"/>
            </a:pPr>
            <a:r>
              <a:rPr lang="zh-CN" altLang="en-US" sz="2000" dirty="0"/>
              <a:t>何时不该重构</a:t>
            </a:r>
            <a:endParaRPr lang="en-US" altLang="zh-CN" sz="20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如果丑陋的代码能被隐藏在一个 </a:t>
            </a:r>
            <a:r>
              <a:rPr lang="en-US" altLang="zh-CN" sz="1600" dirty="0"/>
              <a:t>API </a:t>
            </a:r>
            <a:r>
              <a:rPr lang="zh-CN" altLang="en-US" sz="1600" dirty="0"/>
              <a:t>之下，可以容忍它继续保持丑陋。只有当需要理解其工作原理时，对其进行重构才有价值。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如果重写比重构还容易，就别重构了。、如果不花一点儿时间尝试，往往很难真实了解重构一块代码的难度。决定到底应该重构还是重写，需要良好的判断力与丰富的经验。</a:t>
            </a:r>
            <a:endParaRPr lang="en-US" altLang="zh-CN" sz="1600" dirty="0"/>
          </a:p>
          <a:p>
            <a:pPr marL="457200" indent="-457200">
              <a:lnSpc>
                <a:spcPct val="110000"/>
              </a:lnSpc>
              <a:buFont typeface="+mj-lt"/>
              <a:buAutoNum type="arabicPeriod" startAt="5"/>
            </a:pPr>
            <a:r>
              <a:rPr lang="zh-CN" altLang="en-US" sz="2000" dirty="0"/>
              <a:t>重构与设计</a:t>
            </a:r>
            <a:endParaRPr lang="en-US" altLang="zh-CN" sz="1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重构并非完全取代预先设计。它是设计的一种有力补充</a:t>
            </a:r>
            <a:endParaRPr lang="en-US" altLang="zh-CN" sz="1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预先设计可以避免很多后续的返工成本，但设计本身也充满了“小洞”，不可能是完美的。</a:t>
            </a:r>
            <a:endParaRPr lang="en-US" altLang="zh-CN" sz="16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1600" dirty="0"/>
              <a:t>当你发现预先设计的方案在编码阶段无法完美解决问题时，就需要通过重构来不断调整和完善它。重构能帮助你在实践中修正设计，让设计保持弹性。</a:t>
            </a:r>
            <a:endParaRPr lang="en-US" altLang="zh-CN" sz="16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2FD03BF-AB43-DEE8-8B34-564930F896D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2</a:t>
            </a:r>
            <a:r>
              <a:rPr lang="zh-CN" altLang="en-US" sz="3200" dirty="0">
                <a:solidFill>
                  <a:srgbClr val="4ACBD6"/>
                </a:solidFill>
              </a:rPr>
              <a:t>章：重构的原则</a:t>
            </a:r>
          </a:p>
        </p:txBody>
      </p:sp>
    </p:spTree>
    <p:extLst>
      <p:ext uri="{BB962C8B-B14F-4D97-AF65-F5344CB8AC3E}">
        <p14:creationId xmlns:p14="http://schemas.microsoft.com/office/powerpoint/2010/main" val="95716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6553-761F-19B9-6819-518BD1D5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F1CB1-19DC-7899-1486-189AFB2F3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978"/>
            <a:ext cx="4998004" cy="532089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24</a:t>
            </a:r>
            <a:r>
              <a:rPr lang="zh-CN" altLang="en-US" sz="2000" dirty="0"/>
              <a:t>种坏味道：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神秘命名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重复代码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过长函数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过长参数列表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全局数据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可变数据：函数最好不要直接修改参数值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发散式变化：每个函数只做一件事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霰弹式修改：相关的数据和函数需要放在一起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依恋情结：一个函数不要访问另一个类的数据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数据泥团：总是一起出现的数据最好进行抽取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基本类型偏执：不要过度使用基本类型（字符串、数字）表示领域概念（如电话号码、邮编）</a:t>
            </a:r>
            <a:endParaRPr lang="en-US" altLang="zh-CN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/>
              <a:t>重复的 </a:t>
            </a:r>
            <a:r>
              <a:rPr lang="en-US" altLang="zh-CN" sz="2000" dirty="0"/>
              <a:t>switch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zh-CN" sz="20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9967B1E-3C4C-B0B2-AF5C-ACCE3588DAD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3</a:t>
            </a:r>
            <a:r>
              <a:rPr lang="zh-CN" altLang="en-US" sz="3200" dirty="0">
                <a:solidFill>
                  <a:srgbClr val="4ACBD6"/>
                </a:solidFill>
              </a:rPr>
              <a:t>章：代码的坏味道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336B977-3C94-3488-CDC1-8204F6C57C8A}"/>
              </a:ext>
            </a:extLst>
          </p:cNvPr>
          <p:cNvSpPr txBox="1">
            <a:spLocks/>
          </p:cNvSpPr>
          <p:nvPr/>
        </p:nvSpPr>
        <p:spPr>
          <a:xfrm>
            <a:off x="6096000" y="1079944"/>
            <a:ext cx="6048950" cy="54129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循环语句：管道操作替换循环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冗赘的元素：一个类、函数或接口如果目前没有足够的工作要做，可以删除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夸夸其谈通用性：不要写“以后”才用的上的代码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临时字段：如果一个类有一个字段只用于特殊情况，需要提取到外部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过长的消息链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中间人：如果一个类大部分功能依赖其他类，则需要移除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内幕交易：两个模块之间不要过度频繁地互相通信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过大的类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异曲同工的类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纯数据类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被拒绝的遗赠：父类应该只持有所有子类用到的数据和方法</a:t>
            </a:r>
            <a:endParaRPr lang="en-US" altLang="zh-CN" sz="1700" dirty="0">
              <a:latin typeface="+mn-ea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13"/>
            </a:pPr>
            <a:r>
              <a:rPr lang="zh-CN" altLang="en-US" sz="1700" dirty="0">
                <a:latin typeface="+mn-ea"/>
              </a:rPr>
              <a:t>注释</a:t>
            </a:r>
            <a:endParaRPr lang="en-US" altLang="zh-CN" sz="1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770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46DE-2655-5FAD-376B-88F07AA6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C5F80-527B-0DFF-F9CB-7E7044F31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71978"/>
            <a:ext cx="10576459" cy="55540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800" dirty="0"/>
              <a:t>重构必须在一个安全的“防护网”内进行，这个防护网就是一套可靠的、自动化的测试体系。</a:t>
            </a:r>
            <a:endParaRPr lang="en-US" altLang="zh-CN" sz="1800" dirty="0"/>
          </a:p>
          <a:p>
            <a:r>
              <a:rPr lang="en-US" altLang="zh-CN" sz="1800" dirty="0"/>
              <a:t>TDD</a:t>
            </a:r>
            <a:r>
              <a:rPr lang="zh-CN" altLang="en-US" sz="1800" dirty="0"/>
              <a:t>：先编写一个（失败的）测试，编写代码使测试通过，然后进行重构以保证代码整洁。</a:t>
            </a:r>
            <a:endParaRPr lang="en-US" altLang="zh-CN" sz="1800" dirty="0"/>
          </a:p>
          <a:p>
            <a:r>
              <a:rPr lang="zh-CN" altLang="en-US" sz="1800" dirty="0"/>
              <a:t>编写测试用例原则：</a:t>
            </a:r>
            <a:endParaRPr lang="en-US" altLang="zh-CN" sz="1800" dirty="0"/>
          </a:p>
          <a:p>
            <a:pPr lvl="1"/>
            <a:r>
              <a:rPr lang="zh-CN" altLang="en-US" sz="1600" dirty="0"/>
              <a:t>测试你最担心出错的部分：将测试火力集中在逻辑复杂、容易出错的地方，追求高效，而不是盲目的高覆盖率。</a:t>
            </a:r>
            <a:endParaRPr lang="en-US" altLang="zh-CN" sz="1600" dirty="0"/>
          </a:p>
          <a:p>
            <a:pPr lvl="1"/>
            <a:r>
              <a:rPr lang="zh-CN" altLang="en-US" sz="1600" dirty="0"/>
              <a:t>寻找边界条件：寻找可能导致代码失败的“边界条件”。例如，如果方法参数是个数字，尝试传入</a:t>
            </a:r>
            <a:r>
              <a:rPr lang="en-US" altLang="zh-CN" sz="1600" dirty="0"/>
              <a:t>0</a:t>
            </a:r>
            <a:r>
              <a:rPr lang="zh-CN" altLang="en-US" sz="1600" dirty="0"/>
              <a:t>、负数或极大值；如果是字符串，尝试空字符串。</a:t>
            </a:r>
            <a:endParaRPr lang="en-US" altLang="zh-CN" sz="1600" dirty="0"/>
          </a:p>
          <a:p>
            <a:pPr lvl="1"/>
            <a:r>
              <a:rPr lang="zh-CN" altLang="en-US" sz="1600" dirty="0"/>
              <a:t>关注</a:t>
            </a:r>
            <a:r>
              <a:rPr lang="en-US" altLang="zh-CN" sz="1600" dirty="0"/>
              <a:t>public</a:t>
            </a:r>
            <a:r>
              <a:rPr lang="zh-CN" altLang="en-US" sz="1600" dirty="0"/>
              <a:t>接口而非实现细节：测试应聚焦于类的对外公开行为，这有助于写出更稳定的测试用例。</a:t>
            </a:r>
            <a:endParaRPr lang="en-US" altLang="zh-CN" sz="1600" dirty="0"/>
          </a:p>
          <a:p>
            <a:r>
              <a:rPr lang="zh-CN" altLang="en-US" sz="1800" dirty="0"/>
              <a:t>一个常见的问题是，“要写多少测试才算足够？”这个问题没有很好的衡量标准。有些人拥护以测试覆盖率作为指标，但测试覆盖率的分析只能识别出那些未被测试覆盖到的代码，而不能用来衡量一个测试集的质量高低。</a:t>
            </a:r>
          </a:p>
          <a:p>
            <a:r>
              <a:rPr lang="zh-CN" altLang="en-US" sz="1800" dirty="0"/>
              <a:t>一个测试集是否足够好，最好的衡量标准其实是主观的，请你试问自己：如果有人在代码里引入了一个缺陷，你有多大的自信它能被测试集揪出来？这种信心难以被定量分析，盲目自信不应该被计算在内，但自测试代码的全部目标，就是要帮你获得此种信心。如果我重构完代码，看见全部变绿的测试就可以十分自信没有引入额外的 </a:t>
            </a:r>
            <a:r>
              <a:rPr lang="en-US" altLang="zh-CN" sz="1800" dirty="0"/>
              <a:t>bug</a:t>
            </a:r>
            <a:r>
              <a:rPr lang="zh-CN" altLang="en-US" sz="1800" dirty="0"/>
              <a:t>，这样，我就可以高兴地说，我已经有了一套足够好的测试。</a:t>
            </a:r>
          </a:p>
          <a:p>
            <a:r>
              <a:rPr lang="zh-CN" altLang="en-US" sz="1800" dirty="0"/>
              <a:t>测试同样可能过犹不及。测试写得太多的一个征兆是，相比要改的代码，我在改动测试上花费了更多的时间</a:t>
            </a:r>
            <a:r>
              <a:rPr lang="en-US" altLang="zh-CN" sz="1800" dirty="0"/>
              <a:t>——</a:t>
            </a:r>
            <a:r>
              <a:rPr lang="zh-CN" altLang="en-US" sz="1800" dirty="0"/>
              <a:t>并且我能感到测试就在拖慢我。不过尽管过度测试时有发生，相比测试不足的情况还是稀少得多。</a:t>
            </a:r>
            <a:endParaRPr lang="en-US" altLang="zh-CN" sz="18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6F37C2D-703F-F3EF-7B2C-49461428739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4</a:t>
            </a:r>
            <a:r>
              <a:rPr lang="zh-CN" altLang="en-US" sz="3200" dirty="0">
                <a:solidFill>
                  <a:srgbClr val="4ACBD6"/>
                </a:solidFill>
              </a:rPr>
              <a:t>章：构筑测试体系</a:t>
            </a:r>
          </a:p>
        </p:txBody>
      </p:sp>
    </p:spTree>
    <p:extLst>
      <p:ext uri="{BB962C8B-B14F-4D97-AF65-F5344CB8AC3E}">
        <p14:creationId xmlns:p14="http://schemas.microsoft.com/office/powerpoint/2010/main" val="1473263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5829-DD04-6976-AD1F-9E045AB1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84E51-75CB-5D8E-262E-3E2428599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978"/>
            <a:ext cx="10276703" cy="532089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这本书介绍重构时，采用一种标准格式，每种重构手法都有如下 </a:t>
            </a:r>
            <a:r>
              <a:rPr lang="en-US" altLang="zh-CN" sz="2000" dirty="0"/>
              <a:t>5 </a:t>
            </a:r>
            <a:r>
              <a:rPr lang="zh-CN" altLang="en-US" sz="2000" dirty="0"/>
              <a:t>个部分。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名称（</a:t>
            </a:r>
            <a:r>
              <a:rPr lang="en-US" altLang="zh-CN" sz="2000" dirty="0"/>
              <a:t>name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速写（</a:t>
            </a:r>
            <a:r>
              <a:rPr lang="en-US" altLang="zh-CN" sz="2000" dirty="0"/>
              <a:t>sketch</a:t>
            </a:r>
            <a:r>
              <a:rPr lang="zh-CN" altLang="en-US" sz="2000" dirty="0"/>
              <a:t>）。这部分可以帮助你更快找到你所需要的重构手法。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动机（</a:t>
            </a:r>
            <a:r>
              <a:rPr lang="en-US" altLang="zh-CN" sz="2000" dirty="0"/>
              <a:t>motivation</a:t>
            </a:r>
            <a:r>
              <a:rPr lang="zh-CN" altLang="en-US" sz="2000" dirty="0"/>
              <a:t>）。介绍“为什么需要做这个重构”和“什么情况下不该做这个重构”。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做法（</a:t>
            </a:r>
            <a:r>
              <a:rPr lang="en-US" altLang="zh-CN" sz="2000" dirty="0"/>
              <a:t>mechanics</a:t>
            </a:r>
            <a:r>
              <a:rPr lang="zh-CN" altLang="en-US" sz="2000" dirty="0"/>
              <a:t>）。简明扼要地一步一步介绍如何进行此重构。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范例（</a:t>
            </a:r>
            <a:r>
              <a:rPr lang="en-US" altLang="zh-CN" sz="2000" dirty="0"/>
              <a:t>examples</a:t>
            </a:r>
            <a:r>
              <a:rPr lang="zh-CN" altLang="en-US" sz="2000" dirty="0"/>
              <a:t>）。以一个十分简单的例子说明此重构手法如何运作。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endParaRPr lang="en-US" altLang="zh-CN" sz="2000" dirty="0"/>
          </a:p>
          <a:p>
            <a:r>
              <a:rPr lang="zh-CN" altLang="en-US" sz="2000" dirty="0"/>
              <a:t>安全的重构方式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小步前进：将每次代码改动控制在最小范围，这样可以更容易地定位和修复可能引入的错误。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频繁测试：每次小的改动后，都应立即运行测试，确保没有破坏任何现有功能。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16C6750-A426-7E22-0C1A-2C4DA7D7D37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5</a:t>
            </a:r>
            <a:r>
              <a:rPr lang="zh-CN" altLang="en-US" sz="3200" dirty="0">
                <a:solidFill>
                  <a:srgbClr val="4ACBD6"/>
                </a:solidFill>
              </a:rPr>
              <a:t>章：介绍重构名录</a:t>
            </a:r>
          </a:p>
        </p:txBody>
      </p:sp>
    </p:spTree>
    <p:extLst>
      <p:ext uri="{BB962C8B-B14F-4D97-AF65-F5344CB8AC3E}">
        <p14:creationId xmlns:p14="http://schemas.microsoft.com/office/powerpoint/2010/main" val="11394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67DD-1DAF-32D4-503A-7228DD74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32CB-07DF-7809-AD21-DDB61532F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978"/>
            <a:ext cx="10832758" cy="532089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1800" dirty="0"/>
              <a:t>提炼函数</a:t>
            </a:r>
            <a:endParaRPr lang="en-US" altLang="zh-CN" sz="1800" dirty="0"/>
          </a:p>
          <a:p>
            <a:r>
              <a:rPr lang="zh-CN" altLang="en-US" sz="1400" b="1" dirty="0"/>
              <a:t>动机</a:t>
            </a:r>
            <a:r>
              <a:rPr lang="zh-CN" altLang="en-US" sz="1400" dirty="0"/>
              <a:t>：将一段代码块独立成一个函数，让函数名解释其“做什么”，而不是“怎么做”。</a:t>
            </a:r>
          </a:p>
          <a:p>
            <a:r>
              <a:rPr lang="zh-CN" altLang="en-US" sz="1400" b="1" dirty="0"/>
              <a:t>做法</a:t>
            </a:r>
            <a:r>
              <a:rPr lang="zh-CN" altLang="en-US" sz="1400" dirty="0"/>
              <a:t>：</a:t>
            </a:r>
          </a:p>
          <a:p>
            <a:pPr lvl="1"/>
            <a:r>
              <a:rPr lang="zh-CN" altLang="en-US" sz="1400" dirty="0"/>
              <a:t>创造一个新函数，根据其用途命名。</a:t>
            </a:r>
          </a:p>
          <a:p>
            <a:pPr lvl="1"/>
            <a:r>
              <a:rPr lang="zh-CN" altLang="en-US" sz="1400" dirty="0"/>
              <a:t>将待提炼的代码复制到新函数中。</a:t>
            </a:r>
          </a:p>
          <a:p>
            <a:pPr lvl="1"/>
            <a:r>
              <a:rPr lang="zh-CN" altLang="en-US" sz="1400" dirty="0"/>
              <a:t>检查局部变量（参数、返回值），适当调整。</a:t>
            </a:r>
          </a:p>
          <a:p>
            <a:pPr lvl="1"/>
            <a:r>
              <a:rPr lang="zh-CN" altLang="en-US" sz="1400" dirty="0"/>
              <a:t>在原位置调用新函数。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zh-CN" altLang="en-US" sz="1800" dirty="0"/>
              <a:t>内联函数</a:t>
            </a:r>
            <a:endParaRPr lang="en-US" altLang="zh-CN" sz="1800" dirty="0"/>
          </a:p>
          <a:p>
            <a:r>
              <a:rPr lang="zh-CN" altLang="en-US" sz="1400" b="1" dirty="0"/>
              <a:t>动机</a:t>
            </a:r>
            <a:r>
              <a:rPr lang="zh-CN" altLang="en-US" sz="1400" dirty="0"/>
              <a:t>：当函数体比函数名更清晰易读，或者函数只是简单委托时，将其内联到调用处。</a:t>
            </a:r>
          </a:p>
          <a:p>
            <a:r>
              <a:rPr lang="zh-CN" altLang="en-US" sz="1400" b="1" dirty="0"/>
              <a:t>做法</a:t>
            </a:r>
            <a:r>
              <a:rPr lang="zh-CN" altLang="en-US" sz="1400" dirty="0"/>
              <a:t>：检查所有调用点，用函数体替换调用，然后删除函数。</a:t>
            </a:r>
            <a:endParaRPr lang="en-US" altLang="zh-CN" sz="1400" dirty="0"/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sz="1800" dirty="0"/>
              <a:t>提炼变量：将复杂表达式的结果放入一个临时变量，用变量名解释表达式意图。</a:t>
            </a:r>
            <a:endParaRPr lang="en-US" altLang="zh-CN" sz="1800" dirty="0"/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sz="1800" dirty="0"/>
              <a:t>内联变量：当变量名不比表达式本身更有意义时，直接去掉变量，用表达式替换。</a:t>
            </a:r>
            <a:endParaRPr lang="en-US" altLang="zh-CN" sz="1800" dirty="0"/>
          </a:p>
          <a:p>
            <a:pPr marL="457200" indent="-457200">
              <a:buFont typeface="+mj-lt"/>
              <a:buAutoNum type="arabicPeriod" startAt="3"/>
            </a:pPr>
            <a:r>
              <a:rPr lang="zh-CN" altLang="en-US" sz="1800" dirty="0"/>
              <a:t>改变函数声明</a:t>
            </a:r>
            <a:endParaRPr lang="en-US" altLang="zh-CN" sz="1800" dirty="0"/>
          </a:p>
          <a:p>
            <a:r>
              <a:rPr lang="zh-CN" altLang="en-US" sz="1400" b="1" dirty="0"/>
              <a:t>动机</a:t>
            </a:r>
            <a:r>
              <a:rPr lang="zh-CN" altLang="en-US" sz="1400" dirty="0"/>
              <a:t>：函数名或参数列表不能清晰表达其用途；或者需要新增</a:t>
            </a:r>
            <a:r>
              <a:rPr lang="en-US" altLang="zh-CN" sz="1400" dirty="0"/>
              <a:t>/</a:t>
            </a:r>
            <a:r>
              <a:rPr lang="zh-CN" altLang="en-US" sz="1400" dirty="0"/>
              <a:t>删除</a:t>
            </a:r>
            <a:r>
              <a:rPr lang="en-US" altLang="zh-CN" sz="1400" dirty="0"/>
              <a:t>/</a:t>
            </a:r>
            <a:r>
              <a:rPr lang="zh-CN" altLang="en-US" sz="1400" dirty="0"/>
              <a:t>重排参数以适应新需求。</a:t>
            </a:r>
          </a:p>
          <a:p>
            <a:r>
              <a:rPr lang="zh-CN" altLang="en-US" sz="1400" b="1" dirty="0"/>
              <a:t>做法</a:t>
            </a:r>
            <a:r>
              <a:rPr lang="zh-CN" altLang="en-US" sz="1400" dirty="0"/>
              <a:t>：</a:t>
            </a:r>
          </a:p>
          <a:p>
            <a:pPr lvl="1"/>
            <a:r>
              <a:rPr lang="zh-CN" altLang="en-US" sz="1400" b="1" dirty="0"/>
              <a:t>迁移式修改</a:t>
            </a:r>
            <a:r>
              <a:rPr lang="zh-CN" altLang="en-US" sz="1400" dirty="0"/>
              <a:t>：新增一个同名但带新签名的函数，让旧函数调用新函数，逐步迁移调用者。</a:t>
            </a:r>
          </a:p>
          <a:p>
            <a:pPr lvl="1"/>
            <a:r>
              <a:rPr lang="zh-CN" altLang="en-US" sz="1400" dirty="0"/>
              <a:t>直接修改（如果函数作用域较小且调用点可控）。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733F12F-8B2B-21DA-8890-58855DD3BC9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6</a:t>
            </a:r>
            <a:r>
              <a:rPr lang="zh-CN" altLang="en-US" sz="3200" dirty="0">
                <a:solidFill>
                  <a:srgbClr val="4ACBD6"/>
                </a:solidFill>
              </a:rPr>
              <a:t>章：第一组重构</a:t>
            </a:r>
          </a:p>
        </p:txBody>
      </p:sp>
    </p:spTree>
    <p:extLst>
      <p:ext uri="{BB962C8B-B14F-4D97-AF65-F5344CB8AC3E}">
        <p14:creationId xmlns:p14="http://schemas.microsoft.com/office/powerpoint/2010/main" val="925955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EFB5-9D05-D6E8-B5A2-30068DBEA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86282-B29C-2395-6549-7186C329C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978"/>
            <a:ext cx="10832758" cy="5320896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buFont typeface="+mj-lt"/>
              <a:buAutoNum type="arabicPeriod" startAt="6"/>
            </a:pPr>
            <a:r>
              <a:rPr lang="zh-CN" altLang="en-US" sz="1800" dirty="0"/>
              <a:t>封装变量</a:t>
            </a:r>
            <a:endParaRPr lang="en-US" altLang="zh-CN" sz="1800" dirty="0"/>
          </a:p>
          <a:p>
            <a:pPr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动机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：当数据（特别是全局或可变数据）被直接访问时，将其封装成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getter/setter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，以便后续控制修改逻辑或增加校验。</a:t>
            </a:r>
          </a:p>
          <a:p>
            <a:pPr algn="l">
              <a:lnSpc>
                <a:spcPct val="800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做法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：创建访问函数，修改所有直接引用点，将变量本身设为私有。</a:t>
            </a:r>
            <a:endParaRPr lang="en-US" altLang="zh-CN" sz="1400" dirty="0"/>
          </a:p>
          <a:p>
            <a:pPr marL="457200" indent="-457200">
              <a:lnSpc>
                <a:spcPct val="80000"/>
              </a:lnSpc>
              <a:buFont typeface="+mj-lt"/>
              <a:buAutoNum type="arabicPeriod" startAt="7"/>
            </a:pPr>
            <a:r>
              <a:rPr lang="zh-CN" altLang="en-US" sz="1800" dirty="0"/>
              <a:t>变量改名</a:t>
            </a:r>
            <a:endParaRPr lang="en-US" altLang="zh-CN" sz="1800" dirty="0"/>
          </a:p>
          <a:p>
            <a:pPr marL="457200" indent="-457200">
              <a:lnSpc>
                <a:spcPct val="80000"/>
              </a:lnSpc>
              <a:buFont typeface="+mj-lt"/>
              <a:buAutoNum type="arabicPeriod" startAt="7"/>
            </a:pPr>
            <a:r>
              <a:rPr lang="zh-CN" altLang="en-US" sz="1800" dirty="0"/>
              <a:t>引入参数对象</a:t>
            </a: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动机</a:t>
            </a:r>
            <a:r>
              <a:rPr lang="zh-CN" altLang="en-US" sz="1400" dirty="0"/>
              <a:t>：一组参数总是同时出现（如 </a:t>
            </a:r>
            <a:r>
              <a:rPr lang="en-US" altLang="zh-CN" sz="1400" dirty="0" err="1"/>
              <a:t>startDate</a:t>
            </a:r>
            <a:r>
              <a:rPr lang="en-US" altLang="zh-CN" sz="1400" dirty="0"/>
              <a:t>, </a:t>
            </a:r>
            <a:r>
              <a:rPr lang="en-US" altLang="zh-CN" sz="1400" dirty="0" err="1"/>
              <a:t>endDate</a:t>
            </a:r>
            <a:r>
              <a:rPr lang="zh-CN" altLang="en-US" sz="1400" dirty="0"/>
              <a:t>），将其合并成一个对象。</a:t>
            </a:r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做法</a:t>
            </a:r>
            <a:r>
              <a:rPr lang="zh-CN" altLang="en-US" sz="1400" dirty="0"/>
              <a:t>：创建新类，将参数组作为字段，调整函数签名，在调用处传入对象。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 startAt="9"/>
            </a:pPr>
            <a:r>
              <a:rPr lang="zh-CN" altLang="en-US" sz="1800" dirty="0"/>
              <a:t>函数组合成类</a:t>
            </a: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动机</a:t>
            </a:r>
            <a:r>
              <a:rPr lang="zh-CN" altLang="en-US" sz="1400" dirty="0"/>
              <a:t>：一组函数总是操作同一个共享数据，且彼此紧密相关，可以将它们和数据一起封装成一个类。</a:t>
            </a:r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做法</a:t>
            </a:r>
            <a:r>
              <a:rPr lang="zh-CN" altLang="en-US" sz="1400" dirty="0"/>
              <a:t>：创建新类，将共享数据作为字段，将相关函数搬移为方法。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 startAt="10"/>
            </a:pPr>
            <a:r>
              <a:rPr lang="zh-CN" altLang="en-US" sz="1800" dirty="0"/>
              <a:t>函数组合成变换</a:t>
            </a: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动机</a:t>
            </a:r>
            <a:r>
              <a:rPr lang="zh-CN" altLang="en-US" sz="1400" dirty="0"/>
              <a:t>：通过一个变换函数（如 </a:t>
            </a:r>
            <a:r>
              <a:rPr lang="en-US" altLang="zh-CN" sz="1400" dirty="0"/>
              <a:t>transform(data)</a:t>
            </a:r>
            <a:r>
              <a:rPr lang="zh-CN" altLang="en-US" sz="1400" dirty="0"/>
              <a:t>）将源数据扩充出派生数据，避免重复计算。</a:t>
            </a:r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做法</a:t>
            </a:r>
            <a:r>
              <a:rPr lang="zh-CN" altLang="en-US" sz="1400" dirty="0"/>
              <a:t>：创建一个变换函数，接收源数据，返回增强后的副本。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 startAt="11"/>
            </a:pPr>
            <a:r>
              <a:rPr lang="zh-CN" altLang="en-US" sz="1800" dirty="0"/>
              <a:t>拆分阶段</a:t>
            </a:r>
            <a:endParaRPr lang="en-US" altLang="zh-CN" sz="1800" dirty="0"/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动机</a:t>
            </a:r>
            <a:r>
              <a:rPr lang="zh-CN" altLang="en-US" sz="1400" dirty="0"/>
              <a:t>：让函数只做一件事</a:t>
            </a:r>
          </a:p>
          <a:p>
            <a:pPr>
              <a:lnSpc>
                <a:spcPct val="80000"/>
              </a:lnSpc>
            </a:pPr>
            <a:r>
              <a:rPr lang="zh-CN" altLang="en-US" sz="1400" b="1" dirty="0"/>
              <a:t>做法</a:t>
            </a:r>
            <a:r>
              <a:rPr lang="zh-CN" altLang="en-US" sz="1400" dirty="0"/>
              <a:t>：抽取不同逻辑，引入中转数据结构，迁移参数，理清边界</a:t>
            </a:r>
            <a:endParaRPr lang="en-US" altLang="zh-CN" sz="14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7BF78CD4-1C81-ADD8-5082-4110735DC8B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6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4ACBD6"/>
                </a:solidFill>
              </a:rPr>
              <a:t>第</a:t>
            </a:r>
            <a:r>
              <a:rPr lang="en-US" altLang="zh-CN" sz="3200" dirty="0">
                <a:solidFill>
                  <a:srgbClr val="4ACBD6"/>
                </a:solidFill>
              </a:rPr>
              <a:t>6</a:t>
            </a:r>
            <a:r>
              <a:rPr lang="zh-CN" altLang="en-US" sz="3200" dirty="0">
                <a:solidFill>
                  <a:srgbClr val="4ACBD6"/>
                </a:solidFill>
              </a:rPr>
              <a:t>章：第一组重构</a:t>
            </a:r>
          </a:p>
        </p:txBody>
      </p:sp>
    </p:spTree>
    <p:extLst>
      <p:ext uri="{BB962C8B-B14F-4D97-AF65-F5344CB8AC3E}">
        <p14:creationId xmlns:p14="http://schemas.microsoft.com/office/powerpoint/2010/main" val="2678121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2164</Words>
  <Application>Microsoft Office PowerPoint</Application>
  <PresentationFormat>宽屏</PresentationFormat>
  <Paragraphs>134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quote-cjk-patch</vt:lpstr>
      <vt:lpstr>等线</vt:lpstr>
      <vt:lpstr>等线 Light</vt:lpstr>
      <vt:lpstr>Arial</vt:lpstr>
      <vt:lpstr>Office 主题​​</vt:lpstr>
      <vt:lpstr>《重构》第1-6章读书分享 </vt:lpstr>
      <vt:lpstr>目录</vt:lpstr>
      <vt:lpstr>第1章：重构，第一个示例</vt:lpstr>
      <vt:lpstr>第1章：重构，第一个示例</vt:lpstr>
      <vt:lpstr>第1章：重构，第一个示例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1113054274@qq.com</dc:creator>
  <cp:lastModifiedBy>1113054274@qq.com</cp:lastModifiedBy>
  <cp:revision>75</cp:revision>
  <dcterms:created xsi:type="dcterms:W3CDTF">2025-11-25T14:46:02Z</dcterms:created>
  <dcterms:modified xsi:type="dcterms:W3CDTF">2026-04-21T19:02:43Z</dcterms:modified>
</cp:coreProperties>
</file>