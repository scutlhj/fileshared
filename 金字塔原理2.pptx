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4" r:id="rId4"/>
    <p:sldId id="273" r:id="rId5"/>
    <p:sldId id="276" r:id="rId6"/>
    <p:sldId id="272" r:id="rId7"/>
    <p:sldId id="271" r:id="rId8"/>
    <p:sldId id="270" r:id="rId9"/>
    <p:sldId id="258" r:id="rId10"/>
    <p:sldId id="277" r:id="rId11"/>
    <p:sldId id="278" r:id="rId12"/>
    <p:sldId id="279" r:id="rId13"/>
    <p:sldId id="280" r:id="rId14"/>
    <p:sldId id="257" r:id="rId1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1113054274@qq.com" initials="1" lastIdx="5" clrIdx="0">
    <p:extLst>
      <p:ext uri="{19B8F6BF-5375-455C-9EA6-DF929625EA0E}">
        <p15:presenceInfo xmlns:p15="http://schemas.microsoft.com/office/powerpoint/2012/main" userId="03292909b2ee059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ACB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472"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EEB2F9-B744-1B12-FAB9-E9D1B30D0BE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336A1AD1-F657-4561-EE7A-B48CDFEDEF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CF5FC9C-5E7E-DF84-9353-D3977FAD1679}"/>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6612500D-6D11-0C2B-A740-9486CB4B200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68227E-204C-3895-D6B0-FD293C9700A8}"/>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4094142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C605AA-2D58-7FE3-3D65-2F2C2D9940B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266398C-8F4B-94EE-C000-465E4EF9686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9ACF015-F3CE-103A-E80F-C5D5ED4C4BE0}"/>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C8F3E700-2180-DC70-ED0D-6C59702333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F7126A-2DDF-8FDD-C25C-29193784EDF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6702908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478C7B-3230-A3FB-129A-7E5A1FE2E23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091EFD5-6BA0-5862-5C24-506AAE9FB55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C29835FB-64EC-E937-25F7-314DB5D67B1B}"/>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19D7F05D-12FA-5591-8E4C-E646C84BD2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C6E7303-235F-6CF2-48FE-341251E54463}"/>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357401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4AD54F-8FAF-F03E-62B1-ABCB4E1CAB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2C2CA3-A4C3-EC06-C6EA-2110E3A13BF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2275E03-600E-6FBA-449E-3D5685F04C3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2176CEB-B2AA-9AD2-62B0-8AD6EEC2BCFB}"/>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6" name="页脚占位符 5">
            <a:extLst>
              <a:ext uri="{FF2B5EF4-FFF2-40B4-BE49-F238E27FC236}">
                <a16:creationId xmlns:a16="http://schemas.microsoft.com/office/drawing/2014/main" id="{1A94F1A6-7624-CBD6-5210-C6455EDBC0E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BED4E0-7089-04AA-0A30-052EFDE9900F}"/>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0517599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12170-C317-D0A0-6400-6700CFD69ED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661CD5-8069-3AD0-96F3-8B280A86A5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9AE6E42-1E03-E9A7-FB21-D4B663E1D67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4ACDE0B-32D8-6724-82C2-5BB3CD4126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814F550-0DBC-F07F-EC80-678BA912148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3D51014-26C0-C3B0-6AC4-50E57524EF69}"/>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8" name="页脚占位符 7">
            <a:extLst>
              <a:ext uri="{FF2B5EF4-FFF2-40B4-BE49-F238E27FC236}">
                <a16:creationId xmlns:a16="http://schemas.microsoft.com/office/drawing/2014/main" id="{3C454C82-67A0-54FD-27A2-627970C745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5D9C6A2-D0D0-3EED-6789-0303C6E6B7D2}"/>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290771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A12F54-03BD-9DC6-B668-E4AE3EDCD5A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DDD6214-CC1F-F27F-8E53-3092091D2BF1}"/>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4" name="页脚占位符 3">
            <a:extLst>
              <a:ext uri="{FF2B5EF4-FFF2-40B4-BE49-F238E27FC236}">
                <a16:creationId xmlns:a16="http://schemas.microsoft.com/office/drawing/2014/main" id="{8E2B2EB7-654D-0AA8-6EA4-591AADB78B7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72C064F-118A-16CD-E2BC-216C102A9BD7}"/>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7158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9D1F322-47B0-CE51-E36C-1C6A9AF8AC36}"/>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3" name="页脚占位符 2">
            <a:extLst>
              <a:ext uri="{FF2B5EF4-FFF2-40B4-BE49-F238E27FC236}">
                <a16:creationId xmlns:a16="http://schemas.microsoft.com/office/drawing/2014/main" id="{BCAC2174-F708-A162-5F98-4A8A0015C66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4340894-D7ED-50C4-6205-5E6F08E39A8B}"/>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1993772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87F3D6-0393-18DF-8D98-89E885CE762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2BAA5F6-4533-8A27-ABA7-2F125F302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7A17E01-9D5F-C3E9-0AA1-6509A03BED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03EC7C3-6DBF-AC3B-B0C1-BA6822BA8B38}"/>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6" name="页脚占位符 5">
            <a:extLst>
              <a:ext uri="{FF2B5EF4-FFF2-40B4-BE49-F238E27FC236}">
                <a16:creationId xmlns:a16="http://schemas.microsoft.com/office/drawing/2014/main" id="{D78C716E-73D4-5BF3-CCCA-BFA1EACE5B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9BEB5E9-F970-6B49-3544-6CDB8D2E7CE1}"/>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4228526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BDD62A-D7F1-DFFE-9E18-C8E33E53A16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22B9CA9-F04D-10D2-3180-4BC5F87D9F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F76FA08-82C6-59F5-C681-B70FCEC162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775771C-E53A-961D-5EC5-61237EDEBE4A}"/>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6" name="页脚占位符 5">
            <a:extLst>
              <a:ext uri="{FF2B5EF4-FFF2-40B4-BE49-F238E27FC236}">
                <a16:creationId xmlns:a16="http://schemas.microsoft.com/office/drawing/2014/main" id="{C0674213-C045-C99A-7263-9E432CB6817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F16E85C-19DE-4611-DDBA-61E76C32F29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5331339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70524A-5B86-6991-E635-08BD28C778D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CFD2E25-6045-74A4-B062-5822036D86D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2737B2-DE05-A04C-639F-A721ADE00997}"/>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F3CCA729-9188-0E5D-C9B6-BD19DAF0ACE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7911A5-E567-5999-E769-3499E0241E63}"/>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37074265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E521097-30D1-7DB5-7FAE-47785DD2967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4B456D9-D01A-67BB-039F-899B46D15DA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24415B-8448-8CBB-51A8-CD54B7001ACF}"/>
              </a:ext>
            </a:extLst>
          </p:cNvPr>
          <p:cNvSpPr>
            <a:spLocks noGrp="1"/>
          </p:cNvSpPr>
          <p:nvPr>
            <p:ph type="dt" sz="half" idx="10"/>
          </p:nvPr>
        </p:nvSpPr>
        <p:spPr/>
        <p:txBody>
          <a:bodyPr/>
          <a:lstStyle/>
          <a:p>
            <a:fld id="{8040210E-5E95-47B4-8381-15CFB96B7177}"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35B38E30-5ECF-16B2-3F10-D138260F24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3A5F3FF-A51C-D63E-3D36-5D58375414B9}"/>
              </a:ext>
            </a:extLst>
          </p:cNvPr>
          <p:cNvSpPr>
            <a:spLocks noGrp="1"/>
          </p:cNvSpPr>
          <p:nvPr>
            <p:ph type="sldNum" sz="quarter" idx="12"/>
          </p:nvPr>
        </p:nvSpPr>
        <p:spPr/>
        <p:txBody>
          <a:body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889226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4D1B41D-419B-AEB1-9F73-5A3AC07CED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1EDB5F6C-E60A-28C3-0D5D-B71F61F039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629E56-5E1D-7ED1-66A8-C588ED18E8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40210E-5E95-47B4-8381-15CFB96B7177}" type="datetimeFigureOut">
              <a:rPr lang="zh-CN" altLang="en-US" smtClean="0"/>
              <a:t>2025/12/23</a:t>
            </a:fld>
            <a:endParaRPr lang="zh-CN" altLang="en-US"/>
          </a:p>
        </p:txBody>
      </p:sp>
      <p:sp>
        <p:nvSpPr>
          <p:cNvPr id="5" name="页脚占位符 4">
            <a:extLst>
              <a:ext uri="{FF2B5EF4-FFF2-40B4-BE49-F238E27FC236}">
                <a16:creationId xmlns:a16="http://schemas.microsoft.com/office/drawing/2014/main" id="{1745B95E-A245-C7DC-E5DF-D93D8F2EBC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4A095E3-0D04-2C0B-CC11-B9E925EF50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7B3619-DF15-477E-86B7-BF27CED59CA7}" type="slidenum">
              <a:rPr lang="zh-CN" altLang="en-US" smtClean="0"/>
              <a:t>‹#›</a:t>
            </a:fld>
            <a:endParaRPr lang="zh-CN" altLang="en-US"/>
          </a:p>
        </p:txBody>
      </p:sp>
    </p:spTree>
    <p:extLst>
      <p:ext uri="{BB962C8B-B14F-4D97-AF65-F5344CB8AC3E}">
        <p14:creationId xmlns:p14="http://schemas.microsoft.com/office/powerpoint/2010/main" val="24472023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182874-D099-EA2D-32CB-3BF7A1B79C30}"/>
              </a:ext>
            </a:extLst>
          </p:cNvPr>
          <p:cNvSpPr>
            <a:spLocks noGrp="1"/>
          </p:cNvSpPr>
          <p:nvPr>
            <p:ph type="ctrTitle"/>
          </p:nvPr>
        </p:nvSpPr>
        <p:spPr>
          <a:xfrm>
            <a:off x="993464" y="1214438"/>
            <a:ext cx="10205071" cy="2387600"/>
          </a:xfrm>
        </p:spPr>
        <p:txBody>
          <a:bodyPr>
            <a:normAutofit/>
          </a:bodyPr>
          <a:lstStyle/>
          <a:p>
            <a:r>
              <a:rPr lang="en-US" altLang="zh-CN" sz="4400" b="1" dirty="0"/>
              <a:t>《</a:t>
            </a:r>
            <a:r>
              <a:rPr lang="zh-CN" altLang="en-US" sz="4400" b="1" dirty="0"/>
              <a:t>金字塔原理</a:t>
            </a:r>
            <a:r>
              <a:rPr lang="en-US" altLang="zh-CN" sz="4400" b="1" dirty="0"/>
              <a:t>》</a:t>
            </a:r>
            <a:r>
              <a:rPr lang="zh-CN" altLang="en-US" sz="4400" b="1" dirty="0"/>
              <a:t>第</a:t>
            </a:r>
            <a:r>
              <a:rPr lang="en-US" altLang="zh-CN" sz="4400" b="1" dirty="0"/>
              <a:t>8-12</a:t>
            </a:r>
            <a:r>
              <a:rPr lang="zh-CN" altLang="en-US" sz="4400" b="1" dirty="0"/>
              <a:t>章读书分享</a:t>
            </a:r>
            <a:br>
              <a:rPr lang="zh-CN" altLang="en-US" sz="4400" dirty="0"/>
            </a:br>
            <a:endParaRPr lang="zh-CN" altLang="en-US" sz="4400" dirty="0"/>
          </a:p>
        </p:txBody>
      </p:sp>
      <p:sp>
        <p:nvSpPr>
          <p:cNvPr id="3" name="副标题 2">
            <a:extLst>
              <a:ext uri="{FF2B5EF4-FFF2-40B4-BE49-F238E27FC236}">
                <a16:creationId xmlns:a16="http://schemas.microsoft.com/office/drawing/2014/main" id="{B546AF5D-25CB-0809-5CA5-985A99279C5A}"/>
              </a:ext>
            </a:extLst>
          </p:cNvPr>
          <p:cNvSpPr>
            <a:spLocks noGrp="1"/>
          </p:cNvSpPr>
          <p:nvPr>
            <p:ph type="subTitle" idx="1"/>
          </p:nvPr>
        </p:nvSpPr>
        <p:spPr>
          <a:xfrm>
            <a:off x="1523999" y="3615228"/>
            <a:ext cx="9144000" cy="1655762"/>
          </a:xfrm>
        </p:spPr>
        <p:txBody>
          <a:bodyPr/>
          <a:lstStyle/>
          <a:p>
            <a:r>
              <a:rPr lang="zh-CN" altLang="en-US" dirty="0"/>
              <a:t>分享人</a:t>
            </a:r>
            <a:r>
              <a:rPr lang="en-US" altLang="zh-CN" dirty="0"/>
              <a:t>:</a:t>
            </a:r>
            <a:r>
              <a:rPr lang="zh-CN" altLang="en-US" dirty="0"/>
              <a:t>林灏均</a:t>
            </a:r>
          </a:p>
        </p:txBody>
      </p:sp>
    </p:spTree>
    <p:extLst>
      <p:ext uri="{BB962C8B-B14F-4D97-AF65-F5344CB8AC3E}">
        <p14:creationId xmlns:p14="http://schemas.microsoft.com/office/powerpoint/2010/main" val="246504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C0BF89-A9D1-50CC-EE8A-16BC3260815F}"/>
              </a:ext>
            </a:extLst>
          </p:cNvPr>
          <p:cNvSpPr>
            <a:spLocks noGrp="1"/>
          </p:cNvSpPr>
          <p:nvPr>
            <p:ph type="title"/>
          </p:nvPr>
        </p:nvSpPr>
        <p:spPr/>
        <p:txBody>
          <a:bodyPr>
            <a:normAutofit/>
          </a:bodyPr>
          <a:lstStyle/>
          <a:p>
            <a:r>
              <a:rPr lang="zh-CN" altLang="en-US" sz="3200" dirty="0">
                <a:solidFill>
                  <a:srgbClr val="4ACBD6"/>
                </a:solidFill>
              </a:rPr>
              <a:t>目录</a:t>
            </a:r>
          </a:p>
        </p:txBody>
      </p:sp>
      <p:sp>
        <p:nvSpPr>
          <p:cNvPr id="3" name="内容占位符 2">
            <a:extLst>
              <a:ext uri="{FF2B5EF4-FFF2-40B4-BE49-F238E27FC236}">
                <a16:creationId xmlns:a16="http://schemas.microsoft.com/office/drawing/2014/main" id="{4E9F18F4-6ABC-2005-9D60-D05C2903A63F}"/>
              </a:ext>
            </a:extLst>
          </p:cNvPr>
          <p:cNvSpPr>
            <a:spLocks noGrp="1"/>
          </p:cNvSpPr>
          <p:nvPr>
            <p:ph idx="1"/>
          </p:nvPr>
        </p:nvSpPr>
        <p:spPr/>
        <p:txBody>
          <a:bodyPr>
            <a:normAutofit/>
          </a:bodyPr>
          <a:lstStyle/>
          <a:p>
            <a:pPr>
              <a:lnSpc>
                <a:spcPct val="120000"/>
              </a:lnSpc>
            </a:pPr>
            <a:r>
              <a:rPr lang="zh-CN" altLang="en-US" sz="2400" dirty="0"/>
              <a:t>界定问题</a:t>
            </a:r>
            <a:endParaRPr lang="en-US" altLang="zh-CN" sz="2400" dirty="0"/>
          </a:p>
          <a:p>
            <a:pPr>
              <a:lnSpc>
                <a:spcPct val="120000"/>
              </a:lnSpc>
            </a:pPr>
            <a:r>
              <a:rPr lang="zh-CN" altLang="en-US" sz="2400" dirty="0"/>
              <a:t>结构化分析问题</a:t>
            </a:r>
            <a:endParaRPr lang="en-US" altLang="zh-CN" sz="2400" dirty="0"/>
          </a:p>
          <a:p>
            <a:pPr>
              <a:lnSpc>
                <a:spcPct val="120000"/>
              </a:lnSpc>
            </a:pPr>
            <a:r>
              <a:rPr lang="zh-CN" altLang="en-US" sz="2400" dirty="0"/>
              <a:t>在书面上呈现金字塔</a:t>
            </a:r>
            <a:endParaRPr lang="en-US" altLang="zh-CN" sz="2400" dirty="0"/>
          </a:p>
          <a:p>
            <a:pPr>
              <a:lnSpc>
                <a:spcPct val="120000"/>
              </a:lnSpc>
            </a:pPr>
            <a:r>
              <a:rPr lang="zh-CN" altLang="en-US" sz="2400" dirty="0"/>
              <a:t>在 </a:t>
            </a:r>
            <a:r>
              <a:rPr lang="en-US" altLang="zh-CN" sz="2400" dirty="0"/>
              <a:t>PPT </a:t>
            </a:r>
            <a:r>
              <a:rPr lang="zh-CN" altLang="en-US" sz="2400" dirty="0"/>
              <a:t>中呈现金字塔</a:t>
            </a:r>
            <a:endParaRPr lang="en-US" altLang="zh-CN" sz="2400" dirty="0"/>
          </a:p>
          <a:p>
            <a:pPr>
              <a:lnSpc>
                <a:spcPct val="120000"/>
              </a:lnSpc>
            </a:pPr>
            <a:r>
              <a:rPr lang="zh-CN" altLang="en-US" sz="2400" dirty="0"/>
              <a:t>在字里行间呈现金字塔</a:t>
            </a:r>
            <a:endParaRPr lang="en-US" altLang="zh-CN" sz="2400" dirty="0"/>
          </a:p>
          <a:p>
            <a:pPr>
              <a:lnSpc>
                <a:spcPct val="120000"/>
              </a:lnSpc>
            </a:pPr>
            <a:r>
              <a:rPr lang="zh-CN" altLang="en-US" sz="2400" dirty="0"/>
              <a:t>总结</a:t>
            </a:r>
          </a:p>
        </p:txBody>
      </p:sp>
    </p:spTree>
    <p:extLst>
      <p:ext uri="{BB962C8B-B14F-4D97-AF65-F5344CB8AC3E}">
        <p14:creationId xmlns:p14="http://schemas.microsoft.com/office/powerpoint/2010/main" val="208696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18C141-3D2C-322F-DB22-817A29A0F5A8}"/>
              </a:ext>
            </a:extLst>
          </p:cNvPr>
          <p:cNvSpPr>
            <a:spLocks noGrp="1"/>
          </p:cNvSpPr>
          <p:nvPr>
            <p:ph type="title"/>
          </p:nvPr>
        </p:nvSpPr>
        <p:spPr>
          <a:xfrm>
            <a:off x="838200" y="365126"/>
            <a:ext cx="10515600" cy="806852"/>
          </a:xfrm>
        </p:spPr>
        <p:txBody>
          <a:bodyPr>
            <a:normAutofit/>
          </a:bodyPr>
          <a:lstStyle/>
          <a:p>
            <a:r>
              <a:rPr lang="zh-CN" altLang="en-US" sz="3200" dirty="0">
                <a:solidFill>
                  <a:srgbClr val="4ACBD6"/>
                </a:solidFill>
              </a:rPr>
              <a:t>第八章：界定问题</a:t>
            </a:r>
          </a:p>
        </p:txBody>
      </p:sp>
      <p:sp>
        <p:nvSpPr>
          <p:cNvPr id="3" name="内容占位符 2">
            <a:extLst>
              <a:ext uri="{FF2B5EF4-FFF2-40B4-BE49-F238E27FC236}">
                <a16:creationId xmlns:a16="http://schemas.microsoft.com/office/drawing/2014/main" id="{1C08BDDA-FB7B-2504-2651-4E4F31514B3F}"/>
              </a:ext>
            </a:extLst>
          </p:cNvPr>
          <p:cNvSpPr>
            <a:spLocks noGrp="1"/>
          </p:cNvSpPr>
          <p:nvPr>
            <p:ph idx="1"/>
          </p:nvPr>
        </p:nvSpPr>
        <p:spPr>
          <a:xfrm>
            <a:off x="838200" y="1287946"/>
            <a:ext cx="5942990" cy="4562327"/>
          </a:xfrm>
        </p:spPr>
        <p:txBody>
          <a:bodyPr>
            <a:normAutofit/>
          </a:bodyPr>
          <a:lstStyle/>
          <a:p>
            <a:pPr>
              <a:lnSpc>
                <a:spcPct val="100000"/>
              </a:lnSpc>
            </a:pPr>
            <a:r>
              <a:rPr lang="zh-CN" altLang="en-US" sz="2000" dirty="0"/>
              <a:t>判断问题是否存在，通常要看经过努力得到的结果</a:t>
            </a:r>
            <a:r>
              <a:rPr lang="en-US" altLang="zh-CN" sz="2000" dirty="0"/>
              <a:t>(R1)</a:t>
            </a:r>
            <a:r>
              <a:rPr lang="zh-CN" altLang="en-US" sz="2000" dirty="0"/>
              <a:t>，与希望得到的结果</a:t>
            </a:r>
            <a:r>
              <a:rPr lang="en-US" altLang="zh-CN" sz="2000" dirty="0"/>
              <a:t>(R2)</a:t>
            </a:r>
            <a:r>
              <a:rPr lang="zh-CN" altLang="en-US" sz="2000" dirty="0"/>
              <a:t>之间是否有差距。由背景导致的某一特定结果称为非期望结果</a:t>
            </a:r>
            <a:r>
              <a:rPr lang="en-US" altLang="zh-CN" sz="2000" dirty="0"/>
              <a:t>(R1</a:t>
            </a:r>
            <a:r>
              <a:rPr lang="zh-CN" altLang="en-US" sz="2000" dirty="0"/>
              <a:t>，即现状</a:t>
            </a:r>
            <a:r>
              <a:rPr lang="en-US" altLang="zh-CN" sz="2000" dirty="0"/>
              <a:t>)</a:t>
            </a:r>
          </a:p>
          <a:p>
            <a:pPr>
              <a:lnSpc>
                <a:spcPct val="100000"/>
              </a:lnSpc>
            </a:pPr>
            <a:r>
              <a:rPr lang="zh-CN" altLang="en-US" sz="2000" dirty="0"/>
              <a:t>“问题”是指你不喜欢</a:t>
            </a:r>
            <a:r>
              <a:rPr lang="en-US" altLang="zh-CN" sz="2000" dirty="0"/>
              <a:t>R1</a:t>
            </a:r>
            <a:r>
              <a:rPr lang="zh-CN" altLang="en-US" sz="2000" dirty="0"/>
              <a:t>，想得到</a:t>
            </a:r>
            <a:r>
              <a:rPr lang="en-US" altLang="zh-CN" sz="2000" dirty="0"/>
              <a:t>R2</a:t>
            </a:r>
            <a:r>
              <a:rPr lang="zh-CN" altLang="en-US" sz="2000" dirty="0"/>
              <a:t>。解决方案则是指如何从现状 </a:t>
            </a:r>
            <a:r>
              <a:rPr lang="en-US" altLang="zh-CN" sz="2000" dirty="0"/>
              <a:t>R1</a:t>
            </a:r>
            <a:r>
              <a:rPr lang="zh-CN" altLang="en-US" sz="2000" dirty="0"/>
              <a:t>到目标 </a:t>
            </a:r>
            <a:r>
              <a:rPr lang="en-US" altLang="zh-CN" sz="2000" dirty="0"/>
              <a:t>R2</a:t>
            </a:r>
          </a:p>
          <a:p>
            <a:pPr>
              <a:lnSpc>
                <a:spcPct val="100000"/>
              </a:lnSpc>
            </a:pPr>
            <a:r>
              <a:rPr lang="zh-CN" altLang="en-US" sz="2000" dirty="0"/>
              <a:t>连续分析法可以帮助你为以下按逻辑顺序排列的问题寻找答案</a:t>
            </a:r>
            <a:r>
              <a:rPr lang="en-US" altLang="zh-CN" sz="2000" dirty="0"/>
              <a:t>:</a:t>
            </a:r>
          </a:p>
          <a:p>
            <a:pPr>
              <a:lnSpc>
                <a:spcPct val="100000"/>
              </a:lnSpc>
            </a:pPr>
            <a:endParaRPr lang="en-US" altLang="zh-CN" sz="2000" dirty="0"/>
          </a:p>
          <a:p>
            <a:pPr>
              <a:lnSpc>
                <a:spcPct val="100000"/>
              </a:lnSpc>
            </a:pPr>
            <a:endParaRPr lang="en-US" altLang="zh-CN" sz="2000" dirty="0"/>
          </a:p>
        </p:txBody>
      </p:sp>
      <p:pic>
        <p:nvPicPr>
          <p:cNvPr id="7" name="图片 6" descr="卡通人物&#10;&#10;AI 生成的内容可能不正确。">
            <a:extLst>
              <a:ext uri="{FF2B5EF4-FFF2-40B4-BE49-F238E27FC236}">
                <a16:creationId xmlns:a16="http://schemas.microsoft.com/office/drawing/2014/main" id="{CC881598-F3D7-E241-0BBB-BD1194333E27}"/>
              </a:ext>
            </a:extLst>
          </p:cNvPr>
          <p:cNvPicPr>
            <a:picLocks noChangeAspect="1"/>
          </p:cNvPicPr>
          <p:nvPr/>
        </p:nvPicPr>
        <p:blipFill>
          <a:blip r:embed="rId2"/>
          <a:stretch>
            <a:fillRect/>
          </a:stretch>
        </p:blipFill>
        <p:spPr>
          <a:xfrm>
            <a:off x="6997199" y="1436107"/>
            <a:ext cx="4501738" cy="751217"/>
          </a:xfrm>
          <a:prstGeom prst="rect">
            <a:avLst/>
          </a:prstGeom>
        </p:spPr>
      </p:pic>
      <p:sp>
        <p:nvSpPr>
          <p:cNvPr id="10" name="内容占位符 2">
            <a:extLst>
              <a:ext uri="{FF2B5EF4-FFF2-40B4-BE49-F238E27FC236}">
                <a16:creationId xmlns:a16="http://schemas.microsoft.com/office/drawing/2014/main" id="{EE3142F0-F607-34DF-AC84-F3DC4B20AEF5}"/>
              </a:ext>
            </a:extLst>
          </p:cNvPr>
          <p:cNvSpPr txBox="1">
            <a:spLocks/>
          </p:cNvSpPr>
          <p:nvPr/>
        </p:nvSpPr>
        <p:spPr>
          <a:xfrm>
            <a:off x="8305615" y="2187324"/>
            <a:ext cx="1884905" cy="3896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zh-CN" altLang="en-US" sz="1200" dirty="0"/>
              <a:t>解决问题的理想流程图</a:t>
            </a:r>
          </a:p>
        </p:txBody>
      </p:sp>
      <p:pic>
        <p:nvPicPr>
          <p:cNvPr id="12" name="图片 11" descr="图示&#10;&#10;AI 生成的内容可能不正确。">
            <a:extLst>
              <a:ext uri="{FF2B5EF4-FFF2-40B4-BE49-F238E27FC236}">
                <a16:creationId xmlns:a16="http://schemas.microsoft.com/office/drawing/2014/main" id="{D9E47A82-17D1-D90B-0E16-4B7357C78F28}"/>
              </a:ext>
            </a:extLst>
          </p:cNvPr>
          <p:cNvPicPr>
            <a:picLocks noChangeAspect="1"/>
          </p:cNvPicPr>
          <p:nvPr/>
        </p:nvPicPr>
        <p:blipFill>
          <a:blip r:embed="rId3"/>
          <a:stretch>
            <a:fillRect/>
          </a:stretch>
        </p:blipFill>
        <p:spPr>
          <a:xfrm>
            <a:off x="6781190" y="3429000"/>
            <a:ext cx="4527521" cy="2228933"/>
          </a:xfrm>
          <a:prstGeom prst="rect">
            <a:avLst/>
          </a:prstGeom>
        </p:spPr>
      </p:pic>
      <p:pic>
        <p:nvPicPr>
          <p:cNvPr id="14" name="图片 13" descr="表格, 信件&#10;&#10;AI 生成的内容可能不正确。">
            <a:extLst>
              <a:ext uri="{FF2B5EF4-FFF2-40B4-BE49-F238E27FC236}">
                <a16:creationId xmlns:a16="http://schemas.microsoft.com/office/drawing/2014/main" id="{E9ACFCFD-3F21-B2B8-C67E-50C214E14E77}"/>
              </a:ext>
            </a:extLst>
          </p:cNvPr>
          <p:cNvPicPr>
            <a:picLocks noChangeAspect="1"/>
          </p:cNvPicPr>
          <p:nvPr/>
        </p:nvPicPr>
        <p:blipFill>
          <a:blip r:embed="rId4"/>
          <a:stretch>
            <a:fillRect/>
          </a:stretch>
        </p:blipFill>
        <p:spPr>
          <a:xfrm>
            <a:off x="838200" y="4092139"/>
            <a:ext cx="5409040" cy="2270023"/>
          </a:xfrm>
          <a:prstGeom prst="rect">
            <a:avLst/>
          </a:prstGeom>
        </p:spPr>
      </p:pic>
    </p:spTree>
    <p:extLst>
      <p:ext uri="{BB962C8B-B14F-4D97-AF65-F5344CB8AC3E}">
        <p14:creationId xmlns:p14="http://schemas.microsoft.com/office/powerpoint/2010/main" val="26586062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9682D6A-C060-5A1F-B76A-975D10D40F33}"/>
              </a:ext>
            </a:extLst>
          </p:cNvPr>
          <p:cNvSpPr>
            <a:spLocks noGrp="1"/>
          </p:cNvSpPr>
          <p:nvPr>
            <p:ph idx="1"/>
          </p:nvPr>
        </p:nvSpPr>
        <p:spPr>
          <a:xfrm>
            <a:off x="838200" y="1171978"/>
            <a:ext cx="4461456" cy="5320896"/>
          </a:xfrm>
        </p:spPr>
        <p:txBody>
          <a:bodyPr>
            <a:normAutofit/>
          </a:bodyPr>
          <a:lstStyle/>
          <a:p>
            <a:pPr>
              <a:lnSpc>
                <a:spcPct val="120000"/>
              </a:lnSpc>
            </a:pPr>
            <a:r>
              <a:rPr lang="zh-CN" altLang="en-US" sz="2000" dirty="0"/>
              <a:t>界定问题的框架需要回答以下 </a:t>
            </a:r>
            <a:r>
              <a:rPr lang="en-US" altLang="zh-CN" sz="2000" dirty="0"/>
              <a:t>3</a:t>
            </a:r>
            <a:r>
              <a:rPr lang="zh-CN" altLang="en-US" sz="2000" dirty="0"/>
              <a:t>个问题：</a:t>
            </a:r>
            <a:endParaRPr lang="en-US" altLang="zh-CN" sz="2000" dirty="0"/>
          </a:p>
          <a:p>
            <a:pPr marL="457200" indent="-457200">
              <a:lnSpc>
                <a:spcPct val="100000"/>
              </a:lnSpc>
              <a:buFont typeface="+mj-lt"/>
              <a:buAutoNum type="arabicPeriod"/>
            </a:pPr>
            <a:r>
              <a:rPr lang="zh-CN" altLang="en-US" sz="2000" dirty="0"/>
              <a:t>发生了什么事情（背景）</a:t>
            </a:r>
            <a:endParaRPr lang="en-US" altLang="zh-CN" sz="2000" dirty="0"/>
          </a:p>
          <a:p>
            <a:pPr marL="457200" indent="-457200">
              <a:lnSpc>
                <a:spcPct val="100000"/>
              </a:lnSpc>
              <a:buFont typeface="+mj-lt"/>
              <a:buAutoNum type="arabicPeriod"/>
            </a:pPr>
            <a:r>
              <a:rPr lang="zh-CN" altLang="en-US" sz="2000" dirty="0"/>
              <a:t>我们不喜欢它什么（非期望结果</a:t>
            </a:r>
            <a:r>
              <a:rPr lang="en-US" altLang="zh-CN" sz="2000" dirty="0"/>
              <a:t>R1</a:t>
            </a:r>
            <a:r>
              <a:rPr lang="zh-CN" altLang="en-US" sz="2000" dirty="0"/>
              <a:t>）</a:t>
            </a:r>
            <a:endParaRPr lang="en-US" altLang="zh-CN" sz="2000" dirty="0"/>
          </a:p>
          <a:p>
            <a:pPr marL="457200" indent="-457200">
              <a:lnSpc>
                <a:spcPct val="100000"/>
              </a:lnSpc>
              <a:buFont typeface="+mj-lt"/>
              <a:buAutoNum type="arabicPeriod"/>
            </a:pPr>
            <a:r>
              <a:rPr lang="zh-CN" altLang="en-US" sz="2000" dirty="0"/>
              <a:t>我们想要什么（期望结果 </a:t>
            </a:r>
            <a:r>
              <a:rPr lang="en-US" altLang="zh-CN" sz="2000" dirty="0"/>
              <a:t>R2</a:t>
            </a:r>
            <a:r>
              <a:rPr lang="zh-CN" altLang="en-US" sz="2000" dirty="0"/>
              <a:t>）</a:t>
            </a:r>
            <a:endParaRPr lang="en-US" altLang="zh-CN" sz="2000" dirty="0"/>
          </a:p>
          <a:p>
            <a:pPr marL="0" indent="0">
              <a:lnSpc>
                <a:spcPct val="100000"/>
              </a:lnSpc>
              <a:buNone/>
            </a:pPr>
            <a:endParaRPr lang="en-US" altLang="zh-CN" sz="2000" dirty="0"/>
          </a:p>
          <a:p>
            <a:pPr>
              <a:lnSpc>
                <a:spcPct val="120000"/>
              </a:lnSpc>
            </a:pPr>
            <a:r>
              <a:rPr lang="zh-CN" altLang="en-US" sz="2000" dirty="0"/>
              <a:t>界定问题框架的最大好处是，如果你准备把解决方案写成文字，可以很容易地把界定的问题转换成序言。只需遵循从左到右再往下的原则，把读者最后了解的事实作为序言的冲突部分，并在此基础上提出问题。</a:t>
            </a:r>
            <a:endParaRPr lang="en-US" altLang="zh-CN" sz="2000" dirty="0"/>
          </a:p>
          <a:p>
            <a:pPr marL="457200" indent="-457200">
              <a:buFont typeface="+mj-lt"/>
              <a:buAutoNum type="arabicPeriod"/>
            </a:pPr>
            <a:endParaRPr lang="en-US" altLang="zh-CN" sz="2000" dirty="0"/>
          </a:p>
          <a:p>
            <a:pPr marL="457200" indent="-457200">
              <a:buFont typeface="+mj-lt"/>
              <a:buAutoNum type="arabicPeriod"/>
            </a:pPr>
            <a:endParaRPr lang="en-US" altLang="zh-CN" sz="2000" dirty="0"/>
          </a:p>
        </p:txBody>
      </p:sp>
      <p:sp>
        <p:nvSpPr>
          <p:cNvPr id="14" name="标题 1">
            <a:extLst>
              <a:ext uri="{FF2B5EF4-FFF2-40B4-BE49-F238E27FC236}">
                <a16:creationId xmlns:a16="http://schemas.microsoft.com/office/drawing/2014/main" id="{DF81A364-7989-5BE7-4DA4-F18A21D39C05}"/>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界定问题的框架</a:t>
            </a:r>
          </a:p>
        </p:txBody>
      </p:sp>
      <p:pic>
        <p:nvPicPr>
          <p:cNvPr id="20" name="图片 19" descr="手机屏幕截图&#10;&#10;AI 生成的内容可能不正确。">
            <a:extLst>
              <a:ext uri="{FF2B5EF4-FFF2-40B4-BE49-F238E27FC236}">
                <a16:creationId xmlns:a16="http://schemas.microsoft.com/office/drawing/2014/main" id="{3A59685C-1D92-8ED7-680A-D1F8AB719D3B}"/>
              </a:ext>
            </a:extLst>
          </p:cNvPr>
          <p:cNvPicPr>
            <a:picLocks noChangeAspect="1"/>
          </p:cNvPicPr>
          <p:nvPr/>
        </p:nvPicPr>
        <p:blipFill>
          <a:blip r:embed="rId2"/>
          <a:stretch>
            <a:fillRect/>
          </a:stretch>
        </p:blipFill>
        <p:spPr>
          <a:xfrm>
            <a:off x="5559504" y="1171978"/>
            <a:ext cx="5951843" cy="1487961"/>
          </a:xfrm>
          <a:prstGeom prst="rect">
            <a:avLst/>
          </a:prstGeom>
        </p:spPr>
      </p:pic>
      <p:pic>
        <p:nvPicPr>
          <p:cNvPr id="22" name="图片 21" descr="图示, 示意图&#10;&#10;AI 生成的内容可能不正确。">
            <a:extLst>
              <a:ext uri="{FF2B5EF4-FFF2-40B4-BE49-F238E27FC236}">
                <a16:creationId xmlns:a16="http://schemas.microsoft.com/office/drawing/2014/main" id="{3B21CD0A-C473-D367-14DD-A722F487CC84}"/>
              </a:ext>
            </a:extLst>
          </p:cNvPr>
          <p:cNvPicPr>
            <a:picLocks noChangeAspect="1"/>
          </p:cNvPicPr>
          <p:nvPr/>
        </p:nvPicPr>
        <p:blipFill>
          <a:blip r:embed="rId3"/>
          <a:stretch>
            <a:fillRect/>
          </a:stretch>
        </p:blipFill>
        <p:spPr>
          <a:xfrm>
            <a:off x="5559504" y="2976090"/>
            <a:ext cx="5794296" cy="1487961"/>
          </a:xfrm>
          <a:prstGeom prst="rect">
            <a:avLst/>
          </a:prstGeom>
        </p:spPr>
      </p:pic>
      <p:pic>
        <p:nvPicPr>
          <p:cNvPr id="24" name="图片 23" descr="图示&#10;&#10;AI 生成的内容可能不正确。">
            <a:extLst>
              <a:ext uri="{FF2B5EF4-FFF2-40B4-BE49-F238E27FC236}">
                <a16:creationId xmlns:a16="http://schemas.microsoft.com/office/drawing/2014/main" id="{9EAE7D9D-FA46-9B24-F79D-4FDD55C74E39}"/>
              </a:ext>
            </a:extLst>
          </p:cNvPr>
          <p:cNvPicPr>
            <a:picLocks noChangeAspect="1"/>
          </p:cNvPicPr>
          <p:nvPr/>
        </p:nvPicPr>
        <p:blipFill>
          <a:blip r:embed="rId4"/>
          <a:stretch>
            <a:fillRect/>
          </a:stretch>
        </p:blipFill>
        <p:spPr>
          <a:xfrm>
            <a:off x="5559504" y="4618235"/>
            <a:ext cx="5052688" cy="1954342"/>
          </a:xfrm>
          <a:prstGeom prst="rect">
            <a:avLst/>
          </a:prstGeom>
        </p:spPr>
      </p:pic>
    </p:spTree>
    <p:extLst>
      <p:ext uri="{BB962C8B-B14F-4D97-AF65-F5344CB8AC3E}">
        <p14:creationId xmlns:p14="http://schemas.microsoft.com/office/powerpoint/2010/main" val="3122452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2BF9C7A-FD80-FBE3-9657-A7895AC44134}"/>
              </a:ext>
            </a:extLst>
          </p:cNvPr>
          <p:cNvSpPr txBox="1"/>
          <p:nvPr/>
        </p:nvSpPr>
        <p:spPr>
          <a:xfrm>
            <a:off x="838200" y="1274072"/>
            <a:ext cx="4776989" cy="3708708"/>
          </a:xfrm>
          <a:prstGeom prst="rect">
            <a:avLst/>
          </a:prstGeom>
          <a:noFill/>
        </p:spPr>
        <p:txBody>
          <a:bodyPr wrap="square">
            <a:spAutoFit/>
          </a:bodyPr>
          <a:lstStyle/>
          <a:p>
            <a:pPr algn="l">
              <a:spcBef>
                <a:spcPts val="1500"/>
              </a:spcBef>
              <a:buNone/>
            </a:pPr>
            <a:r>
              <a:rPr lang="zh-CN" altLang="en-US" sz="2000" b="0" i="0" dirty="0">
                <a:solidFill>
                  <a:srgbClr val="353A3F"/>
                </a:solidFill>
                <a:effectLst/>
              </a:rPr>
              <a:t>具体有以下步骤：</a:t>
            </a:r>
          </a:p>
          <a:p>
            <a:pPr marL="457200" indent="-457200" algn="l">
              <a:spcBef>
                <a:spcPts val="1500"/>
              </a:spcBef>
              <a:buFont typeface="+mj-lt"/>
              <a:buAutoNum type="arabicPeriod"/>
            </a:pPr>
            <a:r>
              <a:rPr lang="zh-CN" altLang="en-US" sz="2000" b="0" i="0" dirty="0">
                <a:solidFill>
                  <a:srgbClr val="353A3F"/>
                </a:solidFill>
                <a:effectLst/>
              </a:rPr>
              <a:t>设想问题产生的领域 </a:t>
            </a:r>
            <a:endParaRPr lang="en-US" altLang="zh-CN" sz="2000" dirty="0">
              <a:solidFill>
                <a:srgbClr val="353A3F"/>
              </a:solidFill>
            </a:endParaRPr>
          </a:p>
          <a:p>
            <a:pPr marL="457200" indent="-457200" algn="l">
              <a:spcBef>
                <a:spcPts val="1500"/>
              </a:spcBef>
              <a:buFont typeface="+mj-lt"/>
              <a:buAutoNum type="arabicPeriod"/>
            </a:pPr>
            <a:r>
              <a:rPr lang="zh-CN" altLang="en-US" sz="2000" b="0" i="0" dirty="0">
                <a:solidFill>
                  <a:srgbClr val="353A3F"/>
                </a:solidFill>
                <a:effectLst/>
              </a:rPr>
              <a:t>说明什么事情的发生打乱了该领域的稳定（困扰</a:t>
            </a:r>
            <a:r>
              <a:rPr lang="en-US" altLang="zh-CN" sz="2000" b="0" i="0" dirty="0">
                <a:solidFill>
                  <a:srgbClr val="353A3F"/>
                </a:solidFill>
                <a:effectLst/>
              </a:rPr>
              <a:t>/</a:t>
            </a:r>
            <a:r>
              <a:rPr lang="zh-CN" altLang="en-US" sz="2000" b="0" i="0" dirty="0">
                <a:solidFill>
                  <a:srgbClr val="353A3F"/>
                </a:solidFill>
                <a:effectLst/>
              </a:rPr>
              <a:t>困惑）</a:t>
            </a:r>
            <a:endParaRPr lang="en-US" altLang="zh-CN" sz="2000" b="0" i="0" dirty="0">
              <a:solidFill>
                <a:srgbClr val="353A3F"/>
              </a:solidFill>
              <a:effectLst/>
            </a:endParaRPr>
          </a:p>
          <a:p>
            <a:pPr marL="457200" indent="-457200" algn="l">
              <a:spcBef>
                <a:spcPts val="1500"/>
              </a:spcBef>
              <a:buFont typeface="+mj-lt"/>
              <a:buAutoNum type="arabicPeriod"/>
            </a:pPr>
            <a:r>
              <a:rPr lang="zh-CN" altLang="en-US" sz="2000" b="0" i="0" dirty="0">
                <a:solidFill>
                  <a:srgbClr val="353A3F"/>
                </a:solidFill>
                <a:effectLst/>
              </a:rPr>
              <a:t>确定非期望结果（现状 </a:t>
            </a:r>
            <a:r>
              <a:rPr lang="en-US" altLang="zh-CN" sz="2000" b="0" i="0" dirty="0">
                <a:solidFill>
                  <a:srgbClr val="353A3F"/>
                </a:solidFill>
                <a:effectLst/>
              </a:rPr>
              <a:t>R1</a:t>
            </a:r>
            <a:r>
              <a:rPr lang="zh-CN" altLang="en-US" sz="2000" b="0" i="0" dirty="0">
                <a:solidFill>
                  <a:srgbClr val="353A3F"/>
                </a:solidFill>
                <a:effectLst/>
              </a:rPr>
              <a:t>）</a:t>
            </a:r>
            <a:endParaRPr lang="en-US" altLang="zh-CN" sz="2000" dirty="0">
              <a:solidFill>
                <a:srgbClr val="353A3F"/>
              </a:solidFill>
            </a:endParaRPr>
          </a:p>
          <a:p>
            <a:pPr marL="457200" indent="-457200" algn="l">
              <a:spcBef>
                <a:spcPts val="1500"/>
              </a:spcBef>
              <a:buFont typeface="+mj-lt"/>
              <a:buAutoNum type="arabicPeriod"/>
            </a:pPr>
            <a:r>
              <a:rPr lang="zh-CN" altLang="en-US" sz="2000" b="0" i="0" dirty="0">
                <a:solidFill>
                  <a:srgbClr val="353A3F"/>
                </a:solidFill>
                <a:effectLst/>
              </a:rPr>
              <a:t>确定期望结果（目标 </a:t>
            </a:r>
            <a:r>
              <a:rPr lang="en-US" altLang="zh-CN" sz="2000" b="0" i="0" dirty="0">
                <a:solidFill>
                  <a:srgbClr val="353A3F"/>
                </a:solidFill>
                <a:effectLst/>
              </a:rPr>
              <a:t>R2</a:t>
            </a:r>
            <a:r>
              <a:rPr lang="zh-CN" altLang="en-US" sz="2000" b="0" i="0" dirty="0">
                <a:solidFill>
                  <a:srgbClr val="353A3F"/>
                </a:solidFill>
                <a:effectLst/>
              </a:rPr>
              <a:t>）</a:t>
            </a:r>
            <a:endParaRPr lang="en-US" altLang="zh-CN" sz="2000" dirty="0">
              <a:solidFill>
                <a:srgbClr val="353A3F"/>
              </a:solidFill>
            </a:endParaRPr>
          </a:p>
          <a:p>
            <a:pPr marL="457200" indent="-457200" algn="l">
              <a:spcBef>
                <a:spcPts val="1500"/>
              </a:spcBef>
              <a:buFont typeface="+mj-lt"/>
              <a:buAutoNum type="arabicPeriod"/>
            </a:pPr>
            <a:r>
              <a:rPr lang="zh-CN" altLang="en-US" sz="2000" b="0" i="0" dirty="0">
                <a:solidFill>
                  <a:srgbClr val="353A3F"/>
                </a:solidFill>
                <a:effectLst/>
              </a:rPr>
              <a:t>确定是否已经采取了解决问题的行动</a:t>
            </a:r>
            <a:endParaRPr lang="en-US" altLang="zh-CN" sz="2000" dirty="0">
              <a:solidFill>
                <a:srgbClr val="353A3F"/>
              </a:solidFill>
            </a:endParaRPr>
          </a:p>
          <a:p>
            <a:pPr marL="457200" indent="-457200" algn="l">
              <a:spcBef>
                <a:spcPts val="1500"/>
              </a:spcBef>
              <a:buFont typeface="+mj-lt"/>
              <a:buAutoNum type="arabicPeriod"/>
            </a:pPr>
            <a:r>
              <a:rPr lang="zh-CN" altLang="en-US" sz="2000" b="0" i="0" dirty="0">
                <a:solidFill>
                  <a:srgbClr val="353A3F"/>
                </a:solidFill>
                <a:effectLst/>
              </a:rPr>
              <a:t>确定分析所要回答的问题（疑问）</a:t>
            </a:r>
          </a:p>
        </p:txBody>
      </p:sp>
      <p:sp>
        <p:nvSpPr>
          <p:cNvPr id="6" name="标题 1">
            <a:extLst>
              <a:ext uri="{FF2B5EF4-FFF2-40B4-BE49-F238E27FC236}">
                <a16:creationId xmlns:a16="http://schemas.microsoft.com/office/drawing/2014/main" id="{8E5A8891-1BC4-1959-32AE-4EC2C56C1BC4}"/>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界定问题的框架</a:t>
            </a:r>
          </a:p>
        </p:txBody>
      </p:sp>
      <p:sp>
        <p:nvSpPr>
          <p:cNvPr id="9" name="文本框 8">
            <a:extLst>
              <a:ext uri="{FF2B5EF4-FFF2-40B4-BE49-F238E27FC236}">
                <a16:creationId xmlns:a16="http://schemas.microsoft.com/office/drawing/2014/main" id="{DC2BB479-B2BC-8A2C-F5FB-F41A00308484}"/>
              </a:ext>
            </a:extLst>
          </p:cNvPr>
          <p:cNvSpPr txBox="1"/>
          <p:nvPr/>
        </p:nvSpPr>
        <p:spPr>
          <a:xfrm>
            <a:off x="6175419" y="1274072"/>
            <a:ext cx="5537915" cy="4869859"/>
          </a:xfrm>
          <a:prstGeom prst="rect">
            <a:avLst/>
          </a:prstGeom>
          <a:noFill/>
        </p:spPr>
        <p:txBody>
          <a:bodyPr wrap="square">
            <a:spAutoFit/>
          </a:bodyPr>
          <a:lstStyle/>
          <a:p>
            <a:pPr>
              <a:lnSpc>
                <a:spcPct val="120000"/>
              </a:lnSpc>
            </a:pPr>
            <a:r>
              <a:rPr lang="zh-CN" altLang="en-US" sz="2000" dirty="0"/>
              <a:t>最常见的问题</a:t>
            </a:r>
            <a:endParaRPr lang="en-US" altLang="zh-CN" sz="2000" dirty="0"/>
          </a:p>
          <a:p>
            <a:pPr marL="457200" indent="-457200">
              <a:lnSpc>
                <a:spcPct val="120000"/>
              </a:lnSpc>
              <a:buFont typeface="+mj-lt"/>
              <a:buAutoNum type="arabicPeriod"/>
            </a:pPr>
            <a:r>
              <a:rPr lang="zh-CN" altLang="en-US" sz="2000" dirty="0"/>
              <a:t>不知道如何从 </a:t>
            </a:r>
            <a:r>
              <a:rPr lang="en-US" altLang="zh-CN" sz="2000" dirty="0"/>
              <a:t>R1(</a:t>
            </a:r>
            <a:r>
              <a:rPr lang="zh-CN" altLang="en-US" sz="2000" dirty="0"/>
              <a:t>现状</a:t>
            </a:r>
            <a:r>
              <a:rPr lang="en-US" altLang="zh-CN" sz="2000" dirty="0"/>
              <a:t>)</a:t>
            </a:r>
            <a:r>
              <a:rPr lang="zh-CN" altLang="en-US" sz="2000" dirty="0"/>
              <a:t>到</a:t>
            </a:r>
            <a:r>
              <a:rPr lang="en-US" altLang="zh-CN" sz="2000" dirty="0"/>
              <a:t>R2(</a:t>
            </a:r>
            <a:r>
              <a:rPr lang="zh-CN" altLang="en-US" sz="2000" dirty="0"/>
              <a:t>目标</a:t>
            </a:r>
            <a:r>
              <a:rPr lang="en-US" altLang="zh-CN" sz="2000" dirty="0"/>
              <a:t>)</a:t>
            </a:r>
          </a:p>
          <a:p>
            <a:pPr marL="457200" indent="-457200">
              <a:lnSpc>
                <a:spcPct val="120000"/>
              </a:lnSpc>
              <a:buFont typeface="+mj-lt"/>
              <a:buAutoNum type="arabicPeriod"/>
            </a:pPr>
            <a:r>
              <a:rPr lang="zh-CN" altLang="en-US" sz="2000" dirty="0"/>
              <a:t>知道如何从 </a:t>
            </a:r>
            <a:r>
              <a:rPr lang="en-US" altLang="zh-CN" sz="2000" dirty="0"/>
              <a:t>R1 </a:t>
            </a:r>
            <a:r>
              <a:rPr lang="zh-CN" altLang="en-US" sz="2000" dirty="0"/>
              <a:t>到 </a:t>
            </a:r>
            <a:r>
              <a:rPr lang="en-US" altLang="zh-CN" sz="2000" dirty="0"/>
              <a:t>R2</a:t>
            </a:r>
            <a:r>
              <a:rPr lang="zh-CN" altLang="en-US" sz="2000" dirty="0"/>
              <a:t>，但不敢肯定是否正确。</a:t>
            </a:r>
            <a:endParaRPr lang="en-US" altLang="zh-CN" sz="2000" dirty="0"/>
          </a:p>
          <a:p>
            <a:pPr marL="457200" indent="-457200">
              <a:lnSpc>
                <a:spcPct val="120000"/>
              </a:lnSpc>
              <a:buFont typeface="+mj-lt"/>
              <a:buAutoNum type="arabicPeriod"/>
            </a:pPr>
            <a:r>
              <a:rPr lang="zh-CN" altLang="en-US" sz="2000" dirty="0"/>
              <a:t>知道从 </a:t>
            </a:r>
            <a:r>
              <a:rPr lang="en-US" altLang="zh-CN" sz="2000" dirty="0"/>
              <a:t>R1 </a:t>
            </a:r>
            <a:r>
              <a:rPr lang="zh-CN" altLang="en-US" sz="2000" dirty="0"/>
              <a:t>到 </a:t>
            </a:r>
            <a:r>
              <a:rPr lang="en-US" altLang="zh-CN" sz="2000" dirty="0"/>
              <a:t>R2 </a:t>
            </a:r>
            <a:r>
              <a:rPr lang="zh-CN" altLang="en-US" sz="2000" dirty="0"/>
              <a:t>的正确方案，但不知道如何实施</a:t>
            </a:r>
            <a:endParaRPr lang="en-US" altLang="zh-CN" sz="2000" dirty="0"/>
          </a:p>
          <a:p>
            <a:pPr>
              <a:lnSpc>
                <a:spcPct val="120000"/>
              </a:lnSpc>
            </a:pPr>
            <a:r>
              <a:rPr lang="zh-CN" altLang="en-US" sz="2000" dirty="0"/>
              <a:t>最常见问题的变形</a:t>
            </a:r>
          </a:p>
          <a:p>
            <a:pPr marL="457200" indent="-457200">
              <a:lnSpc>
                <a:spcPct val="120000"/>
              </a:lnSpc>
              <a:buFont typeface="+mj-lt"/>
              <a:buAutoNum type="arabicPeriod"/>
            </a:pPr>
            <a:r>
              <a:rPr lang="zh-CN" altLang="en-US" sz="2000" dirty="0"/>
              <a:t>知道从 </a:t>
            </a:r>
            <a:r>
              <a:rPr lang="en-US" altLang="zh-CN" sz="2000" dirty="0"/>
              <a:t>R1 </a:t>
            </a:r>
            <a:r>
              <a:rPr lang="zh-CN" altLang="en-US" sz="2000" dirty="0"/>
              <a:t>到 </a:t>
            </a:r>
            <a:r>
              <a:rPr lang="en-US" altLang="zh-CN" sz="2000" dirty="0"/>
              <a:t>R2 </a:t>
            </a:r>
            <a:r>
              <a:rPr lang="zh-CN" altLang="en-US" sz="2000" dirty="0"/>
              <a:t>的解决方案</a:t>
            </a:r>
            <a:r>
              <a:rPr lang="en-US" altLang="zh-CN" sz="2000" dirty="0"/>
              <a:t>,</a:t>
            </a:r>
            <a:r>
              <a:rPr lang="zh-CN" altLang="en-US" sz="2000" dirty="0"/>
              <a:t>并且已经实施</a:t>
            </a:r>
            <a:r>
              <a:rPr lang="en-US" altLang="zh-CN" sz="2000" dirty="0"/>
              <a:t>,</a:t>
            </a:r>
            <a:r>
              <a:rPr lang="zh-CN" altLang="en-US" sz="2000" dirty="0"/>
              <a:t>但由于某种原因行不通</a:t>
            </a:r>
            <a:endParaRPr lang="en-US" altLang="zh-CN" sz="2000" dirty="0"/>
          </a:p>
          <a:p>
            <a:pPr marL="457200" indent="-457200">
              <a:lnSpc>
                <a:spcPct val="120000"/>
              </a:lnSpc>
              <a:buFont typeface="+mj-lt"/>
              <a:buAutoNum type="arabicPeriod"/>
            </a:pPr>
            <a:r>
              <a:rPr lang="zh-CN" altLang="en-US" sz="2000" dirty="0"/>
              <a:t>确定了好几个解决方案，但不知道选哪一个</a:t>
            </a:r>
            <a:endParaRPr lang="en-US" altLang="zh-CN" sz="2000" dirty="0"/>
          </a:p>
          <a:p>
            <a:pPr>
              <a:lnSpc>
                <a:spcPct val="120000"/>
              </a:lnSpc>
            </a:pPr>
            <a:r>
              <a:rPr lang="zh-CN" altLang="en-US" sz="2000" dirty="0"/>
              <a:t>可能但不常见的情形</a:t>
            </a:r>
          </a:p>
          <a:p>
            <a:pPr marL="457200" indent="-457200">
              <a:lnSpc>
                <a:spcPct val="120000"/>
              </a:lnSpc>
              <a:buFont typeface="+mj-lt"/>
              <a:buAutoNum type="arabicPeriod"/>
            </a:pPr>
            <a:r>
              <a:rPr lang="zh-CN" altLang="en-US" sz="2000" dirty="0"/>
              <a:t>知道 </a:t>
            </a:r>
            <a:r>
              <a:rPr lang="en-US" altLang="zh-CN" sz="2000" dirty="0"/>
              <a:t>R1</a:t>
            </a:r>
            <a:r>
              <a:rPr lang="zh-CN" altLang="en-US" sz="2000" dirty="0"/>
              <a:t>，但不能具体描述 </a:t>
            </a:r>
            <a:r>
              <a:rPr lang="en-US" altLang="zh-CN" sz="2000" dirty="0"/>
              <a:t>R2</a:t>
            </a:r>
            <a:r>
              <a:rPr lang="zh-CN" altLang="en-US" sz="2000" dirty="0"/>
              <a:t>，所以无法找到解决方案</a:t>
            </a:r>
            <a:endParaRPr lang="en-US" altLang="zh-CN" sz="2000" dirty="0"/>
          </a:p>
          <a:p>
            <a:pPr marL="457200" indent="-457200">
              <a:lnSpc>
                <a:spcPct val="120000"/>
              </a:lnSpc>
              <a:buFont typeface="+mj-lt"/>
              <a:buAutoNum type="arabicPeriod"/>
            </a:pPr>
            <a:r>
              <a:rPr lang="zh-CN" altLang="en-US" sz="2000" dirty="0"/>
              <a:t>知道 </a:t>
            </a:r>
            <a:r>
              <a:rPr lang="en-US" altLang="zh-CN" sz="2000" dirty="0"/>
              <a:t>R2</a:t>
            </a:r>
            <a:r>
              <a:rPr lang="zh-CN" altLang="en-US" sz="2000" dirty="0"/>
              <a:t>，但不清楚自己是否处在 </a:t>
            </a:r>
            <a:r>
              <a:rPr lang="en-US" altLang="zh-CN" sz="2000" dirty="0"/>
              <a:t>R1</a:t>
            </a:r>
            <a:endParaRPr lang="zh-CN" altLang="en-US" sz="2000" dirty="0"/>
          </a:p>
        </p:txBody>
      </p:sp>
    </p:spTree>
    <p:extLst>
      <p:ext uri="{BB962C8B-B14F-4D97-AF65-F5344CB8AC3E}">
        <p14:creationId xmlns:p14="http://schemas.microsoft.com/office/powerpoint/2010/main" val="2370732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EB42418F-BBB3-805D-E256-8376FD4D557B}"/>
              </a:ext>
            </a:extLst>
          </p:cNvPr>
          <p:cNvSpPr>
            <a:spLocks noGrp="1"/>
          </p:cNvSpPr>
          <p:nvPr>
            <p:ph idx="1"/>
          </p:nvPr>
        </p:nvSpPr>
        <p:spPr>
          <a:xfrm>
            <a:off x="838200" y="1171978"/>
            <a:ext cx="10675513" cy="5459281"/>
          </a:xfrm>
        </p:spPr>
        <p:txBody>
          <a:bodyPr>
            <a:noAutofit/>
          </a:bodyPr>
          <a:lstStyle/>
          <a:p>
            <a:pPr>
              <a:lnSpc>
                <a:spcPct val="120000"/>
              </a:lnSpc>
            </a:pPr>
            <a:r>
              <a:rPr lang="zh-CN" altLang="en-US" sz="2000" dirty="0"/>
              <a:t>分析问题的标准流程：收集信息</a:t>
            </a:r>
            <a:r>
              <a:rPr lang="en-US" altLang="zh-CN" sz="2000" dirty="0"/>
              <a:t>-&gt;</a:t>
            </a:r>
            <a:r>
              <a:rPr lang="zh-CN" altLang="en-US" sz="2000" dirty="0"/>
              <a:t>描述发现</a:t>
            </a:r>
            <a:r>
              <a:rPr lang="en-US" altLang="zh-CN" sz="2000" dirty="0"/>
              <a:t>-&gt;</a:t>
            </a:r>
            <a:r>
              <a:rPr lang="zh-CN" altLang="en-US" sz="2000" dirty="0"/>
              <a:t>得出结论</a:t>
            </a:r>
            <a:r>
              <a:rPr lang="en-US" altLang="zh-CN" sz="2000" dirty="0"/>
              <a:t>-&gt;</a:t>
            </a:r>
            <a:r>
              <a:rPr lang="zh-CN" altLang="en-US" sz="2000" dirty="0"/>
              <a:t>提出方案</a:t>
            </a:r>
            <a:endParaRPr lang="en-US" altLang="zh-CN" sz="2000" dirty="0"/>
          </a:p>
          <a:p>
            <a:pPr>
              <a:lnSpc>
                <a:spcPct val="120000"/>
              </a:lnSpc>
            </a:pPr>
            <a:r>
              <a:rPr lang="zh-CN" altLang="en-US" sz="2000" dirty="0"/>
              <a:t>在解决问题时，人们常犯的错误是：一遇到问题就立即去收集大量数据，希望能从中发现线索。这就像在没有地图的情况下进入丛林，效率低下且容易迷失。</a:t>
            </a:r>
          </a:p>
          <a:p>
            <a:pPr>
              <a:lnSpc>
                <a:spcPct val="120000"/>
              </a:lnSpc>
            </a:pPr>
            <a:r>
              <a:rPr lang="zh-CN" altLang="en-US" sz="2000" dirty="0"/>
              <a:t>本章主张的路径恰好相反：</a:t>
            </a:r>
          </a:p>
          <a:p>
            <a:pPr marL="457200" indent="-457200">
              <a:lnSpc>
                <a:spcPct val="120000"/>
              </a:lnSpc>
              <a:buFont typeface="+mj-lt"/>
              <a:buAutoNum type="arabicPeriod"/>
            </a:pPr>
            <a:r>
              <a:rPr lang="zh-CN" altLang="en-US" sz="2000" dirty="0"/>
              <a:t>构建诊断框架：先画一张“问题地图”（提出假设）。</a:t>
            </a:r>
            <a:endParaRPr lang="en-US" altLang="zh-CN" sz="2000" dirty="0"/>
          </a:p>
          <a:p>
            <a:pPr marL="457200" indent="-457200">
              <a:lnSpc>
                <a:spcPct val="120000"/>
              </a:lnSpc>
              <a:buFont typeface="+mj-lt"/>
              <a:buAutoNum type="arabicPeriod"/>
            </a:pPr>
            <a:r>
              <a:rPr lang="zh-CN" altLang="en-US" sz="2000" dirty="0"/>
              <a:t>使用逻辑树：规划探查路径，系统性地验证假设。</a:t>
            </a:r>
            <a:endParaRPr lang="en-US" altLang="zh-CN" sz="2000" dirty="0"/>
          </a:p>
        </p:txBody>
      </p:sp>
      <p:sp>
        <p:nvSpPr>
          <p:cNvPr id="7" name="标题 1">
            <a:extLst>
              <a:ext uri="{FF2B5EF4-FFF2-40B4-BE49-F238E27FC236}">
                <a16:creationId xmlns:a16="http://schemas.microsoft.com/office/drawing/2014/main" id="{F24DEC18-353F-5C60-0E65-FD6EB218CD38}"/>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第九章：结构化分析问题</a:t>
            </a:r>
          </a:p>
        </p:txBody>
      </p:sp>
    </p:spTree>
    <p:extLst>
      <p:ext uri="{BB962C8B-B14F-4D97-AF65-F5344CB8AC3E}">
        <p14:creationId xmlns:p14="http://schemas.microsoft.com/office/powerpoint/2010/main" val="767057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364B952C-03CF-62F9-CC2C-0F31C9456D66}"/>
              </a:ext>
            </a:extLst>
          </p:cNvPr>
          <p:cNvSpPr>
            <a:spLocks noGrp="1"/>
          </p:cNvSpPr>
          <p:nvPr>
            <p:ph idx="1"/>
          </p:nvPr>
        </p:nvSpPr>
        <p:spPr>
          <a:xfrm>
            <a:off x="838200" y="1171978"/>
            <a:ext cx="10515600" cy="5004985"/>
          </a:xfrm>
        </p:spPr>
        <p:txBody>
          <a:bodyPr>
            <a:normAutofit/>
          </a:bodyPr>
          <a:lstStyle/>
          <a:p>
            <a:r>
              <a:rPr lang="zh-CN" altLang="en-US" sz="2000" dirty="0"/>
              <a:t>诊断框架的作用是系统性地分解问题，并穷尽所有可能的原因，其核心是</a:t>
            </a:r>
            <a:r>
              <a:rPr lang="en-US" altLang="zh-CN" sz="2000" dirty="0"/>
              <a:t>MECE</a:t>
            </a:r>
            <a:r>
              <a:rPr lang="zh-CN" altLang="en-US" sz="2000" dirty="0"/>
              <a:t>原则（相互独立，完全穷尽）。构建框架主要有以下三种方式：</a:t>
            </a:r>
            <a:endParaRPr lang="en-US" altLang="zh-CN" dirty="0"/>
          </a:p>
          <a:p>
            <a:pPr marL="457200" indent="-457200">
              <a:buFont typeface="+mj-lt"/>
              <a:buAutoNum type="arabicPeriod"/>
            </a:pPr>
            <a:r>
              <a:rPr lang="zh-CN" altLang="en-US" sz="2000" dirty="0"/>
              <a:t>呈现有形的结构：任何一家企业或行业的具体领域都应该有清晰的结构，即包括由不同单位组成的系统，各自完成某项特定的功能。画一幅系统的现况或理想状况的图，能帮助找到和分析产生问题的原因。</a:t>
            </a:r>
            <a:endParaRPr lang="en-US" altLang="zh-CN" sz="2000" dirty="0"/>
          </a:p>
          <a:p>
            <a:pPr marL="457200" indent="-457200">
              <a:buFont typeface="+mj-lt"/>
              <a:buAutoNum type="arabicPeriod"/>
            </a:pPr>
            <a:r>
              <a:rPr lang="zh-CN" altLang="en-US" sz="2000" dirty="0"/>
              <a:t>寻找因果关系：这是商业分析中最常用、最强大的方式，其精髓是识别核心驱动因素，并进行层层拆解。找到一个可以量化评估问题的公式（如利润</a:t>
            </a:r>
            <a:r>
              <a:rPr lang="en-US" altLang="zh-CN" sz="2000" dirty="0"/>
              <a:t>=</a:t>
            </a:r>
            <a:r>
              <a:rPr lang="zh-CN" altLang="en-US" sz="2000" dirty="0"/>
              <a:t>收入</a:t>
            </a:r>
            <a:r>
              <a:rPr lang="en-US" altLang="zh-CN" sz="2000" dirty="0"/>
              <a:t>-</a:t>
            </a:r>
            <a:r>
              <a:rPr lang="zh-CN" altLang="en-US" sz="2000" dirty="0"/>
              <a:t>成本），然后对公式中的每一个变量进行持续分解，直到找到可操作的底层因素。</a:t>
            </a:r>
            <a:endParaRPr lang="en-US" altLang="zh-CN" sz="2000" dirty="0"/>
          </a:p>
          <a:p>
            <a:pPr marL="457200" indent="-457200">
              <a:buFont typeface="+mj-lt"/>
              <a:buAutoNum type="arabicPeriod"/>
            </a:pPr>
            <a:r>
              <a:rPr lang="zh-CN" altLang="en-US" sz="2000" dirty="0"/>
              <a:t>将产生问题的可能原因分类：当面对众多可能原因，思路混乱时，这种方式能帮化繁为简，建立秩序。运用 </a:t>
            </a:r>
            <a:r>
              <a:rPr lang="en-US" altLang="zh-CN" sz="2000" dirty="0"/>
              <a:t>MECE</a:t>
            </a:r>
            <a:r>
              <a:rPr lang="zh-CN" altLang="en-US" sz="2000" dirty="0"/>
              <a:t>原则，将所有想到的零散原因，归纳到几个相互独立、完全穷尽的逻辑类别中。然后，通过回答“是”与“否”，确认或排除其中一些原因。</a:t>
            </a:r>
            <a:endParaRPr lang="en-US" altLang="zh-CN" sz="2000" dirty="0"/>
          </a:p>
        </p:txBody>
      </p:sp>
      <p:sp>
        <p:nvSpPr>
          <p:cNvPr id="9" name="标题 1">
            <a:extLst>
              <a:ext uri="{FF2B5EF4-FFF2-40B4-BE49-F238E27FC236}">
                <a16:creationId xmlns:a16="http://schemas.microsoft.com/office/drawing/2014/main" id="{9AFA1247-ABF8-EAEB-529D-411687933A2D}"/>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构建诊断框架</a:t>
            </a:r>
          </a:p>
        </p:txBody>
      </p:sp>
    </p:spTree>
    <p:extLst>
      <p:ext uri="{BB962C8B-B14F-4D97-AF65-F5344CB8AC3E}">
        <p14:creationId xmlns:p14="http://schemas.microsoft.com/office/powerpoint/2010/main" val="614264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DA268CA3-6095-96F5-3FA6-D0670932FF7B}"/>
              </a:ext>
            </a:extLst>
          </p:cNvPr>
          <p:cNvSpPr>
            <a:spLocks noGrp="1"/>
          </p:cNvSpPr>
          <p:nvPr>
            <p:ph idx="1"/>
          </p:nvPr>
        </p:nvSpPr>
        <p:spPr>
          <a:xfrm>
            <a:off x="838200" y="1171978"/>
            <a:ext cx="3978499" cy="5004985"/>
          </a:xfrm>
        </p:spPr>
        <p:txBody>
          <a:bodyPr>
            <a:normAutofit/>
          </a:bodyPr>
          <a:lstStyle/>
          <a:p>
            <a:r>
              <a:rPr lang="zh-CN" altLang="en-US" sz="2000" dirty="0"/>
              <a:t>以逻辑树的形式，我们将问题可能的解决方案视觉化地展开，清晰地展示从“我们能做什么”到“我们应该做什么”的推理路径。</a:t>
            </a:r>
            <a:endParaRPr lang="en-US" altLang="zh-CN" sz="2000" dirty="0"/>
          </a:p>
          <a:p>
            <a:r>
              <a:rPr lang="zh-CN" altLang="en-US" sz="2000" dirty="0"/>
              <a:t>构建逻辑树的方法：</a:t>
            </a:r>
            <a:endParaRPr lang="en-US" altLang="zh-CN" sz="2000" dirty="0"/>
          </a:p>
          <a:p>
            <a:pPr marL="457200" indent="-457200">
              <a:buFont typeface="+mj-lt"/>
              <a:buAutoNum type="arabicPeriod"/>
            </a:pPr>
            <a:r>
              <a:rPr lang="zh-CN" altLang="en-US" sz="2000" dirty="0"/>
              <a:t>根据“相互独立，完全穷尽”的原则，对各种可能性作一个系统的逻辑细分</a:t>
            </a:r>
            <a:endParaRPr lang="en-US" altLang="zh-CN" sz="2000" dirty="0"/>
          </a:p>
          <a:p>
            <a:pPr marL="457200" indent="-457200">
              <a:buFont typeface="+mj-lt"/>
              <a:buAutoNum type="arabicPeriod"/>
            </a:pPr>
            <a:r>
              <a:rPr lang="zh-CN" altLang="en-US" sz="2000" dirty="0"/>
              <a:t>计算相关收益和评估每种行动方案的风险，以便确定一套最终的解决方案</a:t>
            </a:r>
            <a:endParaRPr lang="en-US" altLang="zh-CN" sz="2000" dirty="0"/>
          </a:p>
        </p:txBody>
      </p:sp>
      <p:sp>
        <p:nvSpPr>
          <p:cNvPr id="6" name="标题 1">
            <a:extLst>
              <a:ext uri="{FF2B5EF4-FFF2-40B4-BE49-F238E27FC236}">
                <a16:creationId xmlns:a16="http://schemas.microsoft.com/office/drawing/2014/main" id="{A8E59AD2-B479-A36A-68CD-A9F92F806924}"/>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构建逻辑树</a:t>
            </a:r>
          </a:p>
        </p:txBody>
      </p:sp>
      <p:pic>
        <p:nvPicPr>
          <p:cNvPr id="8" name="图片 7" descr="图示&#10;&#10;AI 生成的内容可能不正确。">
            <a:extLst>
              <a:ext uri="{FF2B5EF4-FFF2-40B4-BE49-F238E27FC236}">
                <a16:creationId xmlns:a16="http://schemas.microsoft.com/office/drawing/2014/main" id="{590058D1-A4C2-0B26-CD33-BC4CE1852D7A}"/>
              </a:ext>
            </a:extLst>
          </p:cNvPr>
          <p:cNvPicPr>
            <a:picLocks noChangeAspect="1"/>
          </p:cNvPicPr>
          <p:nvPr/>
        </p:nvPicPr>
        <p:blipFill>
          <a:blip r:embed="rId2"/>
          <a:stretch>
            <a:fillRect/>
          </a:stretch>
        </p:blipFill>
        <p:spPr>
          <a:xfrm>
            <a:off x="5305013" y="1815865"/>
            <a:ext cx="6048787" cy="3786446"/>
          </a:xfrm>
          <a:prstGeom prst="rect">
            <a:avLst/>
          </a:prstGeom>
        </p:spPr>
      </p:pic>
    </p:spTree>
    <p:extLst>
      <p:ext uri="{BB962C8B-B14F-4D97-AF65-F5344CB8AC3E}">
        <p14:creationId xmlns:p14="http://schemas.microsoft.com/office/powerpoint/2010/main" val="16571627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8DF9D5F-E1BB-0565-7396-08160CBD3D7E}"/>
              </a:ext>
            </a:extLst>
          </p:cNvPr>
          <p:cNvSpPr>
            <a:spLocks noGrp="1"/>
          </p:cNvSpPr>
          <p:nvPr>
            <p:ph idx="1"/>
          </p:nvPr>
        </p:nvSpPr>
        <p:spPr>
          <a:xfrm>
            <a:off x="838200" y="1171978"/>
            <a:ext cx="10515600" cy="5004985"/>
          </a:xfrm>
        </p:spPr>
        <p:txBody>
          <a:bodyPr>
            <a:normAutofit/>
          </a:bodyPr>
          <a:lstStyle/>
          <a:p>
            <a:r>
              <a:rPr lang="zh-CN" altLang="en-US" sz="2000" dirty="0"/>
              <a:t>让逻辑关系更一目了然的技巧各不相同，取决于读者只是从纸上读取你的思想，还是他们看着屏幕上的演示的同时，听着你的讲解。不管在哪种情况下，技巧的运用都要遵循规则。</a:t>
            </a:r>
            <a:endParaRPr lang="en-US" altLang="zh-CN" sz="2000" dirty="0"/>
          </a:p>
          <a:p>
            <a:r>
              <a:rPr lang="zh-CN" altLang="en-US" sz="2000" dirty="0"/>
              <a:t>写作长篇文章时，在页面上呈现金字塔层级的方法很多，最常见的有：</a:t>
            </a:r>
            <a:endParaRPr lang="en-US" altLang="zh-CN" sz="2000" dirty="0"/>
          </a:p>
          <a:p>
            <a:pPr marL="457200" indent="-457200">
              <a:buFont typeface="+mj-lt"/>
              <a:buAutoNum type="arabicPeriod"/>
            </a:pPr>
            <a:r>
              <a:rPr lang="zh-CN" altLang="en-US" sz="2000" dirty="0"/>
              <a:t>多级标题法：不同层次的思想</a:t>
            </a:r>
            <a:r>
              <a:rPr lang="en-US" altLang="zh-CN" sz="2000" dirty="0"/>
              <a:t>(</a:t>
            </a:r>
            <a:r>
              <a:rPr lang="zh-CN" altLang="en-US" sz="2000" dirty="0"/>
              <a:t>观点、论点、论据、建议</a:t>
            </a:r>
            <a:r>
              <a:rPr lang="en-US" altLang="zh-CN" sz="2000" dirty="0"/>
              <a:t>)</a:t>
            </a:r>
            <a:r>
              <a:rPr lang="zh-CN" altLang="en-US" sz="2000" dirty="0"/>
              <a:t>，用不同的标记区分，层次越低的思想离页面的右端越近，同一层次的思想采用同一表现形式</a:t>
            </a:r>
            <a:endParaRPr lang="en-US" altLang="zh-CN" sz="2000" dirty="0"/>
          </a:p>
          <a:p>
            <a:pPr marL="457200" indent="-457200">
              <a:buFont typeface="+mj-lt"/>
              <a:buAutoNum type="arabicPeriod"/>
            </a:pPr>
            <a:r>
              <a:rPr lang="zh-CN" altLang="en-US" sz="2000" dirty="0"/>
              <a:t>下划线法：如果文章很短，比如，支持每一关键句要点的段落少于两个，读者很容易明白文中的要点及其相互之间的关系。给这些要点加上下划线，它们就会吸引读者的眼球</a:t>
            </a:r>
            <a:endParaRPr lang="en-US" altLang="zh-CN" sz="2000" dirty="0"/>
          </a:p>
          <a:p>
            <a:pPr marL="457200" indent="-457200">
              <a:buFont typeface="+mj-lt"/>
              <a:buAutoNum type="arabicPeriod"/>
            </a:pPr>
            <a:r>
              <a:rPr lang="zh-CN" altLang="en-US" sz="2000" dirty="0"/>
              <a:t>数字编号法：许多企业以及大多数政府机构，都喜欢用数字而不喜欢用标题强调文章的细分部分，有的甚至给每一个段落编上号。这种方法的优点在于，任何个话题或建议都能被方便准确地查找到。</a:t>
            </a:r>
            <a:endParaRPr lang="en-US" altLang="zh-CN" sz="2000" dirty="0"/>
          </a:p>
          <a:p>
            <a:pPr marL="457200" indent="-457200">
              <a:buFont typeface="+mj-lt"/>
              <a:buAutoNum type="arabicPeriod"/>
            </a:pPr>
            <a:r>
              <a:rPr lang="zh-CN" altLang="en-US" sz="2000" dirty="0"/>
              <a:t>行首缩进法：要用相同的句型表达观点。这样做不仅能节省用词使你的思想易于理解，还能帮助你检查是否说清楚了自己想说的内容。</a:t>
            </a:r>
            <a:endParaRPr lang="en-US" altLang="zh-CN" sz="2000" dirty="0"/>
          </a:p>
          <a:p>
            <a:pPr marL="457200" indent="-457200">
              <a:buFont typeface="+mj-lt"/>
              <a:buAutoNum type="arabicPeriod"/>
            </a:pPr>
            <a:r>
              <a:rPr lang="zh-CN" altLang="en-US" sz="2000" dirty="0"/>
              <a:t>项目符号法：是行首缩进法的变型。与多级标题一样，也是层次越低的思想观点离页面的左侧越远。</a:t>
            </a:r>
          </a:p>
        </p:txBody>
      </p:sp>
      <p:sp>
        <p:nvSpPr>
          <p:cNvPr id="6" name="标题 1">
            <a:extLst>
              <a:ext uri="{FF2B5EF4-FFF2-40B4-BE49-F238E27FC236}">
                <a16:creationId xmlns:a16="http://schemas.microsoft.com/office/drawing/2014/main" id="{8AF91ABB-0D31-3DDE-5831-7E241BFB7920}"/>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第十章：在书面上呈现金字塔</a:t>
            </a:r>
          </a:p>
        </p:txBody>
      </p:sp>
    </p:spTree>
    <p:extLst>
      <p:ext uri="{BB962C8B-B14F-4D97-AF65-F5344CB8AC3E}">
        <p14:creationId xmlns:p14="http://schemas.microsoft.com/office/powerpoint/2010/main" val="732506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6B80F9D-42F0-9054-1174-30B65FAB1C8F}"/>
              </a:ext>
            </a:extLst>
          </p:cNvPr>
          <p:cNvSpPr>
            <a:spLocks noGrp="1"/>
          </p:cNvSpPr>
          <p:nvPr>
            <p:ph idx="1"/>
          </p:nvPr>
        </p:nvSpPr>
        <p:spPr>
          <a:xfrm>
            <a:off x="838200" y="1171978"/>
            <a:ext cx="10515600" cy="5004985"/>
          </a:xfrm>
        </p:spPr>
        <p:txBody>
          <a:bodyPr>
            <a:normAutofit/>
          </a:bodyPr>
          <a:lstStyle/>
          <a:p>
            <a:r>
              <a:rPr lang="zh-CN" altLang="en-US" sz="2000" dirty="0"/>
              <a:t>上下文直接要有过渡：</a:t>
            </a:r>
            <a:endParaRPr lang="en-US" altLang="zh-CN" sz="2000" dirty="0"/>
          </a:p>
          <a:p>
            <a:pPr marL="457200" indent="-457200">
              <a:buFont typeface="+mj-lt"/>
              <a:buAutoNum type="alphaLcParenR"/>
            </a:pPr>
            <a:r>
              <a:rPr lang="zh-CN" altLang="en-US" sz="2000" dirty="0"/>
              <a:t>讲故事：一种把读者带入关键句要点的好方法是向他讲述背景一冲突</a:t>
            </a:r>
            <a:r>
              <a:rPr lang="en-US" altLang="zh-CN" sz="2000" dirty="0"/>
              <a:t>-</a:t>
            </a:r>
            <a:r>
              <a:rPr lang="zh-CN" altLang="en-US" sz="2000" dirty="0"/>
              <a:t>疑问三部曲，自然而然地引出关键句要点作为故事的答案（</a:t>
            </a:r>
            <a:r>
              <a:rPr lang="en-US" altLang="zh-CN" sz="2000" dirty="0"/>
              <a:t>SCQA</a:t>
            </a:r>
            <a:r>
              <a:rPr lang="zh-CN" altLang="en-US" sz="2000" dirty="0"/>
              <a:t>）。</a:t>
            </a:r>
            <a:endParaRPr lang="en-US" altLang="zh-CN" sz="2000" dirty="0"/>
          </a:p>
          <a:p>
            <a:pPr marL="457200" indent="-457200">
              <a:buFont typeface="+mj-lt"/>
              <a:buAutoNum type="alphaLcParenR"/>
            </a:pPr>
            <a:r>
              <a:rPr lang="zh-CN" altLang="en-US" sz="2000" dirty="0"/>
              <a:t>承上启下：从上一节挑选关键词或短语，并把它用在下一节的起始句，让两节之间的过渡既清晰又自然，当然，还必须和下一节的主要论点相结合。</a:t>
            </a:r>
            <a:endParaRPr lang="en-US" altLang="zh-CN" sz="2000" dirty="0"/>
          </a:p>
          <a:p>
            <a:pPr marL="457200" indent="-457200">
              <a:buFont typeface="+mj-lt"/>
              <a:buAutoNum type="alphaLcParenR"/>
            </a:pPr>
            <a:r>
              <a:rPr lang="zh-CN" altLang="en-US" sz="2000" dirty="0"/>
              <a:t>总结各部分内容：这类结论性的总结并不难写，只要记住其目的是尽量凝练地复述前文的主要论点和基调。你的金字塔结构里已经有了这些东西，你要做的只是为读者提炼和汇总</a:t>
            </a:r>
            <a:endParaRPr lang="en-US" altLang="zh-CN" sz="2000" dirty="0"/>
          </a:p>
          <a:p>
            <a:pPr marL="457200" indent="-457200">
              <a:buFont typeface="+mj-lt"/>
              <a:buAutoNum type="alphaLcParenR"/>
            </a:pPr>
            <a:r>
              <a:rPr lang="zh-CN" altLang="en-US" sz="2000" dirty="0"/>
              <a:t>得出完整结论：如果你是按照金字塔原理写序言和构思文章正文的，就没必要再写结论性的文字，因为你已经在文章开头清楚地说明了读者的问题，并按无懈可击的逻辑关系给予了完整的回答。如果一定要写，使用具有说服力的语言，对不同的文章采用不同的结尾，如：哲学观点的形式或立即行动建议</a:t>
            </a:r>
          </a:p>
          <a:p>
            <a:pPr marL="457200" indent="-457200">
              <a:buFont typeface="+mj-lt"/>
              <a:buAutoNum type="alphaLcParenR"/>
            </a:pPr>
            <a:r>
              <a:rPr lang="zh-CN" altLang="en-US" sz="2000" dirty="0"/>
              <a:t>说明下一步行动</a:t>
            </a:r>
          </a:p>
        </p:txBody>
      </p:sp>
      <p:sp>
        <p:nvSpPr>
          <p:cNvPr id="4" name="标题 1">
            <a:extLst>
              <a:ext uri="{FF2B5EF4-FFF2-40B4-BE49-F238E27FC236}">
                <a16:creationId xmlns:a16="http://schemas.microsoft.com/office/drawing/2014/main" id="{60757B75-B82D-1F45-B103-1778DC40D9D4}"/>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第十章：在书面上呈现金字塔</a:t>
            </a:r>
          </a:p>
        </p:txBody>
      </p:sp>
    </p:spTree>
    <p:extLst>
      <p:ext uri="{BB962C8B-B14F-4D97-AF65-F5344CB8AC3E}">
        <p14:creationId xmlns:p14="http://schemas.microsoft.com/office/powerpoint/2010/main" val="34291525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D2A119-ABC3-2A86-0A37-07C849CC2CC7}"/>
              </a:ext>
            </a:extLst>
          </p:cNvPr>
          <p:cNvSpPr>
            <a:spLocks noGrp="1"/>
          </p:cNvSpPr>
          <p:nvPr>
            <p:ph idx="1"/>
          </p:nvPr>
        </p:nvSpPr>
        <p:spPr>
          <a:xfrm>
            <a:off x="838200" y="1171978"/>
            <a:ext cx="10515600" cy="5004985"/>
          </a:xfrm>
        </p:spPr>
        <p:txBody>
          <a:bodyPr>
            <a:normAutofit/>
          </a:bodyPr>
          <a:lstStyle/>
          <a:p>
            <a:r>
              <a:rPr lang="zh-CN" altLang="en-US" sz="2000" dirty="0"/>
              <a:t>演示文稿应图文并茂，使用各种图表</a:t>
            </a:r>
            <a:r>
              <a:rPr lang="en-US" altLang="zh-CN" sz="2000" dirty="0"/>
              <a:t>(</a:t>
            </a:r>
            <a:r>
              <a:rPr lang="zh-CN" altLang="en-US" sz="2000" dirty="0"/>
              <a:t>图、表或示意图</a:t>
            </a:r>
            <a:r>
              <a:rPr lang="en-US" altLang="zh-CN" sz="2000" dirty="0"/>
              <a:t>)</a:t>
            </a:r>
            <a:r>
              <a:rPr lang="zh-CN" altLang="en-US" sz="2000" dirty="0"/>
              <a:t>相配合</a:t>
            </a:r>
          </a:p>
          <a:p>
            <a:r>
              <a:rPr lang="zh-CN" altLang="en-US" sz="2000" dirty="0"/>
              <a:t>演示文稿包括两类幻灯片</a:t>
            </a:r>
            <a:r>
              <a:rPr lang="en-US" altLang="zh-CN" sz="2000" dirty="0"/>
              <a:t>--</a:t>
            </a:r>
            <a:r>
              <a:rPr lang="zh-CN" altLang="en-US" sz="2000" dirty="0"/>
              <a:t>文字和图表</a:t>
            </a:r>
            <a:r>
              <a:rPr lang="en-US" altLang="zh-CN" sz="2000" dirty="0"/>
              <a:t>(</a:t>
            </a:r>
            <a:r>
              <a:rPr lang="zh-CN" altLang="en-US" sz="2000" dirty="0"/>
              <a:t>图、表或示意图</a:t>
            </a:r>
            <a:r>
              <a:rPr lang="en-US" altLang="zh-CN" sz="2000" dirty="0"/>
              <a:t>)</a:t>
            </a:r>
            <a:r>
              <a:rPr lang="zh-CN" altLang="en-US" sz="2000" dirty="0"/>
              <a:t>，理想的比例是图表占 </a:t>
            </a:r>
            <a:r>
              <a:rPr lang="en-US" altLang="zh-CN" sz="2000" dirty="0"/>
              <a:t>90%</a:t>
            </a:r>
            <a:r>
              <a:rPr lang="zh-CN" altLang="en-US" sz="2000" dirty="0"/>
              <a:t>，文字占</a:t>
            </a:r>
            <a:r>
              <a:rPr lang="en-US" altLang="zh-CN" sz="2000" dirty="0"/>
              <a:t>10%</a:t>
            </a:r>
          </a:p>
          <a:p>
            <a:r>
              <a:rPr lang="zh-CN" altLang="en-US" sz="2000" dirty="0"/>
              <a:t>设置文字幻灯片的原则：</a:t>
            </a:r>
            <a:endParaRPr lang="en-US" altLang="zh-CN" sz="2000" dirty="0"/>
          </a:p>
          <a:p>
            <a:pPr marL="457200" indent="-457200">
              <a:buFont typeface="+mj-lt"/>
              <a:buAutoNum type="alphaLcParenR"/>
            </a:pPr>
            <a:r>
              <a:rPr lang="zh-CN" altLang="en-US" sz="2000" dirty="0"/>
              <a:t>清楚你要说的内容</a:t>
            </a:r>
            <a:endParaRPr lang="en-US" altLang="zh-CN" sz="2000" dirty="0"/>
          </a:p>
          <a:p>
            <a:pPr marL="457200" indent="-457200">
              <a:buFont typeface="+mj-lt"/>
              <a:buAutoNum type="alphaLcParenR"/>
            </a:pPr>
            <a:r>
              <a:rPr lang="zh-CN" altLang="en-US" sz="2000" dirty="0"/>
              <a:t>清楚自己要演示的内容</a:t>
            </a:r>
            <a:endParaRPr lang="en-US" altLang="zh-CN" sz="2000" dirty="0"/>
          </a:p>
          <a:p>
            <a:pPr marL="914400" lvl="1" indent="-457200">
              <a:buFont typeface="+mj-lt"/>
              <a:buAutoNum type="arabicPeriod"/>
            </a:pPr>
            <a:r>
              <a:rPr lang="zh-CN" altLang="en-US" sz="1600" dirty="0"/>
              <a:t>每次只演示和说明一个论点</a:t>
            </a:r>
            <a:endParaRPr lang="en-US" altLang="zh-CN" sz="1600" dirty="0"/>
          </a:p>
          <a:p>
            <a:pPr marL="914400" lvl="1" indent="-457200">
              <a:buFont typeface="+mj-lt"/>
              <a:buAutoNum type="arabicPeriod"/>
            </a:pPr>
            <a:r>
              <a:rPr lang="zh-CN" altLang="en-US" sz="1600" dirty="0"/>
              <a:t>论点应使用完整的陈述句，而不是标题性语言</a:t>
            </a:r>
          </a:p>
          <a:p>
            <a:pPr marL="914400" lvl="1" indent="-457200">
              <a:buFont typeface="+mj-lt"/>
              <a:buAutoNum type="arabicPeriod"/>
            </a:pPr>
            <a:r>
              <a:rPr lang="zh-CN" altLang="en-US" sz="1600" dirty="0"/>
              <a:t>文字应尽量简短</a:t>
            </a:r>
          </a:p>
          <a:p>
            <a:pPr marL="914400" lvl="1" indent="-457200">
              <a:buFont typeface="+mj-lt"/>
              <a:buAutoNum type="arabicPeriod"/>
            </a:pPr>
            <a:r>
              <a:rPr lang="zh-CN" altLang="en-US" sz="1600" dirty="0"/>
              <a:t>使用简单的文字和词汇</a:t>
            </a:r>
          </a:p>
          <a:p>
            <a:pPr marL="914400" lvl="1" indent="-457200">
              <a:buFont typeface="+mj-lt"/>
              <a:buAutoNum type="arabicPeriod"/>
            </a:pPr>
            <a:r>
              <a:rPr lang="zh-CN" altLang="en-US" sz="1600" dirty="0"/>
              <a:t>字号应足够大（</a:t>
            </a:r>
            <a:r>
              <a:rPr lang="en-US" altLang="zh-CN" sz="1600" dirty="0"/>
              <a:t>32</a:t>
            </a:r>
            <a:r>
              <a:rPr lang="zh-CN" altLang="en-US" sz="1600" dirty="0"/>
              <a:t>号字）</a:t>
            </a:r>
          </a:p>
          <a:p>
            <a:pPr marL="914400" lvl="1" indent="-457200">
              <a:buFont typeface="+mj-lt"/>
              <a:buAutoNum type="arabicPeriod"/>
            </a:pPr>
            <a:r>
              <a:rPr lang="zh-CN" altLang="en-US" sz="1600" dirty="0"/>
              <a:t>注意幻灯片的趣味性</a:t>
            </a:r>
          </a:p>
          <a:p>
            <a:pPr marL="914400" lvl="1" indent="-457200">
              <a:buFont typeface="+mj-lt"/>
              <a:buAutoNum type="arabicPeriod"/>
            </a:pPr>
            <a:r>
              <a:rPr lang="zh-CN" altLang="en-US" sz="1600" dirty="0"/>
              <a:t>用逐级展开呈现，提高趣味性</a:t>
            </a:r>
            <a:endParaRPr lang="en-US" altLang="zh-CN" sz="1600" dirty="0"/>
          </a:p>
        </p:txBody>
      </p:sp>
      <p:sp>
        <p:nvSpPr>
          <p:cNvPr id="4" name="标题 1">
            <a:extLst>
              <a:ext uri="{FF2B5EF4-FFF2-40B4-BE49-F238E27FC236}">
                <a16:creationId xmlns:a16="http://schemas.microsoft.com/office/drawing/2014/main" id="{1806F113-98B2-BDED-8258-095063A6AFCC}"/>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第十一章：在</a:t>
            </a:r>
            <a:r>
              <a:rPr lang="en-US" altLang="zh-CN" sz="3200" dirty="0">
                <a:solidFill>
                  <a:srgbClr val="4ACBD6"/>
                </a:solidFill>
              </a:rPr>
              <a:t>PPT</a:t>
            </a:r>
            <a:r>
              <a:rPr lang="zh-CN" altLang="en-US" sz="3200" dirty="0">
                <a:solidFill>
                  <a:srgbClr val="4ACBD6"/>
                </a:solidFill>
              </a:rPr>
              <a:t>演示文稿中呈现金字塔</a:t>
            </a:r>
          </a:p>
        </p:txBody>
      </p:sp>
      <p:pic>
        <p:nvPicPr>
          <p:cNvPr id="2050" name="Picture 2">
            <a:extLst>
              <a:ext uri="{FF2B5EF4-FFF2-40B4-BE49-F238E27FC236}">
                <a16:creationId xmlns:a16="http://schemas.microsoft.com/office/drawing/2014/main" id="{A620A9F5-237C-130F-4E33-14A08B3584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7971" y="2197390"/>
            <a:ext cx="4548390" cy="36906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80094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032615C5-19AF-F1EF-1293-E26D6476C3AD}"/>
              </a:ext>
            </a:extLst>
          </p:cNvPr>
          <p:cNvSpPr>
            <a:spLocks noGrp="1"/>
          </p:cNvSpPr>
          <p:nvPr>
            <p:ph idx="1"/>
          </p:nvPr>
        </p:nvSpPr>
        <p:spPr>
          <a:xfrm>
            <a:off x="838200" y="1171978"/>
            <a:ext cx="4899338" cy="5004985"/>
          </a:xfrm>
        </p:spPr>
        <p:txBody>
          <a:bodyPr>
            <a:normAutofit/>
          </a:bodyPr>
          <a:lstStyle/>
          <a:p>
            <a:pPr lvl="0">
              <a:defRPr/>
            </a:pPr>
            <a:r>
              <a:rPr lang="zh-CN" altLang="en-US" sz="2000" dirty="0">
                <a:solidFill>
                  <a:prstClr val="black"/>
                </a:solidFill>
              </a:rPr>
              <a:t>图表幻灯片可以用来向观众介绍大量的数据和单凭文字无法传达的复杂关系</a:t>
            </a:r>
            <a:endParaRPr lang="en-US" altLang="zh-CN" sz="2000" dirty="0">
              <a:solidFill>
                <a:prstClr val="black"/>
              </a:solidFill>
            </a:endParaRPr>
          </a:p>
          <a:p>
            <a:pPr lvl="0">
              <a:defRPr/>
            </a:pPr>
            <a:r>
              <a:rPr lang="zh-CN" altLang="en-US" sz="2000" dirty="0">
                <a:solidFill>
                  <a:prstClr val="black"/>
                </a:solidFill>
              </a:rPr>
              <a:t>图表幻灯片传递的信息应该尽量简单易懂，因为观众没有机会对它们仔细研究并找出各个部分的含义。如果图表过于复杂、过于详细，或过于分散就会把大量宝贵的时间浪费在解释上，而不是用在讨论上。</a:t>
            </a:r>
            <a:endParaRPr lang="en-US" altLang="zh-CN" sz="2000" dirty="0">
              <a:solidFill>
                <a:prstClr val="black"/>
              </a:solidFill>
            </a:endParaRPr>
          </a:p>
          <a:p>
            <a:pPr lvl="0">
              <a:defRPr/>
            </a:pPr>
            <a:r>
              <a:rPr lang="zh-CN" altLang="en-US" sz="2000" dirty="0"/>
              <a:t>图表的标题一定要直接传递信息，要么用一个完整的句子，要么用一个含有动词的短语，才能保证图表给观众的视觉印象和所要传达的信息一致</a:t>
            </a:r>
            <a:endParaRPr lang="en-US" altLang="zh-CN" sz="2000" dirty="0"/>
          </a:p>
          <a:p>
            <a:pPr lvl="0">
              <a:defRPr/>
            </a:pPr>
            <a:endParaRPr lang="en-US" altLang="zh-CN" sz="2000" dirty="0"/>
          </a:p>
          <a:p>
            <a:pPr lvl="0">
              <a:defRPr/>
            </a:pPr>
            <a:endParaRPr lang="zh-CN" altLang="en-US" sz="2000" dirty="0"/>
          </a:p>
        </p:txBody>
      </p:sp>
      <p:sp>
        <p:nvSpPr>
          <p:cNvPr id="4" name="标题 1">
            <a:extLst>
              <a:ext uri="{FF2B5EF4-FFF2-40B4-BE49-F238E27FC236}">
                <a16:creationId xmlns:a16="http://schemas.microsoft.com/office/drawing/2014/main" id="{3DE691EB-33C4-17B1-213E-8C608A5E1A5B}"/>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第十一章：在</a:t>
            </a:r>
            <a:r>
              <a:rPr lang="en-US" altLang="zh-CN" sz="3200" dirty="0">
                <a:solidFill>
                  <a:srgbClr val="4ACBD6"/>
                </a:solidFill>
              </a:rPr>
              <a:t>PPT</a:t>
            </a:r>
            <a:r>
              <a:rPr lang="zh-CN" altLang="en-US" sz="3200" dirty="0">
                <a:solidFill>
                  <a:srgbClr val="4ACBD6"/>
                </a:solidFill>
              </a:rPr>
              <a:t>演示文稿中呈现金字塔</a:t>
            </a:r>
          </a:p>
        </p:txBody>
      </p:sp>
      <p:pic>
        <p:nvPicPr>
          <p:cNvPr id="6" name="图片 5" descr="图形用户界面&#10;&#10;AI 生成的内容可能不正确。">
            <a:extLst>
              <a:ext uri="{FF2B5EF4-FFF2-40B4-BE49-F238E27FC236}">
                <a16:creationId xmlns:a16="http://schemas.microsoft.com/office/drawing/2014/main" id="{8B850BAB-5768-2E4C-30A7-50733F3394CC}"/>
              </a:ext>
            </a:extLst>
          </p:cNvPr>
          <p:cNvPicPr>
            <a:picLocks noChangeAspect="1"/>
          </p:cNvPicPr>
          <p:nvPr/>
        </p:nvPicPr>
        <p:blipFill>
          <a:blip r:embed="rId2"/>
          <a:stretch>
            <a:fillRect/>
          </a:stretch>
        </p:blipFill>
        <p:spPr>
          <a:xfrm>
            <a:off x="6239815" y="2224683"/>
            <a:ext cx="5030273" cy="2408633"/>
          </a:xfrm>
          <a:prstGeom prst="rect">
            <a:avLst/>
          </a:prstGeom>
        </p:spPr>
      </p:pic>
    </p:spTree>
    <p:extLst>
      <p:ext uri="{BB962C8B-B14F-4D97-AF65-F5344CB8AC3E}">
        <p14:creationId xmlns:p14="http://schemas.microsoft.com/office/powerpoint/2010/main" val="1092024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506D2C6-F290-B508-196F-8263CB7A7936}"/>
              </a:ext>
            </a:extLst>
          </p:cNvPr>
          <p:cNvSpPr>
            <a:spLocks noGrp="1"/>
          </p:cNvSpPr>
          <p:nvPr>
            <p:ph idx="1"/>
          </p:nvPr>
        </p:nvSpPr>
        <p:spPr>
          <a:xfrm>
            <a:off x="838199" y="1171978"/>
            <a:ext cx="4435699" cy="5004985"/>
          </a:xfrm>
        </p:spPr>
        <p:txBody>
          <a:bodyPr>
            <a:normAutofit/>
          </a:bodyPr>
          <a:lstStyle/>
          <a:p>
            <a:r>
              <a:rPr lang="zh-CN" altLang="en-US" sz="2000" dirty="0"/>
              <a:t>文章不仅应该做到能清楚地表达你的思想观点，而且能让读者在接受你的观点的过程中感到愉悦。尽管做起来不容易，但有一种方法能提供帮助，就是主观臆想那些当初用来得出思想观点的图像</a:t>
            </a:r>
            <a:endParaRPr lang="en-US" altLang="zh-CN" sz="2000" dirty="0"/>
          </a:p>
          <a:p>
            <a:r>
              <a:rPr lang="zh-CN" altLang="en-US" sz="2000" dirty="0"/>
              <a:t>画脑图：在动笔前，先在大脑中构建图像（画脑图），想象你想要表达的思想、论点所构成的场景或关系图，然后再将这幅“图像”转化成文字。这样做能确保你的文章生动、具体，更容易在读者脑海中形成深刻印象。</a:t>
            </a:r>
            <a:endParaRPr lang="en-US" altLang="zh-CN" sz="2000" dirty="0"/>
          </a:p>
        </p:txBody>
      </p:sp>
      <p:sp>
        <p:nvSpPr>
          <p:cNvPr id="4" name="标题 1">
            <a:extLst>
              <a:ext uri="{FF2B5EF4-FFF2-40B4-BE49-F238E27FC236}">
                <a16:creationId xmlns:a16="http://schemas.microsoft.com/office/drawing/2014/main" id="{EE5B1264-3CBE-21C8-6D10-F2672227FCDB}"/>
              </a:ext>
            </a:extLst>
          </p:cNvPr>
          <p:cNvSpPr txBox="1">
            <a:spLocks/>
          </p:cNvSpPr>
          <p:nvPr/>
        </p:nvSpPr>
        <p:spPr>
          <a:xfrm>
            <a:off x="838200" y="365126"/>
            <a:ext cx="10515600" cy="80685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solidFill>
                  <a:srgbClr val="4ACBD6"/>
                </a:solidFill>
              </a:rPr>
              <a:t>第十二章：在字里行间呈现金字塔</a:t>
            </a:r>
          </a:p>
        </p:txBody>
      </p:sp>
      <p:pic>
        <p:nvPicPr>
          <p:cNvPr id="6" name="图片 5" descr="文本&#10;&#10;AI 生成的内容可能不正确。">
            <a:extLst>
              <a:ext uri="{FF2B5EF4-FFF2-40B4-BE49-F238E27FC236}">
                <a16:creationId xmlns:a16="http://schemas.microsoft.com/office/drawing/2014/main" id="{AA17EF7D-5633-6033-8338-A1ABBDAE90D1}"/>
              </a:ext>
            </a:extLst>
          </p:cNvPr>
          <p:cNvPicPr>
            <a:picLocks noChangeAspect="1"/>
          </p:cNvPicPr>
          <p:nvPr/>
        </p:nvPicPr>
        <p:blipFill>
          <a:blip r:embed="rId2"/>
          <a:stretch>
            <a:fillRect/>
          </a:stretch>
        </p:blipFill>
        <p:spPr>
          <a:xfrm>
            <a:off x="5558301" y="1171978"/>
            <a:ext cx="4590883" cy="1875045"/>
          </a:xfrm>
          <a:prstGeom prst="rect">
            <a:avLst/>
          </a:prstGeom>
        </p:spPr>
      </p:pic>
      <p:pic>
        <p:nvPicPr>
          <p:cNvPr id="8" name="图片 7" descr="图示&#10;&#10;AI 生成的内容可能不正确。">
            <a:extLst>
              <a:ext uri="{FF2B5EF4-FFF2-40B4-BE49-F238E27FC236}">
                <a16:creationId xmlns:a16="http://schemas.microsoft.com/office/drawing/2014/main" id="{4FC4F702-814A-0BE1-72A7-D31938516184}"/>
              </a:ext>
            </a:extLst>
          </p:cNvPr>
          <p:cNvPicPr>
            <a:picLocks noChangeAspect="1"/>
          </p:cNvPicPr>
          <p:nvPr/>
        </p:nvPicPr>
        <p:blipFill>
          <a:blip r:embed="rId3"/>
          <a:stretch>
            <a:fillRect/>
          </a:stretch>
        </p:blipFill>
        <p:spPr>
          <a:xfrm>
            <a:off x="5558301" y="3674470"/>
            <a:ext cx="5343666" cy="2238563"/>
          </a:xfrm>
          <a:prstGeom prst="rect">
            <a:avLst/>
          </a:prstGeom>
        </p:spPr>
      </p:pic>
    </p:spTree>
    <p:extLst>
      <p:ext uri="{BB962C8B-B14F-4D97-AF65-F5344CB8AC3E}">
        <p14:creationId xmlns:p14="http://schemas.microsoft.com/office/powerpoint/2010/main" val="2136681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BEA83C6-F745-8B67-6F26-F305424EDE38}"/>
              </a:ext>
            </a:extLst>
          </p:cNvPr>
          <p:cNvSpPr>
            <a:spLocks noGrp="1"/>
          </p:cNvSpPr>
          <p:nvPr>
            <p:ph idx="1"/>
          </p:nvPr>
        </p:nvSpPr>
        <p:spPr/>
        <p:txBody>
          <a:bodyPr>
            <a:normAutofit/>
          </a:bodyPr>
          <a:lstStyle/>
          <a:p>
            <a:r>
              <a:rPr lang="zh-CN" altLang="en-US" sz="2000" dirty="0"/>
              <a:t>第八、九章提供一套分析和解决问题的严谨流程，确保你不会偏离方向。</a:t>
            </a:r>
            <a:endParaRPr lang="en-US" altLang="zh-CN" sz="2000" dirty="0"/>
          </a:p>
          <a:p>
            <a:r>
              <a:rPr lang="zh-CN" altLang="en-US" sz="2000" dirty="0"/>
              <a:t>第十、十一、十二章介绍了演示的逻辑，将金字塔原理应用于书面报告、</a:t>
            </a:r>
            <a:r>
              <a:rPr lang="en-US" altLang="zh-CN" sz="2000" dirty="0"/>
              <a:t>PPT</a:t>
            </a:r>
            <a:r>
              <a:rPr lang="zh-CN" altLang="en-US" sz="2000" dirty="0"/>
              <a:t>演示和日常写作等具体输出场景，确保你的思想被清晰传达。</a:t>
            </a:r>
            <a:endParaRPr lang="en-US" altLang="zh-CN" sz="2000" dirty="0"/>
          </a:p>
          <a:p>
            <a:r>
              <a:rPr lang="zh-CN" altLang="en-US" sz="2000" dirty="0"/>
              <a:t>总而言之，第</a:t>
            </a:r>
            <a:r>
              <a:rPr lang="en-US" altLang="zh-CN" sz="2000" dirty="0"/>
              <a:t>8</a:t>
            </a:r>
            <a:r>
              <a:rPr lang="zh-CN" altLang="en-US" sz="2000" dirty="0"/>
              <a:t>至</a:t>
            </a:r>
            <a:r>
              <a:rPr lang="en-US" altLang="zh-CN" sz="2000" dirty="0"/>
              <a:t>12</a:t>
            </a:r>
            <a:r>
              <a:rPr lang="zh-CN" altLang="en-US" sz="2000" dirty="0"/>
              <a:t>章是金字塔原理从“思维构建”迈向“实战应用”的关键部分。其核心逻辑是：先通过精准界定和结构化分析来找到正确的解决方案，再通过视觉化的方式清晰有力地呈现出来。</a:t>
            </a:r>
          </a:p>
        </p:txBody>
      </p:sp>
      <p:sp>
        <p:nvSpPr>
          <p:cNvPr id="4" name="标题 1">
            <a:extLst>
              <a:ext uri="{FF2B5EF4-FFF2-40B4-BE49-F238E27FC236}">
                <a16:creationId xmlns:a16="http://schemas.microsoft.com/office/drawing/2014/main" id="{6774AAC9-78CA-0AB4-DA1F-929011BF1100}"/>
              </a:ext>
            </a:extLst>
          </p:cNvPr>
          <p:cNvSpPr>
            <a:spLocks noGrp="1"/>
          </p:cNvSpPr>
          <p:nvPr>
            <p:ph type="title"/>
          </p:nvPr>
        </p:nvSpPr>
        <p:spPr>
          <a:xfrm>
            <a:off x="838200" y="365125"/>
            <a:ext cx="10515600" cy="1325563"/>
          </a:xfrm>
        </p:spPr>
        <p:txBody>
          <a:bodyPr>
            <a:normAutofit/>
          </a:bodyPr>
          <a:lstStyle/>
          <a:p>
            <a:r>
              <a:rPr lang="zh-CN" altLang="en-US" sz="4000" dirty="0">
                <a:solidFill>
                  <a:srgbClr val="4ACBD6"/>
                </a:solidFill>
              </a:rPr>
              <a:t>总结</a:t>
            </a:r>
          </a:p>
        </p:txBody>
      </p:sp>
    </p:spTree>
    <p:extLst>
      <p:ext uri="{BB962C8B-B14F-4D97-AF65-F5344CB8AC3E}">
        <p14:creationId xmlns:p14="http://schemas.microsoft.com/office/powerpoint/2010/main" val="418953518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668</TotalTime>
  <Words>1857</Words>
  <Application>Microsoft Office PowerPoint</Application>
  <PresentationFormat>宽屏</PresentationFormat>
  <Paragraphs>94</Paragraphs>
  <Slides>14</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14</vt:i4>
      </vt:variant>
    </vt:vector>
  </HeadingPairs>
  <TitlesOfParts>
    <vt:vector size="18" baseType="lpstr">
      <vt:lpstr>等线</vt:lpstr>
      <vt:lpstr>等线 Light</vt:lpstr>
      <vt:lpstr>Arial</vt:lpstr>
      <vt:lpstr>Office 主题​​</vt:lpstr>
      <vt:lpstr>《金字塔原理》第8-12章读书分享 </vt:lpstr>
      <vt:lpstr>目录</vt:lpstr>
      <vt:lpstr>第八章：界定问题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总结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1113054274@qq.com</dc:creator>
  <cp:lastModifiedBy>1113054274@qq.com</cp:lastModifiedBy>
  <cp:revision>45</cp:revision>
  <dcterms:created xsi:type="dcterms:W3CDTF">2025-11-25T14:46:02Z</dcterms:created>
  <dcterms:modified xsi:type="dcterms:W3CDTF">2025-12-23T18:49:32Z</dcterms:modified>
</cp:coreProperties>
</file>